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omments/modernComment_11A_9CE6598F.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56" r:id="rId5"/>
    <p:sldId id="276" r:id="rId6"/>
    <p:sldId id="290" r:id="rId7"/>
    <p:sldId id="281" r:id="rId8"/>
    <p:sldId id="282" r:id="rId9"/>
    <p:sldId id="288" r:id="rId10"/>
    <p:sldId id="269" r:id="rId11"/>
    <p:sldId id="274" r:id="rId12"/>
    <p:sldId id="275" r:id="rId13"/>
    <p:sldId id="285" r:id="rId14"/>
    <p:sldId id="286" r:id="rId15"/>
    <p:sldId id="287" r:id="rId16"/>
    <p:sldId id="289" r:id="rId17"/>
  </p:sldIdLst>
  <p:sldSz cx="12192000" cy="6858000"/>
  <p:notesSz cx="7315200" cy="12344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che" id="{EA2FE12C-6BE0-4FF3-A0F3-225BD48E8602}">
          <p14:sldIdLst>
            <p14:sldId id="256"/>
            <p14:sldId id="276"/>
            <p14:sldId id="290"/>
            <p14:sldId id="281"/>
            <p14:sldId id="282"/>
            <p14:sldId id="288"/>
            <p14:sldId id="269"/>
            <p14:sldId id="274"/>
            <p14:sldId id="275"/>
            <p14:sldId id="285"/>
            <p14:sldId id="286"/>
            <p14:sldId id="287"/>
            <p14:sldId id="28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C7DB5C-6395-7726-7330-500D3C0073C5}" name="Gauthier, Stéphanie" initials="SG" userId="S::Stephanie.Gauthier@mess.gouv.qc.ca::b0ed1926-25dd-4652-ab4d-2abec661d4d6" providerId="AD"/>
  <p188:author id="{85F8898F-EB2C-771B-1D2F-740BF36BB4D3}" name="Chamberland, Marie-Ève (DGPTN-DPNM)" initials="MC" userId="S::Marie-Eve.Chamberland@mess.gouv.qc.ca::615ace30-5c8f-496f-bb9a-055a70d3a62a" providerId="AD"/>
  <p188:author id="{22EA5694-1E2A-EE92-33BB-1A250211D5C4}" name="Trudel, Catherine (DGPTN-DPNM)" initials="CT" userId="S::Catherine.Trudel@mess.gouv.qc.ca::71b2b299-e6e2-4b77-bd94-f9927cfbfe9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093"/>
    <a:srgbClr val="000000"/>
    <a:srgbClr val="69A12B"/>
    <a:srgbClr val="860000"/>
    <a:srgbClr val="680000"/>
    <a:srgbClr val="58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10086F-4D3A-4B8B-828D-8A70FF6CC8CD}" v="20" dt="2026-04-30T15:40:00.0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48" autoAdjust="0"/>
    <p:restoredTop sz="96247" autoAdjust="0"/>
  </p:normalViewPr>
  <p:slideViewPr>
    <p:cSldViewPr snapToGrid="0">
      <p:cViewPr varScale="1">
        <p:scale>
          <a:sx n="153" d="100"/>
          <a:sy n="153" d="100"/>
        </p:scale>
        <p:origin x="79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omments/modernComment_11A_9CE6598F.xml><?xml version="1.0" encoding="utf-8"?>
<p188:cmLst xmlns:a="http://schemas.openxmlformats.org/drawingml/2006/main" xmlns:r="http://schemas.openxmlformats.org/officeDocument/2006/relationships" xmlns:p188="http://schemas.microsoft.com/office/powerpoint/2018/8/main">
  <p188:cm id="{2FAAC3E1-81D1-4ABB-86AD-1F30C7645151}" authorId="{F2C7DB5C-6395-7726-7330-500D3C0073C5}" created="2026-04-29T15:37:50.682">
    <ac:deMkLst xmlns:ac="http://schemas.microsoft.com/office/drawing/2013/main/command">
      <pc:docMk xmlns:pc="http://schemas.microsoft.com/office/powerpoint/2013/main/command"/>
      <pc:sldMk xmlns:pc="http://schemas.microsoft.com/office/powerpoint/2013/main/command" cId="2632341903" sldId="282"/>
      <ac:spMk id="2" creationId="{B075F8AB-7338-75AE-B009-7C23C24FF724}"/>
    </ac:deMkLst>
    <p188:txBody>
      <a:bodyPr/>
      <a:lstStyle/>
      <a:p>
        <a:r>
          <a:rPr lang="fr-CA"/>
          <a:t>Masquer la dispo si pas nécessaire. Mais elle pourrait etre utilisée pour la démo des principales fonctionnalités</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5EB363-3EF9-4C22-B05D-DB2AB8539642}" type="doc">
      <dgm:prSet loTypeId="urn:microsoft.com/office/officeart/2008/layout/PictureStrips" loCatId="list" qsTypeId="urn:microsoft.com/office/officeart/2005/8/quickstyle/simple1" qsCatId="simple" csTypeId="urn:microsoft.com/office/officeart/2005/8/colors/colorful2" csCatId="colorful" phldr="1"/>
      <dgm:spPr/>
      <dgm:t>
        <a:bodyPr/>
        <a:lstStyle/>
        <a:p>
          <a:endParaRPr lang="fr-CA"/>
        </a:p>
      </dgm:t>
    </dgm:pt>
    <dgm:pt modelId="{E617E4EF-21B6-4419-8612-50BFC6C6B152}">
      <dgm:prSet phldrT="[Texte]" custT="1"/>
      <dgm:spPr/>
      <dgm:t>
        <a:bodyPr tIns="252000"/>
        <a:lstStyle/>
        <a:p>
          <a:pPr>
            <a:lnSpc>
              <a:spcPct val="100000"/>
            </a:lnSpc>
            <a:spcBef>
              <a:spcPts val="300"/>
            </a:spcBef>
            <a:buNone/>
          </a:pPr>
          <a:r>
            <a:rPr lang="fr-CA" sz="1800" dirty="0">
              <a:solidFill>
                <a:srgbClr val="1A1D24"/>
              </a:solidFill>
              <a:latin typeface="Aptos" panose="020B0004020202020204" pitchFamily="34" charset="0"/>
              <a:ea typeface="-apple-system" pitchFamily="34" charset="-122"/>
            </a:rPr>
            <a:t>Maestro est un </a:t>
          </a:r>
          <a:r>
            <a:rPr lang="fr-CA" sz="1800" b="1" dirty="0">
              <a:solidFill>
                <a:srgbClr val="1A1D24"/>
              </a:solidFill>
              <a:latin typeface="Aptos" panose="020B0004020202020204" pitchFamily="34" charset="0"/>
              <a:ea typeface="-apple-system" pitchFamily="34" charset="-122"/>
            </a:rPr>
            <a:t>produit d'orchestration </a:t>
          </a:r>
          <a:r>
            <a:rPr lang="fr-CA" sz="1800" dirty="0">
              <a:solidFill>
                <a:srgbClr val="1A1D24"/>
              </a:solidFill>
              <a:latin typeface="Aptos" panose="020B0004020202020204" pitchFamily="34" charset="0"/>
              <a:ea typeface="-apple-system" pitchFamily="34" charset="-122"/>
            </a:rPr>
            <a:t>qui coordonne, à un seul endroit, l'exécution des processus d'affaires entre les différents systèmes de l'organisation</a:t>
          </a:r>
          <a:endParaRPr lang="fr-CA" sz="1800" dirty="0">
            <a:solidFill>
              <a:srgbClr val="1A1D24"/>
            </a:solidFill>
            <a:latin typeface="Aptos" panose="020B0004020202020204" pitchFamily="34" charset="0"/>
          </a:endParaRPr>
        </a:p>
      </dgm:t>
    </dgm:pt>
    <dgm:pt modelId="{12A8C093-3C02-42DA-87D9-A1AB665A30F9}" type="parTrans" cxnId="{833ED6F1-EBF9-454C-B8C8-04D556173DB2}">
      <dgm:prSet/>
      <dgm:spPr/>
      <dgm:t>
        <a:bodyPr/>
        <a:lstStyle/>
        <a:p>
          <a:endParaRPr lang="fr-CA"/>
        </a:p>
      </dgm:t>
    </dgm:pt>
    <dgm:pt modelId="{ADFB6517-53D4-43C0-96A4-F182C97229D6}" type="sibTrans" cxnId="{833ED6F1-EBF9-454C-B8C8-04D556173DB2}">
      <dgm:prSet/>
      <dgm:spPr/>
      <dgm:t>
        <a:bodyPr/>
        <a:lstStyle/>
        <a:p>
          <a:endParaRPr lang="fr-CA"/>
        </a:p>
      </dgm:t>
    </dgm:pt>
    <dgm:pt modelId="{CF1245BE-053F-4074-9A1D-3F7F9126EA2E}">
      <dgm:prSet phldrT="[Texte]" custT="1"/>
      <dgm:spPr/>
      <dgm:t>
        <a:bodyPr tIns="252000"/>
        <a:lstStyle/>
        <a:p>
          <a:pPr marL="0" lvl="0" indent="0" algn="l" defTabSz="800100">
            <a:lnSpc>
              <a:spcPct val="100000"/>
            </a:lnSpc>
            <a:spcBef>
              <a:spcPts val="300"/>
            </a:spcBef>
            <a:spcAft>
              <a:spcPct val="35000"/>
            </a:spcAft>
            <a:buNone/>
          </a:pPr>
          <a:r>
            <a:rPr lang="en-US" sz="1800" kern="1200" dirty="0">
              <a:solidFill>
                <a:srgbClr val="1A1D24"/>
              </a:solidFill>
              <a:latin typeface="Aptos" panose="020B0004020202020204" pitchFamily="34" charset="0"/>
              <a:ea typeface="-apple-system" pitchFamily="34" charset="-122"/>
              <a:cs typeface="+mn-cs"/>
            </a:rPr>
            <a:t>Pour doter </a:t>
          </a:r>
          <a:r>
            <a:rPr lang="en-US" sz="1800" kern="1200" dirty="0" err="1">
              <a:solidFill>
                <a:srgbClr val="1A1D24"/>
              </a:solidFill>
              <a:latin typeface="Aptos" panose="020B0004020202020204" pitchFamily="34" charset="0"/>
              <a:ea typeface="-apple-system" pitchFamily="34" charset="-122"/>
              <a:cs typeface="+mn-cs"/>
            </a:rPr>
            <a:t>l’organization</a:t>
          </a:r>
          <a:r>
            <a:rPr lang="en-US" sz="1800" kern="1200" dirty="0">
              <a:solidFill>
                <a:srgbClr val="1A1D24"/>
              </a:solidFill>
              <a:latin typeface="Aptos" panose="020B0004020202020204" pitchFamily="34" charset="0"/>
              <a:ea typeface="-apple-system" pitchFamily="34" charset="-122"/>
              <a:cs typeface="+mn-cs"/>
            </a:rPr>
            <a:t> d’un levier </a:t>
          </a:r>
          <a:r>
            <a:rPr lang="en-US" sz="1800" kern="1200" dirty="0" err="1">
              <a:solidFill>
                <a:srgbClr val="1A1D24"/>
              </a:solidFill>
              <a:latin typeface="Aptos" panose="020B0004020202020204" pitchFamily="34" charset="0"/>
              <a:ea typeface="-apple-system" pitchFamily="34" charset="-122"/>
              <a:cs typeface="+mn-cs"/>
            </a:rPr>
            <a:t>commun</a:t>
          </a:r>
          <a:r>
            <a:rPr lang="en-US" sz="1800" kern="1200" dirty="0">
              <a:solidFill>
                <a:srgbClr val="1A1D24"/>
              </a:solidFill>
              <a:latin typeface="Aptos" panose="020B0004020202020204" pitchFamily="34" charset="0"/>
              <a:ea typeface="-apple-system" pitchFamily="34" charset="-122"/>
              <a:cs typeface="+mn-cs"/>
            </a:rPr>
            <a:t> </a:t>
          </a:r>
          <a:r>
            <a:rPr lang="en-US" sz="1800" kern="1200" dirty="0" err="1">
              <a:solidFill>
                <a:srgbClr val="1A1D24"/>
              </a:solidFill>
              <a:latin typeface="Aptos" panose="020B0004020202020204" pitchFamily="34" charset="0"/>
              <a:ea typeface="-apple-system" pitchFamily="34" charset="-122"/>
              <a:cs typeface="+mn-cs"/>
            </a:rPr>
            <a:t>permettant</a:t>
          </a:r>
          <a:r>
            <a:rPr lang="en-US" sz="1800" kern="1200" dirty="0">
              <a:solidFill>
                <a:srgbClr val="1A1D24"/>
              </a:solidFill>
              <a:latin typeface="Aptos" panose="020B0004020202020204" pitchFamily="34" charset="0"/>
              <a:ea typeface="-apple-system" pitchFamily="34" charset="-122"/>
              <a:cs typeface="+mn-cs"/>
            </a:rPr>
            <a:t> de </a:t>
          </a:r>
          <a:r>
            <a:rPr lang="en-US" sz="1800" kern="1200" dirty="0" err="1">
              <a:solidFill>
                <a:srgbClr val="1A1D24"/>
              </a:solidFill>
              <a:latin typeface="Aptos" panose="020B0004020202020204" pitchFamily="34" charset="0"/>
              <a:ea typeface="-apple-system" pitchFamily="34" charset="-122"/>
              <a:cs typeface="+mn-cs"/>
            </a:rPr>
            <a:t>gérer</a:t>
          </a:r>
          <a:r>
            <a:rPr lang="en-US" sz="1800" kern="1200" dirty="0">
              <a:solidFill>
                <a:srgbClr val="1A1D24"/>
              </a:solidFill>
              <a:latin typeface="Aptos" panose="020B0004020202020204" pitchFamily="34" charset="0"/>
              <a:ea typeface="-apple-system" pitchFamily="34" charset="-122"/>
              <a:cs typeface="+mn-cs"/>
            </a:rPr>
            <a:t> </a:t>
          </a:r>
          <a:r>
            <a:rPr lang="en-US" sz="1800" kern="1200" dirty="0" err="1">
              <a:solidFill>
                <a:srgbClr val="1A1D24"/>
              </a:solidFill>
              <a:latin typeface="Aptos" panose="020B0004020202020204" pitchFamily="34" charset="0"/>
              <a:ea typeface="-apple-system" pitchFamily="34" charset="-122"/>
              <a:cs typeface="+mn-cs"/>
            </a:rPr>
            <a:t>l’évolution</a:t>
          </a:r>
          <a:r>
            <a:rPr lang="en-US" sz="1800" kern="1200" dirty="0">
              <a:solidFill>
                <a:srgbClr val="1A1D24"/>
              </a:solidFill>
              <a:latin typeface="Aptos" panose="020B0004020202020204" pitchFamily="34" charset="0"/>
              <a:ea typeface="-apple-system" pitchFamily="34" charset="-122"/>
              <a:cs typeface="+mn-cs"/>
            </a:rPr>
            <a:t> des processus d’affaires de manière </a:t>
          </a:r>
          <a:r>
            <a:rPr lang="en-US" sz="1800" kern="1200" dirty="0" err="1">
              <a:solidFill>
                <a:srgbClr val="1A1D24"/>
              </a:solidFill>
              <a:latin typeface="Aptos" panose="020B0004020202020204" pitchFamily="34" charset="0"/>
              <a:ea typeface="-apple-system" pitchFamily="34" charset="-122"/>
              <a:cs typeface="+mn-cs"/>
            </a:rPr>
            <a:t>structurée</a:t>
          </a:r>
          <a:r>
            <a:rPr lang="en-US" sz="1800" kern="1200" dirty="0">
              <a:solidFill>
                <a:srgbClr val="1A1D24"/>
              </a:solidFill>
              <a:latin typeface="Aptos" panose="020B0004020202020204" pitchFamily="34" charset="0"/>
              <a:ea typeface="-apple-system" pitchFamily="34" charset="-122"/>
              <a:cs typeface="+mn-cs"/>
            </a:rPr>
            <a:t> et </a:t>
          </a:r>
          <a:r>
            <a:rPr lang="en-US" sz="1800" kern="1200" dirty="0" err="1">
              <a:solidFill>
                <a:srgbClr val="1A1D24"/>
              </a:solidFill>
              <a:latin typeface="Aptos" panose="020B0004020202020204" pitchFamily="34" charset="0"/>
              <a:ea typeface="-apple-system" pitchFamily="34" charset="-122"/>
              <a:cs typeface="+mn-cs"/>
            </a:rPr>
            <a:t>centralisée</a:t>
          </a:r>
          <a:r>
            <a:rPr lang="en-US" sz="1800" kern="1200" dirty="0">
              <a:solidFill>
                <a:srgbClr val="1A1D24"/>
              </a:solidFill>
              <a:latin typeface="Aptos" panose="020B0004020202020204" pitchFamily="34" charset="0"/>
              <a:ea typeface="-apple-system" pitchFamily="34" charset="-122"/>
              <a:cs typeface="+mn-cs"/>
            </a:rPr>
            <a:t>.</a:t>
          </a:r>
          <a:endParaRPr lang="fr-CA" sz="1800" kern="1200" dirty="0">
            <a:solidFill>
              <a:srgbClr val="1A1D24"/>
            </a:solidFill>
            <a:latin typeface="Aptos" panose="020B0004020202020204" pitchFamily="34" charset="0"/>
            <a:ea typeface="-apple-system" pitchFamily="34" charset="-122"/>
            <a:cs typeface="+mn-cs"/>
          </a:endParaRPr>
        </a:p>
      </dgm:t>
    </dgm:pt>
    <dgm:pt modelId="{DF102BD9-3BD1-4A49-A759-86FA542999A2}" type="parTrans" cxnId="{39479C55-EC12-4783-80ED-E63A3F9DBED1}">
      <dgm:prSet/>
      <dgm:spPr/>
      <dgm:t>
        <a:bodyPr/>
        <a:lstStyle/>
        <a:p>
          <a:endParaRPr lang="fr-CA"/>
        </a:p>
      </dgm:t>
    </dgm:pt>
    <dgm:pt modelId="{BC0D6EEB-CE42-43A5-B629-C31DF219D5FD}" type="sibTrans" cxnId="{39479C55-EC12-4783-80ED-E63A3F9DBED1}">
      <dgm:prSet/>
      <dgm:spPr/>
      <dgm:t>
        <a:bodyPr/>
        <a:lstStyle/>
        <a:p>
          <a:endParaRPr lang="fr-CA"/>
        </a:p>
      </dgm:t>
    </dgm:pt>
    <dgm:pt modelId="{B53E147B-DA48-458E-8CE3-55745FB50EED}">
      <dgm:prSet phldrT="[Texte]" custT="1"/>
      <dgm:spPr/>
      <dgm:t>
        <a:bodyPr tIns="252000"/>
        <a:lstStyle/>
        <a:p>
          <a:pPr>
            <a:lnSpc>
              <a:spcPct val="100000"/>
            </a:lnSpc>
            <a:buNone/>
          </a:pPr>
          <a:r>
            <a:rPr lang="en-US" sz="1800" b="0" kern="1200" dirty="0">
              <a:solidFill>
                <a:srgbClr val="1A1D24"/>
              </a:solidFill>
              <a:latin typeface="Aptos" panose="020B0004020202020204" pitchFamily="34" charset="0"/>
              <a:ea typeface="-apple-system" pitchFamily="34" charset="-122"/>
              <a:cs typeface="+mn-cs"/>
            </a:rPr>
            <a:t>En</a:t>
          </a:r>
          <a:r>
            <a:rPr lang="en-US" sz="1800" b="1" kern="1200" dirty="0">
              <a:solidFill>
                <a:srgbClr val="1A1D24"/>
              </a:solidFill>
              <a:latin typeface="Aptos" panose="020B0004020202020204" pitchFamily="34" charset="0"/>
              <a:ea typeface="-apple-system" pitchFamily="34" charset="-122"/>
              <a:cs typeface="+mn-cs"/>
            </a:rPr>
            <a:t> </a:t>
          </a:r>
          <a:r>
            <a:rPr lang="en-US" sz="1800" b="1" kern="1200" dirty="0" err="1">
              <a:solidFill>
                <a:srgbClr val="1A1D24"/>
              </a:solidFill>
              <a:latin typeface="Aptos" panose="020B0004020202020204" pitchFamily="34" charset="0"/>
              <a:ea typeface="-apple-system" pitchFamily="34" charset="-122"/>
              <a:cs typeface="+mn-cs"/>
            </a:rPr>
            <a:t>centralisant</a:t>
          </a:r>
          <a:r>
            <a:rPr lang="en-US" sz="1800" b="1" kern="1200" dirty="0">
              <a:solidFill>
                <a:srgbClr val="1A1D24"/>
              </a:solidFill>
              <a:latin typeface="Aptos" panose="020B0004020202020204" pitchFamily="34" charset="0"/>
              <a:ea typeface="-apple-system" pitchFamily="34" charset="-122"/>
              <a:cs typeface="+mn-cs"/>
            </a:rPr>
            <a:t> la </a:t>
          </a:r>
          <a:r>
            <a:rPr lang="en-US" sz="1800" b="1" kern="1200" dirty="0" err="1">
              <a:solidFill>
                <a:srgbClr val="1A1D24"/>
              </a:solidFill>
              <a:latin typeface="Aptos" panose="020B0004020202020204" pitchFamily="34" charset="0"/>
              <a:ea typeface="-apple-system" pitchFamily="34" charset="-122"/>
              <a:cs typeface="+mn-cs"/>
            </a:rPr>
            <a:t>logique</a:t>
          </a:r>
          <a:r>
            <a:rPr lang="en-US" sz="1800" b="1" kern="1200" dirty="0">
              <a:solidFill>
                <a:srgbClr val="1A1D24"/>
              </a:solidFill>
              <a:latin typeface="Aptos" panose="020B0004020202020204" pitchFamily="34" charset="0"/>
              <a:ea typeface="-apple-system" pitchFamily="34" charset="-122"/>
              <a:cs typeface="+mn-cs"/>
            </a:rPr>
            <a:t> métier </a:t>
          </a:r>
          <a:r>
            <a:rPr lang="en-US" sz="1800" kern="1200" dirty="0">
              <a:solidFill>
                <a:srgbClr val="1A1D24"/>
              </a:solidFill>
              <a:latin typeface="Aptos" panose="020B0004020202020204" pitchFamily="34" charset="0"/>
              <a:ea typeface="-apple-system" pitchFamily="34" charset="-122"/>
              <a:cs typeface="+mn-cs"/>
            </a:rPr>
            <a:t>dans </a:t>
          </a:r>
          <a:r>
            <a:rPr lang="en-US" sz="1800" kern="1200" dirty="0" err="1">
              <a:solidFill>
                <a:srgbClr val="1A1D24"/>
              </a:solidFill>
              <a:latin typeface="Aptos" panose="020B0004020202020204" pitchFamily="34" charset="0"/>
              <a:ea typeface="-apple-system" pitchFamily="34" charset="-122"/>
              <a:cs typeface="+mn-cs"/>
            </a:rPr>
            <a:t>une</a:t>
          </a:r>
          <a:r>
            <a:rPr lang="en-US" sz="1800" kern="1200" dirty="0">
              <a:solidFill>
                <a:srgbClr val="1A1D24"/>
              </a:solidFill>
              <a:latin typeface="Aptos" panose="020B0004020202020204" pitchFamily="34" charset="0"/>
              <a:ea typeface="-apple-system" pitchFamily="34" charset="-122"/>
              <a:cs typeface="+mn-cs"/>
            </a:rPr>
            <a:t> couche </a:t>
          </a:r>
          <a:r>
            <a:rPr lang="en-US" sz="1800" kern="1200" dirty="0" err="1">
              <a:solidFill>
                <a:srgbClr val="1A1D24"/>
              </a:solidFill>
              <a:latin typeface="Aptos" panose="020B0004020202020204" pitchFamily="34" charset="0"/>
              <a:ea typeface="-apple-system" pitchFamily="34" charset="-122"/>
              <a:cs typeface="+mn-cs"/>
            </a:rPr>
            <a:t>d'orchestration</a:t>
          </a:r>
          <a:r>
            <a:rPr lang="en-US" sz="1800" kern="1200" dirty="0">
              <a:solidFill>
                <a:srgbClr val="1A1D24"/>
              </a:solidFill>
              <a:latin typeface="Aptos" panose="020B0004020202020204" pitchFamily="34" charset="0"/>
              <a:ea typeface="-apple-system" pitchFamily="34" charset="-122"/>
              <a:cs typeface="+mn-cs"/>
            </a:rPr>
            <a:t> unique, et </a:t>
          </a:r>
          <a:r>
            <a:rPr lang="en-US" sz="1800" kern="1200" dirty="0" err="1">
              <a:solidFill>
                <a:srgbClr val="1A1D24"/>
              </a:solidFill>
              <a:latin typeface="Aptos" panose="020B0004020202020204" pitchFamily="34" charset="0"/>
              <a:ea typeface="-apple-system" pitchFamily="34" charset="-122"/>
              <a:cs typeface="+mn-cs"/>
            </a:rPr>
            <a:t>en</a:t>
          </a:r>
          <a:r>
            <a:rPr lang="en-US" sz="1800" kern="1200" dirty="0">
              <a:solidFill>
                <a:srgbClr val="1A1D24"/>
              </a:solidFill>
              <a:latin typeface="Aptos" panose="020B0004020202020204" pitchFamily="34" charset="0"/>
              <a:ea typeface="-apple-system" pitchFamily="34" charset="-122"/>
              <a:cs typeface="+mn-cs"/>
            </a:rPr>
            <a:t> </a:t>
          </a:r>
          <a:r>
            <a:rPr lang="en-US" sz="1800" kern="1200" dirty="0" err="1">
              <a:solidFill>
                <a:srgbClr val="1A1D24"/>
              </a:solidFill>
              <a:latin typeface="Aptos" panose="020B0004020202020204" pitchFamily="34" charset="0"/>
              <a:ea typeface="-apple-system" pitchFamily="34" charset="-122"/>
              <a:cs typeface="+mn-cs"/>
            </a:rPr>
            <a:t>permettant</a:t>
          </a:r>
          <a:r>
            <a:rPr lang="en-US" sz="1800" kern="1200" dirty="0">
              <a:solidFill>
                <a:srgbClr val="1A1D24"/>
              </a:solidFill>
              <a:latin typeface="Aptos" panose="020B0004020202020204" pitchFamily="34" charset="0"/>
              <a:ea typeface="-apple-system" pitchFamily="34" charset="-122"/>
              <a:cs typeface="+mn-cs"/>
            </a:rPr>
            <a:t> de </a:t>
          </a:r>
          <a:r>
            <a:rPr lang="en-US" sz="1800" kern="1200" dirty="0" err="1">
              <a:solidFill>
                <a:srgbClr val="1A1D24"/>
              </a:solidFill>
              <a:latin typeface="Aptos" panose="020B0004020202020204" pitchFamily="34" charset="0"/>
              <a:ea typeface="-apple-system" pitchFamily="34" charset="-122"/>
              <a:cs typeface="+mn-cs"/>
            </a:rPr>
            <a:t>configurer</a:t>
          </a:r>
          <a:r>
            <a:rPr lang="en-US" sz="1800" kern="1200" dirty="0">
              <a:solidFill>
                <a:srgbClr val="1A1D24"/>
              </a:solidFill>
              <a:latin typeface="Aptos" panose="020B0004020202020204" pitchFamily="34" charset="0"/>
              <a:ea typeface="-apple-system" pitchFamily="34" charset="-122"/>
              <a:cs typeface="+mn-cs"/>
            </a:rPr>
            <a:t> les processus de façon flexible, sans </a:t>
          </a:r>
          <a:r>
            <a:rPr lang="en-US" sz="1800" kern="1200" dirty="0" err="1">
              <a:solidFill>
                <a:srgbClr val="1A1D24"/>
              </a:solidFill>
              <a:latin typeface="Aptos" panose="020B0004020202020204" pitchFamily="34" charset="0"/>
              <a:ea typeface="-apple-system" pitchFamily="34" charset="-122"/>
              <a:cs typeface="+mn-cs"/>
            </a:rPr>
            <a:t>recourir</a:t>
          </a:r>
          <a:r>
            <a:rPr lang="en-US" sz="1800" kern="1200" dirty="0">
              <a:solidFill>
                <a:srgbClr val="1A1D24"/>
              </a:solidFill>
              <a:latin typeface="Aptos" panose="020B0004020202020204" pitchFamily="34" charset="0"/>
              <a:ea typeface="-apple-system" pitchFamily="34" charset="-122"/>
              <a:cs typeface="+mn-cs"/>
            </a:rPr>
            <a:t> au code.</a:t>
          </a:r>
          <a:endParaRPr lang="fr-CA" sz="1800" kern="1200" dirty="0">
            <a:solidFill>
              <a:srgbClr val="1A1D24"/>
            </a:solidFill>
            <a:latin typeface="Aptos" panose="020B0004020202020204" pitchFamily="34" charset="0"/>
            <a:ea typeface="-apple-system" pitchFamily="34" charset="-122"/>
            <a:cs typeface="+mn-cs"/>
          </a:endParaRPr>
        </a:p>
      </dgm:t>
    </dgm:pt>
    <dgm:pt modelId="{A84792FF-C375-4A0F-91A8-9D0F2D9D7952}" type="parTrans" cxnId="{118E0B24-209A-4F78-9DC1-3E005AEB530C}">
      <dgm:prSet/>
      <dgm:spPr/>
      <dgm:t>
        <a:bodyPr/>
        <a:lstStyle/>
        <a:p>
          <a:endParaRPr lang="fr-CA"/>
        </a:p>
      </dgm:t>
    </dgm:pt>
    <dgm:pt modelId="{7A53B498-8C10-4B60-809C-F2B52EABCFD4}" type="sibTrans" cxnId="{118E0B24-209A-4F78-9DC1-3E005AEB530C}">
      <dgm:prSet/>
      <dgm:spPr/>
      <dgm:t>
        <a:bodyPr/>
        <a:lstStyle/>
        <a:p>
          <a:endParaRPr lang="fr-CA"/>
        </a:p>
      </dgm:t>
    </dgm:pt>
    <dgm:pt modelId="{F1548CE8-7F72-4AB0-A793-1061AE25B87B}" type="pres">
      <dgm:prSet presAssocID="{135EB363-3EF9-4C22-B05D-DB2AB8539642}" presName="Name0" presStyleCnt="0">
        <dgm:presLayoutVars>
          <dgm:dir/>
          <dgm:resizeHandles val="exact"/>
        </dgm:presLayoutVars>
      </dgm:prSet>
      <dgm:spPr/>
    </dgm:pt>
    <dgm:pt modelId="{A84D2959-A97A-4ABE-AE03-2CE98FD09058}" type="pres">
      <dgm:prSet presAssocID="{E617E4EF-21B6-4419-8612-50BFC6C6B152}" presName="composite" presStyleCnt="0"/>
      <dgm:spPr/>
    </dgm:pt>
    <dgm:pt modelId="{AB2359E8-9DBB-47A5-8CCD-6B21C6E46176}" type="pres">
      <dgm:prSet presAssocID="{E617E4EF-21B6-4419-8612-50BFC6C6B152}" presName="rect1" presStyleLbl="trAlignAcc1" presStyleIdx="0" presStyleCnt="3">
        <dgm:presLayoutVars>
          <dgm:bulletEnabled val="1"/>
        </dgm:presLayoutVars>
      </dgm:prSet>
      <dgm:spPr/>
    </dgm:pt>
    <dgm:pt modelId="{D37039E8-E912-4B56-9135-55CEC9C31AB0}" type="pres">
      <dgm:prSet presAssocID="{E617E4EF-21B6-4419-8612-50BFC6C6B152}" presName="rect2"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25000" r="-25000"/>
          </a:stretch>
        </a:blipFill>
      </dgm:spPr>
    </dgm:pt>
    <dgm:pt modelId="{DC804C99-4E94-495B-90FF-ECDD71ED54CA}" type="pres">
      <dgm:prSet presAssocID="{ADFB6517-53D4-43C0-96A4-F182C97229D6}" presName="sibTrans" presStyleCnt="0"/>
      <dgm:spPr/>
    </dgm:pt>
    <dgm:pt modelId="{B7DEBA44-C175-4FE7-B602-13FDDB8EB2EA}" type="pres">
      <dgm:prSet presAssocID="{CF1245BE-053F-4074-9A1D-3F7F9126EA2E}" presName="composite" presStyleCnt="0"/>
      <dgm:spPr/>
    </dgm:pt>
    <dgm:pt modelId="{FE82E269-75B1-493E-932F-9BD431957DDF}" type="pres">
      <dgm:prSet presAssocID="{CF1245BE-053F-4074-9A1D-3F7F9126EA2E}" presName="rect1" presStyleLbl="trAlignAcc1" presStyleIdx="1" presStyleCnt="3" custLinFactNeighborX="1820" custLinFactNeighborY="-2028">
        <dgm:presLayoutVars>
          <dgm:bulletEnabled val="1"/>
        </dgm:presLayoutVars>
      </dgm:prSet>
      <dgm:spPr/>
    </dgm:pt>
    <dgm:pt modelId="{7929F635-E385-4B3E-8353-539785302C9D}" type="pres">
      <dgm:prSet presAssocID="{CF1245BE-053F-4074-9A1D-3F7F9126EA2E}" presName="rect2"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l="-25000" r="-25000"/>
          </a:stretch>
        </a:blipFill>
      </dgm:spPr>
      <dgm:extLst>
        <a:ext uri="{E40237B7-FDA0-4F09-8148-C483321AD2D9}">
          <dgm14:cNvPr xmlns:dgm14="http://schemas.microsoft.com/office/drawing/2010/diagram" id="0" name="" descr="Point d’interrogation avec un remplissage uni"/>
        </a:ext>
      </dgm:extLst>
    </dgm:pt>
    <dgm:pt modelId="{90FC75E7-0DC5-4F99-8257-492CA3653D22}" type="pres">
      <dgm:prSet presAssocID="{BC0D6EEB-CE42-43A5-B629-C31DF219D5FD}" presName="sibTrans" presStyleCnt="0"/>
      <dgm:spPr/>
    </dgm:pt>
    <dgm:pt modelId="{00BD40B9-F9C9-4D1C-BAB5-21396FF6889E}" type="pres">
      <dgm:prSet presAssocID="{B53E147B-DA48-458E-8CE3-55745FB50EED}" presName="composite" presStyleCnt="0"/>
      <dgm:spPr/>
    </dgm:pt>
    <dgm:pt modelId="{E3E0AC2C-6DE2-4A17-929A-ECF2177115EC}" type="pres">
      <dgm:prSet presAssocID="{B53E147B-DA48-458E-8CE3-55745FB50EED}" presName="rect1" presStyleLbl="trAlignAcc1" presStyleIdx="2" presStyleCnt="3">
        <dgm:presLayoutVars>
          <dgm:bulletEnabled val="1"/>
        </dgm:presLayoutVars>
      </dgm:prSet>
      <dgm:spPr/>
    </dgm:pt>
    <dgm:pt modelId="{70ABFBF1-FF5A-4D58-B26D-A2E949F06603}" type="pres">
      <dgm:prSet presAssocID="{B53E147B-DA48-458E-8CE3-55745FB50EED}" presName="rect2"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dgm:spPr>
      <dgm:extLst>
        <a:ext uri="{E40237B7-FDA0-4F09-8148-C483321AD2D9}">
          <dgm14:cNvPr xmlns:dgm14="http://schemas.microsoft.com/office/drawing/2010/diagram" id="0" name="" descr="Engrenage avec un remplissage uni"/>
        </a:ext>
      </dgm:extLst>
    </dgm:pt>
  </dgm:ptLst>
  <dgm:cxnLst>
    <dgm:cxn modelId="{118E0B24-209A-4F78-9DC1-3E005AEB530C}" srcId="{135EB363-3EF9-4C22-B05D-DB2AB8539642}" destId="{B53E147B-DA48-458E-8CE3-55745FB50EED}" srcOrd="2" destOrd="0" parTransId="{A84792FF-C375-4A0F-91A8-9D0F2D9D7952}" sibTransId="{7A53B498-8C10-4B60-809C-F2B52EABCFD4}"/>
    <dgm:cxn modelId="{C4B5A42F-2B3C-4544-A0F4-124C38000C0D}" type="presOf" srcId="{135EB363-3EF9-4C22-B05D-DB2AB8539642}" destId="{F1548CE8-7F72-4AB0-A793-1061AE25B87B}" srcOrd="0" destOrd="0" presId="urn:microsoft.com/office/officeart/2008/layout/PictureStrips"/>
    <dgm:cxn modelId="{3AAB0632-5DDB-4500-A1BD-6DAAA73BBEA7}" type="presOf" srcId="{E617E4EF-21B6-4419-8612-50BFC6C6B152}" destId="{AB2359E8-9DBB-47A5-8CCD-6B21C6E46176}" srcOrd="0" destOrd="0" presId="urn:microsoft.com/office/officeart/2008/layout/PictureStrips"/>
    <dgm:cxn modelId="{0195923C-28F8-49E1-84DA-41C9022ACDDA}" type="presOf" srcId="{B53E147B-DA48-458E-8CE3-55745FB50EED}" destId="{E3E0AC2C-6DE2-4A17-929A-ECF2177115EC}" srcOrd="0" destOrd="0" presId="urn:microsoft.com/office/officeart/2008/layout/PictureStrips"/>
    <dgm:cxn modelId="{39479C55-EC12-4783-80ED-E63A3F9DBED1}" srcId="{135EB363-3EF9-4C22-B05D-DB2AB8539642}" destId="{CF1245BE-053F-4074-9A1D-3F7F9126EA2E}" srcOrd="1" destOrd="0" parTransId="{DF102BD9-3BD1-4A49-A759-86FA542999A2}" sibTransId="{BC0D6EEB-CE42-43A5-B629-C31DF219D5FD}"/>
    <dgm:cxn modelId="{09AACAA2-0C78-4343-A3BF-B1BE09629D86}" type="presOf" srcId="{CF1245BE-053F-4074-9A1D-3F7F9126EA2E}" destId="{FE82E269-75B1-493E-932F-9BD431957DDF}" srcOrd="0" destOrd="0" presId="urn:microsoft.com/office/officeart/2008/layout/PictureStrips"/>
    <dgm:cxn modelId="{833ED6F1-EBF9-454C-B8C8-04D556173DB2}" srcId="{135EB363-3EF9-4C22-B05D-DB2AB8539642}" destId="{E617E4EF-21B6-4419-8612-50BFC6C6B152}" srcOrd="0" destOrd="0" parTransId="{12A8C093-3C02-42DA-87D9-A1AB665A30F9}" sibTransId="{ADFB6517-53D4-43C0-96A4-F182C97229D6}"/>
    <dgm:cxn modelId="{A1896727-9C84-40B5-A76D-7365A30734F1}" type="presParOf" srcId="{F1548CE8-7F72-4AB0-A793-1061AE25B87B}" destId="{A84D2959-A97A-4ABE-AE03-2CE98FD09058}" srcOrd="0" destOrd="0" presId="urn:microsoft.com/office/officeart/2008/layout/PictureStrips"/>
    <dgm:cxn modelId="{A255CC1A-C225-4063-B173-B1EA8C6D791F}" type="presParOf" srcId="{A84D2959-A97A-4ABE-AE03-2CE98FD09058}" destId="{AB2359E8-9DBB-47A5-8CCD-6B21C6E46176}" srcOrd="0" destOrd="0" presId="urn:microsoft.com/office/officeart/2008/layout/PictureStrips"/>
    <dgm:cxn modelId="{89A2B80F-A7E7-4E66-B0F2-1EEC5245C46F}" type="presParOf" srcId="{A84D2959-A97A-4ABE-AE03-2CE98FD09058}" destId="{D37039E8-E912-4B56-9135-55CEC9C31AB0}" srcOrd="1" destOrd="0" presId="urn:microsoft.com/office/officeart/2008/layout/PictureStrips"/>
    <dgm:cxn modelId="{EC8DD58D-8134-46EB-B4B1-B052F273CFF9}" type="presParOf" srcId="{F1548CE8-7F72-4AB0-A793-1061AE25B87B}" destId="{DC804C99-4E94-495B-90FF-ECDD71ED54CA}" srcOrd="1" destOrd="0" presId="urn:microsoft.com/office/officeart/2008/layout/PictureStrips"/>
    <dgm:cxn modelId="{3D9B4857-B127-4A7B-B6C7-CB9B6291C53A}" type="presParOf" srcId="{F1548CE8-7F72-4AB0-A793-1061AE25B87B}" destId="{B7DEBA44-C175-4FE7-B602-13FDDB8EB2EA}" srcOrd="2" destOrd="0" presId="urn:microsoft.com/office/officeart/2008/layout/PictureStrips"/>
    <dgm:cxn modelId="{AB5B5233-6C6D-4AA3-B080-A8BE4264EA9F}" type="presParOf" srcId="{B7DEBA44-C175-4FE7-B602-13FDDB8EB2EA}" destId="{FE82E269-75B1-493E-932F-9BD431957DDF}" srcOrd="0" destOrd="0" presId="urn:microsoft.com/office/officeart/2008/layout/PictureStrips"/>
    <dgm:cxn modelId="{53774784-5FFF-4C76-BAD8-713E0C773263}" type="presParOf" srcId="{B7DEBA44-C175-4FE7-B602-13FDDB8EB2EA}" destId="{7929F635-E385-4B3E-8353-539785302C9D}" srcOrd="1" destOrd="0" presId="urn:microsoft.com/office/officeart/2008/layout/PictureStrips"/>
    <dgm:cxn modelId="{EE800EE3-2BF3-4CAD-9F16-8188A92F344D}" type="presParOf" srcId="{F1548CE8-7F72-4AB0-A793-1061AE25B87B}" destId="{90FC75E7-0DC5-4F99-8257-492CA3653D22}" srcOrd="3" destOrd="0" presId="urn:microsoft.com/office/officeart/2008/layout/PictureStrips"/>
    <dgm:cxn modelId="{1681E8DC-407D-4D49-9264-96E7D0FCF3B9}" type="presParOf" srcId="{F1548CE8-7F72-4AB0-A793-1061AE25B87B}" destId="{00BD40B9-F9C9-4D1C-BAB5-21396FF6889E}" srcOrd="4" destOrd="0" presId="urn:microsoft.com/office/officeart/2008/layout/PictureStrips"/>
    <dgm:cxn modelId="{8FE41E58-6BD2-49B9-873D-2ED9A3348545}" type="presParOf" srcId="{00BD40B9-F9C9-4D1C-BAB5-21396FF6889E}" destId="{E3E0AC2C-6DE2-4A17-929A-ECF2177115EC}" srcOrd="0" destOrd="0" presId="urn:microsoft.com/office/officeart/2008/layout/PictureStrips"/>
    <dgm:cxn modelId="{AD73B4F5-7E50-485B-94CF-5DA1948D00BF}" type="presParOf" srcId="{00BD40B9-F9C9-4D1C-BAB5-21396FF6889E}" destId="{70ABFBF1-FF5A-4D58-B26D-A2E949F06603}"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2359E8-9DBB-47A5-8CCD-6B21C6E46176}">
      <dsp:nvSpPr>
        <dsp:cNvPr id="0" name=""/>
        <dsp:cNvSpPr/>
      </dsp:nvSpPr>
      <dsp:spPr>
        <a:xfrm>
          <a:off x="685418" y="242926"/>
          <a:ext cx="5336916" cy="1667786"/>
        </a:xfrm>
        <a:prstGeom prst="rect">
          <a:avLst/>
        </a:prstGeom>
        <a:solidFill>
          <a:schemeClr val="lt1">
            <a:alpha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29647" tIns="252000" rIns="68580" bIns="68580" numCol="1" spcCol="1270" anchor="ctr" anchorCtr="0">
          <a:noAutofit/>
        </a:bodyPr>
        <a:lstStyle/>
        <a:p>
          <a:pPr marL="0" lvl="0" indent="0" algn="l" defTabSz="800100">
            <a:lnSpc>
              <a:spcPct val="100000"/>
            </a:lnSpc>
            <a:spcBef>
              <a:spcPts val="300"/>
            </a:spcBef>
            <a:spcAft>
              <a:spcPct val="35000"/>
            </a:spcAft>
            <a:buNone/>
          </a:pPr>
          <a:r>
            <a:rPr lang="fr-CA" sz="1800" kern="1200" dirty="0">
              <a:solidFill>
                <a:srgbClr val="1A1D24"/>
              </a:solidFill>
              <a:latin typeface="Aptos" panose="020B0004020202020204" pitchFamily="34" charset="0"/>
              <a:ea typeface="-apple-system" pitchFamily="34" charset="-122"/>
            </a:rPr>
            <a:t>Maestro est un </a:t>
          </a:r>
          <a:r>
            <a:rPr lang="fr-CA" sz="1800" b="1" kern="1200" dirty="0">
              <a:solidFill>
                <a:srgbClr val="1A1D24"/>
              </a:solidFill>
              <a:latin typeface="Aptos" panose="020B0004020202020204" pitchFamily="34" charset="0"/>
              <a:ea typeface="-apple-system" pitchFamily="34" charset="-122"/>
            </a:rPr>
            <a:t>produit d'orchestration </a:t>
          </a:r>
          <a:r>
            <a:rPr lang="fr-CA" sz="1800" kern="1200" dirty="0">
              <a:solidFill>
                <a:srgbClr val="1A1D24"/>
              </a:solidFill>
              <a:latin typeface="Aptos" panose="020B0004020202020204" pitchFamily="34" charset="0"/>
              <a:ea typeface="-apple-system" pitchFamily="34" charset="-122"/>
            </a:rPr>
            <a:t>qui coordonne, à un seul endroit, l'exécution des processus d'affaires entre les différents systèmes de l'organisation</a:t>
          </a:r>
          <a:endParaRPr lang="fr-CA" sz="1800" kern="1200" dirty="0">
            <a:solidFill>
              <a:srgbClr val="1A1D24"/>
            </a:solidFill>
            <a:latin typeface="Aptos" panose="020B0004020202020204" pitchFamily="34" charset="0"/>
          </a:endParaRPr>
        </a:p>
      </dsp:txBody>
      <dsp:txXfrm>
        <a:off x="685418" y="242926"/>
        <a:ext cx="5336916" cy="1667786"/>
      </dsp:txXfrm>
    </dsp:sp>
    <dsp:sp modelId="{D37039E8-E912-4B56-9135-55CEC9C31AB0}">
      <dsp:nvSpPr>
        <dsp:cNvPr id="0" name=""/>
        <dsp:cNvSpPr/>
      </dsp:nvSpPr>
      <dsp:spPr>
        <a:xfrm>
          <a:off x="463047" y="2023"/>
          <a:ext cx="1167450" cy="175117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E82E269-75B1-493E-932F-9BD431957DDF}">
      <dsp:nvSpPr>
        <dsp:cNvPr id="0" name=""/>
        <dsp:cNvSpPr/>
      </dsp:nvSpPr>
      <dsp:spPr>
        <a:xfrm>
          <a:off x="6523401" y="230868"/>
          <a:ext cx="5181472" cy="1619210"/>
        </a:xfrm>
        <a:prstGeom prst="rect">
          <a:avLst/>
        </a:prstGeom>
        <a:solidFill>
          <a:schemeClr val="lt1">
            <a:alpha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96745" tIns="252000" rIns="68580" bIns="68580" numCol="1" spcCol="1270" anchor="ctr" anchorCtr="0">
          <a:noAutofit/>
        </a:bodyPr>
        <a:lstStyle/>
        <a:p>
          <a:pPr marL="0" lvl="0" indent="0" algn="l" defTabSz="800100">
            <a:lnSpc>
              <a:spcPct val="100000"/>
            </a:lnSpc>
            <a:spcBef>
              <a:spcPts val="300"/>
            </a:spcBef>
            <a:spcAft>
              <a:spcPct val="35000"/>
            </a:spcAft>
            <a:buNone/>
          </a:pPr>
          <a:r>
            <a:rPr lang="en-US" sz="1800" kern="1200" dirty="0">
              <a:solidFill>
                <a:srgbClr val="1A1D24"/>
              </a:solidFill>
              <a:latin typeface="Aptos" panose="020B0004020202020204" pitchFamily="34" charset="0"/>
              <a:ea typeface="-apple-system" pitchFamily="34" charset="-122"/>
              <a:cs typeface="+mn-cs"/>
            </a:rPr>
            <a:t>Pour doter </a:t>
          </a:r>
          <a:r>
            <a:rPr lang="en-US" sz="1800" kern="1200" dirty="0" err="1">
              <a:solidFill>
                <a:srgbClr val="1A1D24"/>
              </a:solidFill>
              <a:latin typeface="Aptos" panose="020B0004020202020204" pitchFamily="34" charset="0"/>
              <a:ea typeface="-apple-system" pitchFamily="34" charset="-122"/>
              <a:cs typeface="+mn-cs"/>
            </a:rPr>
            <a:t>l’organization</a:t>
          </a:r>
          <a:r>
            <a:rPr lang="en-US" sz="1800" kern="1200" dirty="0">
              <a:solidFill>
                <a:srgbClr val="1A1D24"/>
              </a:solidFill>
              <a:latin typeface="Aptos" panose="020B0004020202020204" pitchFamily="34" charset="0"/>
              <a:ea typeface="-apple-system" pitchFamily="34" charset="-122"/>
              <a:cs typeface="+mn-cs"/>
            </a:rPr>
            <a:t> d’un levier </a:t>
          </a:r>
          <a:r>
            <a:rPr lang="en-US" sz="1800" kern="1200" dirty="0" err="1">
              <a:solidFill>
                <a:srgbClr val="1A1D24"/>
              </a:solidFill>
              <a:latin typeface="Aptos" panose="020B0004020202020204" pitchFamily="34" charset="0"/>
              <a:ea typeface="-apple-system" pitchFamily="34" charset="-122"/>
              <a:cs typeface="+mn-cs"/>
            </a:rPr>
            <a:t>commun</a:t>
          </a:r>
          <a:r>
            <a:rPr lang="en-US" sz="1800" kern="1200" dirty="0">
              <a:solidFill>
                <a:srgbClr val="1A1D24"/>
              </a:solidFill>
              <a:latin typeface="Aptos" panose="020B0004020202020204" pitchFamily="34" charset="0"/>
              <a:ea typeface="-apple-system" pitchFamily="34" charset="-122"/>
              <a:cs typeface="+mn-cs"/>
            </a:rPr>
            <a:t> </a:t>
          </a:r>
          <a:r>
            <a:rPr lang="en-US" sz="1800" kern="1200" dirty="0" err="1">
              <a:solidFill>
                <a:srgbClr val="1A1D24"/>
              </a:solidFill>
              <a:latin typeface="Aptos" panose="020B0004020202020204" pitchFamily="34" charset="0"/>
              <a:ea typeface="-apple-system" pitchFamily="34" charset="-122"/>
              <a:cs typeface="+mn-cs"/>
            </a:rPr>
            <a:t>permettant</a:t>
          </a:r>
          <a:r>
            <a:rPr lang="en-US" sz="1800" kern="1200" dirty="0">
              <a:solidFill>
                <a:srgbClr val="1A1D24"/>
              </a:solidFill>
              <a:latin typeface="Aptos" panose="020B0004020202020204" pitchFamily="34" charset="0"/>
              <a:ea typeface="-apple-system" pitchFamily="34" charset="-122"/>
              <a:cs typeface="+mn-cs"/>
            </a:rPr>
            <a:t> de </a:t>
          </a:r>
          <a:r>
            <a:rPr lang="en-US" sz="1800" kern="1200" dirty="0" err="1">
              <a:solidFill>
                <a:srgbClr val="1A1D24"/>
              </a:solidFill>
              <a:latin typeface="Aptos" panose="020B0004020202020204" pitchFamily="34" charset="0"/>
              <a:ea typeface="-apple-system" pitchFamily="34" charset="-122"/>
              <a:cs typeface="+mn-cs"/>
            </a:rPr>
            <a:t>gérer</a:t>
          </a:r>
          <a:r>
            <a:rPr lang="en-US" sz="1800" kern="1200" dirty="0">
              <a:solidFill>
                <a:srgbClr val="1A1D24"/>
              </a:solidFill>
              <a:latin typeface="Aptos" panose="020B0004020202020204" pitchFamily="34" charset="0"/>
              <a:ea typeface="-apple-system" pitchFamily="34" charset="-122"/>
              <a:cs typeface="+mn-cs"/>
            </a:rPr>
            <a:t> </a:t>
          </a:r>
          <a:r>
            <a:rPr lang="en-US" sz="1800" kern="1200" dirty="0" err="1">
              <a:solidFill>
                <a:srgbClr val="1A1D24"/>
              </a:solidFill>
              <a:latin typeface="Aptos" panose="020B0004020202020204" pitchFamily="34" charset="0"/>
              <a:ea typeface="-apple-system" pitchFamily="34" charset="-122"/>
              <a:cs typeface="+mn-cs"/>
            </a:rPr>
            <a:t>l’évolution</a:t>
          </a:r>
          <a:r>
            <a:rPr lang="en-US" sz="1800" kern="1200" dirty="0">
              <a:solidFill>
                <a:srgbClr val="1A1D24"/>
              </a:solidFill>
              <a:latin typeface="Aptos" panose="020B0004020202020204" pitchFamily="34" charset="0"/>
              <a:ea typeface="-apple-system" pitchFamily="34" charset="-122"/>
              <a:cs typeface="+mn-cs"/>
            </a:rPr>
            <a:t> des processus d’affaires de manière </a:t>
          </a:r>
          <a:r>
            <a:rPr lang="en-US" sz="1800" kern="1200" dirty="0" err="1">
              <a:solidFill>
                <a:srgbClr val="1A1D24"/>
              </a:solidFill>
              <a:latin typeface="Aptos" panose="020B0004020202020204" pitchFamily="34" charset="0"/>
              <a:ea typeface="-apple-system" pitchFamily="34" charset="-122"/>
              <a:cs typeface="+mn-cs"/>
            </a:rPr>
            <a:t>structurée</a:t>
          </a:r>
          <a:r>
            <a:rPr lang="en-US" sz="1800" kern="1200" dirty="0">
              <a:solidFill>
                <a:srgbClr val="1A1D24"/>
              </a:solidFill>
              <a:latin typeface="Aptos" panose="020B0004020202020204" pitchFamily="34" charset="0"/>
              <a:ea typeface="-apple-system" pitchFamily="34" charset="-122"/>
              <a:cs typeface="+mn-cs"/>
            </a:rPr>
            <a:t> et </a:t>
          </a:r>
          <a:r>
            <a:rPr lang="en-US" sz="1800" kern="1200" dirty="0" err="1">
              <a:solidFill>
                <a:srgbClr val="1A1D24"/>
              </a:solidFill>
              <a:latin typeface="Aptos" panose="020B0004020202020204" pitchFamily="34" charset="0"/>
              <a:ea typeface="-apple-system" pitchFamily="34" charset="-122"/>
              <a:cs typeface="+mn-cs"/>
            </a:rPr>
            <a:t>centralisée</a:t>
          </a:r>
          <a:r>
            <a:rPr lang="en-US" sz="1800" kern="1200" dirty="0">
              <a:solidFill>
                <a:srgbClr val="1A1D24"/>
              </a:solidFill>
              <a:latin typeface="Aptos" panose="020B0004020202020204" pitchFamily="34" charset="0"/>
              <a:ea typeface="-apple-system" pitchFamily="34" charset="-122"/>
              <a:cs typeface="+mn-cs"/>
            </a:rPr>
            <a:t>.</a:t>
          </a:r>
          <a:endParaRPr lang="fr-CA" sz="1800" kern="1200" dirty="0">
            <a:solidFill>
              <a:srgbClr val="1A1D24"/>
            </a:solidFill>
            <a:latin typeface="Aptos" panose="020B0004020202020204" pitchFamily="34" charset="0"/>
            <a:ea typeface="-apple-system" pitchFamily="34" charset="-122"/>
            <a:cs typeface="+mn-cs"/>
          </a:endParaRPr>
        </a:p>
      </dsp:txBody>
      <dsp:txXfrm>
        <a:off x="6523401" y="230868"/>
        <a:ext cx="5181472" cy="1619210"/>
      </dsp:txXfrm>
    </dsp:sp>
    <dsp:sp modelId="{7929F635-E385-4B3E-8353-539785302C9D}">
      <dsp:nvSpPr>
        <dsp:cNvPr id="0" name=""/>
        <dsp:cNvSpPr/>
      </dsp:nvSpPr>
      <dsp:spPr>
        <a:xfrm>
          <a:off x="6213203" y="29820"/>
          <a:ext cx="1133447" cy="170017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E0AC2C-6DE2-4A17-929A-ECF2177115EC}">
      <dsp:nvSpPr>
        <dsp:cNvPr id="0" name=""/>
        <dsp:cNvSpPr/>
      </dsp:nvSpPr>
      <dsp:spPr>
        <a:xfrm>
          <a:off x="3479536" y="2342483"/>
          <a:ext cx="5336916" cy="1667786"/>
        </a:xfrm>
        <a:prstGeom prst="rect">
          <a:avLst/>
        </a:prstGeom>
        <a:solidFill>
          <a:schemeClr val="lt1">
            <a:alpha val="4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29647" tIns="252000" rIns="68580" bIns="68580" numCol="1" spcCol="1270" anchor="ctr" anchorCtr="0">
          <a:noAutofit/>
        </a:bodyPr>
        <a:lstStyle/>
        <a:p>
          <a:pPr marL="0" lvl="0" indent="0" algn="l" defTabSz="800100">
            <a:lnSpc>
              <a:spcPct val="100000"/>
            </a:lnSpc>
            <a:spcBef>
              <a:spcPct val="0"/>
            </a:spcBef>
            <a:spcAft>
              <a:spcPct val="35000"/>
            </a:spcAft>
            <a:buNone/>
          </a:pPr>
          <a:r>
            <a:rPr lang="en-US" sz="1800" b="0" kern="1200" dirty="0">
              <a:solidFill>
                <a:srgbClr val="1A1D24"/>
              </a:solidFill>
              <a:latin typeface="Aptos" panose="020B0004020202020204" pitchFamily="34" charset="0"/>
              <a:ea typeface="-apple-system" pitchFamily="34" charset="-122"/>
              <a:cs typeface="+mn-cs"/>
            </a:rPr>
            <a:t>En</a:t>
          </a:r>
          <a:r>
            <a:rPr lang="en-US" sz="1800" b="1" kern="1200" dirty="0">
              <a:solidFill>
                <a:srgbClr val="1A1D24"/>
              </a:solidFill>
              <a:latin typeface="Aptos" panose="020B0004020202020204" pitchFamily="34" charset="0"/>
              <a:ea typeface="-apple-system" pitchFamily="34" charset="-122"/>
              <a:cs typeface="+mn-cs"/>
            </a:rPr>
            <a:t> </a:t>
          </a:r>
          <a:r>
            <a:rPr lang="en-US" sz="1800" b="1" kern="1200" dirty="0" err="1">
              <a:solidFill>
                <a:srgbClr val="1A1D24"/>
              </a:solidFill>
              <a:latin typeface="Aptos" panose="020B0004020202020204" pitchFamily="34" charset="0"/>
              <a:ea typeface="-apple-system" pitchFamily="34" charset="-122"/>
              <a:cs typeface="+mn-cs"/>
            </a:rPr>
            <a:t>centralisant</a:t>
          </a:r>
          <a:r>
            <a:rPr lang="en-US" sz="1800" b="1" kern="1200" dirty="0">
              <a:solidFill>
                <a:srgbClr val="1A1D24"/>
              </a:solidFill>
              <a:latin typeface="Aptos" panose="020B0004020202020204" pitchFamily="34" charset="0"/>
              <a:ea typeface="-apple-system" pitchFamily="34" charset="-122"/>
              <a:cs typeface="+mn-cs"/>
            </a:rPr>
            <a:t> la </a:t>
          </a:r>
          <a:r>
            <a:rPr lang="en-US" sz="1800" b="1" kern="1200" dirty="0" err="1">
              <a:solidFill>
                <a:srgbClr val="1A1D24"/>
              </a:solidFill>
              <a:latin typeface="Aptos" panose="020B0004020202020204" pitchFamily="34" charset="0"/>
              <a:ea typeface="-apple-system" pitchFamily="34" charset="-122"/>
              <a:cs typeface="+mn-cs"/>
            </a:rPr>
            <a:t>logique</a:t>
          </a:r>
          <a:r>
            <a:rPr lang="en-US" sz="1800" b="1" kern="1200" dirty="0">
              <a:solidFill>
                <a:srgbClr val="1A1D24"/>
              </a:solidFill>
              <a:latin typeface="Aptos" panose="020B0004020202020204" pitchFamily="34" charset="0"/>
              <a:ea typeface="-apple-system" pitchFamily="34" charset="-122"/>
              <a:cs typeface="+mn-cs"/>
            </a:rPr>
            <a:t> métier </a:t>
          </a:r>
          <a:r>
            <a:rPr lang="en-US" sz="1800" kern="1200" dirty="0">
              <a:solidFill>
                <a:srgbClr val="1A1D24"/>
              </a:solidFill>
              <a:latin typeface="Aptos" panose="020B0004020202020204" pitchFamily="34" charset="0"/>
              <a:ea typeface="-apple-system" pitchFamily="34" charset="-122"/>
              <a:cs typeface="+mn-cs"/>
            </a:rPr>
            <a:t>dans </a:t>
          </a:r>
          <a:r>
            <a:rPr lang="en-US" sz="1800" kern="1200" dirty="0" err="1">
              <a:solidFill>
                <a:srgbClr val="1A1D24"/>
              </a:solidFill>
              <a:latin typeface="Aptos" panose="020B0004020202020204" pitchFamily="34" charset="0"/>
              <a:ea typeface="-apple-system" pitchFamily="34" charset="-122"/>
              <a:cs typeface="+mn-cs"/>
            </a:rPr>
            <a:t>une</a:t>
          </a:r>
          <a:r>
            <a:rPr lang="en-US" sz="1800" kern="1200" dirty="0">
              <a:solidFill>
                <a:srgbClr val="1A1D24"/>
              </a:solidFill>
              <a:latin typeface="Aptos" panose="020B0004020202020204" pitchFamily="34" charset="0"/>
              <a:ea typeface="-apple-system" pitchFamily="34" charset="-122"/>
              <a:cs typeface="+mn-cs"/>
            </a:rPr>
            <a:t> couche </a:t>
          </a:r>
          <a:r>
            <a:rPr lang="en-US" sz="1800" kern="1200" dirty="0" err="1">
              <a:solidFill>
                <a:srgbClr val="1A1D24"/>
              </a:solidFill>
              <a:latin typeface="Aptos" panose="020B0004020202020204" pitchFamily="34" charset="0"/>
              <a:ea typeface="-apple-system" pitchFamily="34" charset="-122"/>
              <a:cs typeface="+mn-cs"/>
            </a:rPr>
            <a:t>d'orchestration</a:t>
          </a:r>
          <a:r>
            <a:rPr lang="en-US" sz="1800" kern="1200" dirty="0">
              <a:solidFill>
                <a:srgbClr val="1A1D24"/>
              </a:solidFill>
              <a:latin typeface="Aptos" panose="020B0004020202020204" pitchFamily="34" charset="0"/>
              <a:ea typeface="-apple-system" pitchFamily="34" charset="-122"/>
              <a:cs typeface="+mn-cs"/>
            </a:rPr>
            <a:t> unique, et </a:t>
          </a:r>
          <a:r>
            <a:rPr lang="en-US" sz="1800" kern="1200" dirty="0" err="1">
              <a:solidFill>
                <a:srgbClr val="1A1D24"/>
              </a:solidFill>
              <a:latin typeface="Aptos" panose="020B0004020202020204" pitchFamily="34" charset="0"/>
              <a:ea typeface="-apple-system" pitchFamily="34" charset="-122"/>
              <a:cs typeface="+mn-cs"/>
            </a:rPr>
            <a:t>en</a:t>
          </a:r>
          <a:r>
            <a:rPr lang="en-US" sz="1800" kern="1200" dirty="0">
              <a:solidFill>
                <a:srgbClr val="1A1D24"/>
              </a:solidFill>
              <a:latin typeface="Aptos" panose="020B0004020202020204" pitchFamily="34" charset="0"/>
              <a:ea typeface="-apple-system" pitchFamily="34" charset="-122"/>
              <a:cs typeface="+mn-cs"/>
            </a:rPr>
            <a:t> </a:t>
          </a:r>
          <a:r>
            <a:rPr lang="en-US" sz="1800" kern="1200" dirty="0" err="1">
              <a:solidFill>
                <a:srgbClr val="1A1D24"/>
              </a:solidFill>
              <a:latin typeface="Aptos" panose="020B0004020202020204" pitchFamily="34" charset="0"/>
              <a:ea typeface="-apple-system" pitchFamily="34" charset="-122"/>
              <a:cs typeface="+mn-cs"/>
            </a:rPr>
            <a:t>permettant</a:t>
          </a:r>
          <a:r>
            <a:rPr lang="en-US" sz="1800" kern="1200" dirty="0">
              <a:solidFill>
                <a:srgbClr val="1A1D24"/>
              </a:solidFill>
              <a:latin typeface="Aptos" panose="020B0004020202020204" pitchFamily="34" charset="0"/>
              <a:ea typeface="-apple-system" pitchFamily="34" charset="-122"/>
              <a:cs typeface="+mn-cs"/>
            </a:rPr>
            <a:t> de </a:t>
          </a:r>
          <a:r>
            <a:rPr lang="en-US" sz="1800" kern="1200" dirty="0" err="1">
              <a:solidFill>
                <a:srgbClr val="1A1D24"/>
              </a:solidFill>
              <a:latin typeface="Aptos" panose="020B0004020202020204" pitchFamily="34" charset="0"/>
              <a:ea typeface="-apple-system" pitchFamily="34" charset="-122"/>
              <a:cs typeface="+mn-cs"/>
            </a:rPr>
            <a:t>configurer</a:t>
          </a:r>
          <a:r>
            <a:rPr lang="en-US" sz="1800" kern="1200" dirty="0">
              <a:solidFill>
                <a:srgbClr val="1A1D24"/>
              </a:solidFill>
              <a:latin typeface="Aptos" panose="020B0004020202020204" pitchFamily="34" charset="0"/>
              <a:ea typeface="-apple-system" pitchFamily="34" charset="-122"/>
              <a:cs typeface="+mn-cs"/>
            </a:rPr>
            <a:t> les processus de façon flexible, sans </a:t>
          </a:r>
          <a:r>
            <a:rPr lang="en-US" sz="1800" kern="1200" dirty="0" err="1">
              <a:solidFill>
                <a:srgbClr val="1A1D24"/>
              </a:solidFill>
              <a:latin typeface="Aptos" panose="020B0004020202020204" pitchFamily="34" charset="0"/>
              <a:ea typeface="-apple-system" pitchFamily="34" charset="-122"/>
              <a:cs typeface="+mn-cs"/>
            </a:rPr>
            <a:t>recourir</a:t>
          </a:r>
          <a:r>
            <a:rPr lang="en-US" sz="1800" kern="1200" dirty="0">
              <a:solidFill>
                <a:srgbClr val="1A1D24"/>
              </a:solidFill>
              <a:latin typeface="Aptos" panose="020B0004020202020204" pitchFamily="34" charset="0"/>
              <a:ea typeface="-apple-system" pitchFamily="34" charset="-122"/>
              <a:cs typeface="+mn-cs"/>
            </a:rPr>
            <a:t> au code.</a:t>
          </a:r>
          <a:endParaRPr lang="fr-CA" sz="1800" kern="1200" dirty="0">
            <a:solidFill>
              <a:srgbClr val="1A1D24"/>
            </a:solidFill>
            <a:latin typeface="Aptos" panose="020B0004020202020204" pitchFamily="34" charset="0"/>
            <a:ea typeface="-apple-system" pitchFamily="34" charset="-122"/>
            <a:cs typeface="+mn-cs"/>
          </a:endParaRPr>
        </a:p>
      </dsp:txBody>
      <dsp:txXfrm>
        <a:off x="3479536" y="2342483"/>
        <a:ext cx="5336916" cy="1667786"/>
      </dsp:txXfrm>
    </dsp:sp>
    <dsp:sp modelId="{70ABFBF1-FF5A-4D58-B26D-A2E949F06603}">
      <dsp:nvSpPr>
        <dsp:cNvPr id="0" name=""/>
        <dsp:cNvSpPr/>
      </dsp:nvSpPr>
      <dsp:spPr>
        <a:xfrm>
          <a:off x="3257165" y="2101581"/>
          <a:ext cx="1167450" cy="175117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169920" cy="619364"/>
          </a:xfrm>
          <a:prstGeom prst="rect">
            <a:avLst/>
          </a:prstGeom>
        </p:spPr>
        <p:txBody>
          <a:bodyPr vert="horz" lIns="112334" tIns="56167" rIns="112334" bIns="56167" rtlCol="0"/>
          <a:lstStyle>
            <a:lvl1pPr algn="l">
              <a:defRPr sz="1500"/>
            </a:lvl1pPr>
          </a:lstStyle>
          <a:p>
            <a:endParaRPr lang="fr-CA"/>
          </a:p>
        </p:txBody>
      </p:sp>
      <p:sp>
        <p:nvSpPr>
          <p:cNvPr id="3" name="Espace réservé de la date 2"/>
          <p:cNvSpPr>
            <a:spLocks noGrp="1"/>
          </p:cNvSpPr>
          <p:nvPr>
            <p:ph type="dt" idx="1"/>
          </p:nvPr>
        </p:nvSpPr>
        <p:spPr>
          <a:xfrm>
            <a:off x="4143587" y="0"/>
            <a:ext cx="3169920" cy="619364"/>
          </a:xfrm>
          <a:prstGeom prst="rect">
            <a:avLst/>
          </a:prstGeom>
        </p:spPr>
        <p:txBody>
          <a:bodyPr vert="horz" lIns="112334" tIns="56167" rIns="112334" bIns="56167" rtlCol="0"/>
          <a:lstStyle>
            <a:lvl1pPr algn="r">
              <a:defRPr sz="1500"/>
            </a:lvl1pPr>
          </a:lstStyle>
          <a:p>
            <a:fld id="{A55C9CC5-EE74-4064-BE33-561D5AB8B722}" type="datetimeFigureOut">
              <a:rPr lang="fr-CA" smtClean="0"/>
              <a:t>2026-05-14</a:t>
            </a:fld>
            <a:endParaRPr lang="fr-CA"/>
          </a:p>
        </p:txBody>
      </p:sp>
      <p:sp>
        <p:nvSpPr>
          <p:cNvPr id="4" name="Espace réservé de l'image des diapositives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112334" tIns="56167" rIns="112334" bIns="56167" rtlCol="0" anchor="ctr"/>
          <a:lstStyle/>
          <a:p>
            <a:endParaRPr lang="fr-CA"/>
          </a:p>
        </p:txBody>
      </p:sp>
      <p:sp>
        <p:nvSpPr>
          <p:cNvPr id="5" name="Espace réservé des notes 4"/>
          <p:cNvSpPr>
            <a:spLocks noGrp="1"/>
          </p:cNvSpPr>
          <p:nvPr>
            <p:ph type="body" sz="quarter" idx="3"/>
          </p:nvPr>
        </p:nvSpPr>
        <p:spPr>
          <a:xfrm>
            <a:off x="731520" y="5940742"/>
            <a:ext cx="5852160" cy="4860608"/>
          </a:xfrm>
          <a:prstGeom prst="rect">
            <a:avLst/>
          </a:prstGeom>
        </p:spPr>
        <p:txBody>
          <a:bodyPr vert="horz" lIns="112334" tIns="56167" rIns="112334" bIns="56167"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11725038"/>
            <a:ext cx="3169920" cy="619362"/>
          </a:xfrm>
          <a:prstGeom prst="rect">
            <a:avLst/>
          </a:prstGeom>
        </p:spPr>
        <p:txBody>
          <a:bodyPr vert="horz" lIns="112334" tIns="56167" rIns="112334" bIns="56167" rtlCol="0" anchor="b"/>
          <a:lstStyle>
            <a:lvl1pPr algn="l">
              <a:defRPr sz="1500"/>
            </a:lvl1pPr>
          </a:lstStyle>
          <a:p>
            <a:endParaRPr lang="fr-CA"/>
          </a:p>
        </p:txBody>
      </p:sp>
      <p:sp>
        <p:nvSpPr>
          <p:cNvPr id="7" name="Espace réservé du numéro de diapositive 6"/>
          <p:cNvSpPr>
            <a:spLocks noGrp="1"/>
          </p:cNvSpPr>
          <p:nvPr>
            <p:ph type="sldNum" sz="quarter" idx="5"/>
          </p:nvPr>
        </p:nvSpPr>
        <p:spPr>
          <a:xfrm>
            <a:off x="4143587" y="11725038"/>
            <a:ext cx="3169920" cy="619362"/>
          </a:xfrm>
          <a:prstGeom prst="rect">
            <a:avLst/>
          </a:prstGeom>
        </p:spPr>
        <p:txBody>
          <a:bodyPr vert="horz" lIns="112334" tIns="56167" rIns="112334" bIns="56167" rtlCol="0" anchor="b"/>
          <a:lstStyle>
            <a:lvl1pPr algn="r">
              <a:defRPr sz="1500"/>
            </a:lvl1pPr>
          </a:lstStyle>
          <a:p>
            <a:fld id="{949CE582-9F9B-48E7-BFE8-4FBEC719488F}" type="slidenum">
              <a:rPr lang="fr-CA" smtClean="0"/>
              <a:t>‹N°›</a:t>
            </a:fld>
            <a:endParaRPr lang="fr-CA"/>
          </a:p>
        </p:txBody>
      </p:sp>
    </p:spTree>
    <p:extLst>
      <p:ext uri="{BB962C8B-B14F-4D97-AF65-F5344CB8AC3E}">
        <p14:creationId xmlns:p14="http://schemas.microsoft.com/office/powerpoint/2010/main" val="681579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456DB8-8424-4DCF-BB20-E6B916C628D0}"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7962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20000"/>
              </a:lnSpc>
            </a:pPr>
            <a:r>
              <a:rPr lang="fr-CA" dirty="0"/>
              <a:t>Au terme de cette rencontre, vous aurez une compréhension partagée des objectifs, du contexte et des principales fonctionnalités de Maestro, ainsi que de la vision à long terme du produit</a:t>
            </a:r>
          </a:p>
          <a:p>
            <a:endParaRPr lang="fr-CA" dirty="0"/>
          </a:p>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456DB8-8424-4DCF-BB20-E6B916C628D0}"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39096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02BC8-A321-F2C9-8659-354EAD32C92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5F6642D-1315-A938-0CC9-55C3F1A83A8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2EEEE2F-731F-5620-DB8A-BEC33A441990}"/>
              </a:ext>
            </a:extLst>
          </p:cNvPr>
          <p:cNvSpPr>
            <a:spLocks noGrp="1"/>
          </p:cNvSpPr>
          <p:nvPr>
            <p:ph type="body" idx="1"/>
          </p:nvPr>
        </p:nvSpPr>
        <p:spPr/>
        <p:txBody>
          <a:bodyPr/>
          <a:lstStyle/>
          <a:p>
            <a:pPr marL="457200" lvl="1" indent="-457200">
              <a:spcBef>
                <a:spcPts val="1000"/>
              </a:spcBef>
            </a:pPr>
            <a:r>
              <a:rPr lang="fr-CA" dirty="0"/>
              <a:t>Processus codés dans plusieurs systèmes</a:t>
            </a:r>
          </a:p>
          <a:p>
            <a:pPr marL="457200" lvl="1" indent="-457200">
              <a:spcBef>
                <a:spcPts val="1000"/>
              </a:spcBef>
            </a:pPr>
            <a:r>
              <a:rPr lang="fr-CA" dirty="0"/>
              <a:t>Dépendance aux développeurs pour chaque changement</a:t>
            </a:r>
          </a:p>
          <a:p>
            <a:pPr marL="800100" lvl="2" indent="-342900">
              <a:spcBef>
                <a:spcPts val="1000"/>
              </a:spcBef>
            </a:pPr>
            <a:r>
              <a:rPr lang="fr-CA" dirty="0">
                <a:solidFill>
                  <a:srgbClr val="64648A"/>
                </a:solidFill>
              </a:rPr>
              <a:t>Délais pour chaque modification</a:t>
            </a:r>
          </a:p>
          <a:p>
            <a:pPr marL="457200" lvl="1" indent="-457200">
              <a:spcBef>
                <a:spcPts val="1000"/>
              </a:spcBef>
            </a:pPr>
            <a:r>
              <a:rPr lang="fr-CA" dirty="0"/>
              <a:t>Gestion des erreurs complexe</a:t>
            </a:r>
          </a:p>
          <a:p>
            <a:pPr marL="800100" lvl="2" indent="-342900">
              <a:spcBef>
                <a:spcPts val="1000"/>
              </a:spcBef>
            </a:pPr>
            <a:r>
              <a:rPr lang="fr-CA" dirty="0">
                <a:solidFill>
                  <a:srgbClr val="64648A"/>
                </a:solidFill>
              </a:rPr>
              <a:t>Plusieurs équipes impliquées</a:t>
            </a:r>
          </a:p>
          <a:p>
            <a:pPr marL="800100" lvl="2" indent="-342900">
              <a:spcBef>
                <a:spcPts val="1000"/>
              </a:spcBef>
            </a:pPr>
            <a:endParaRPr lang="fr-CA" dirty="0">
              <a:solidFill>
                <a:srgbClr val="64648A"/>
              </a:solidFill>
            </a:endParaRPr>
          </a:p>
          <a:p>
            <a:r>
              <a:rPr lang="fr-CA" dirty="0"/>
              <a:t>Gestion des erreurs complexes: quand ça roule en prod et qu’il y a des affaires codées dans pleins de systèmes différents ca peut être difficile de repérer les problèmes lorsque ca plante. Aussi, les impacts peuvent arriver sur plein de systèmes donc il y a plusieurs équipes impliquées</a:t>
            </a:r>
          </a:p>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(Test facilité): Quand on change quelque chose sur les processus, on s’attend d’avoir des impacts, mais avec OIM, on sera en mesure de valider que les règles métier ont le bon comportement et qu’un changement impacte seulement les cas d’usage prévus</a:t>
            </a:r>
            <a:br>
              <a:rPr lang="fr-CA" dirty="0"/>
            </a:br>
            <a:br>
              <a:rPr lang="fr-CA" dirty="0"/>
            </a:br>
            <a:br>
              <a:rPr lang="fr-CA" sz="1200" kern="1200" dirty="0">
                <a:solidFill>
                  <a:schemeClr val="tx1"/>
                </a:solidFill>
                <a:effectLst/>
                <a:latin typeface="+mn-lt"/>
                <a:ea typeface="+mn-ea"/>
                <a:cs typeface="+mn-cs"/>
              </a:rPr>
            </a:br>
            <a:r>
              <a:rPr lang="fr-CA" sz="1200" kern="1200" dirty="0">
                <a:solidFill>
                  <a:schemeClr val="tx1"/>
                </a:solidFill>
                <a:effectLst/>
                <a:latin typeface="+mn-lt"/>
                <a:ea typeface="+mn-ea"/>
                <a:cs typeface="+mn-cs"/>
              </a:rPr>
              <a:t>Constat: Les processus d’affaires sont complexes, hétérogènes et difficiles à faire évoluer.</a:t>
            </a:r>
            <a:br>
              <a:rPr lang="fr-CA" sz="1200" kern="1200" dirty="0">
                <a:solidFill>
                  <a:schemeClr val="tx1"/>
                </a:solidFill>
                <a:effectLst/>
                <a:latin typeface="+mn-lt"/>
                <a:ea typeface="+mn-ea"/>
                <a:cs typeface="+mn-cs"/>
              </a:rPr>
            </a:br>
            <a:br>
              <a:rPr lang="fr-CA" sz="1200" kern="1200" dirty="0">
                <a:solidFill>
                  <a:schemeClr val="tx1"/>
                </a:solidFill>
                <a:effectLst/>
                <a:latin typeface="+mn-lt"/>
                <a:ea typeface="+mn-ea"/>
                <a:cs typeface="+mn-cs"/>
              </a:rPr>
            </a:br>
            <a:r>
              <a:rPr lang="fr-CA" sz="1200" kern="1200" dirty="0">
                <a:solidFill>
                  <a:schemeClr val="tx1"/>
                </a:solidFill>
                <a:effectLst/>
                <a:latin typeface="+mn-lt"/>
                <a:ea typeface="+mn-ea"/>
                <a:cs typeface="+mn-cs"/>
              </a:rPr>
              <a:t>Enjeux: Les changements sont longs, coûteux et reposent fortement sur des solutions sur mesure.</a:t>
            </a:r>
            <a:br>
              <a:rPr lang="fr-CA" sz="1200" kern="1200" dirty="0">
                <a:solidFill>
                  <a:schemeClr val="tx1"/>
                </a:solidFill>
                <a:effectLst/>
                <a:latin typeface="+mn-lt"/>
                <a:ea typeface="+mn-ea"/>
                <a:cs typeface="+mn-cs"/>
              </a:rPr>
            </a:br>
            <a:br>
              <a:rPr lang="fr-CA" sz="1200" kern="1200" dirty="0">
                <a:solidFill>
                  <a:schemeClr val="tx1"/>
                </a:solidFill>
                <a:effectLst/>
                <a:latin typeface="+mn-lt"/>
                <a:ea typeface="+mn-ea"/>
                <a:cs typeface="+mn-cs"/>
              </a:rPr>
            </a:br>
            <a:r>
              <a:rPr lang="fr-CA" sz="1200" kern="1200" dirty="0">
                <a:solidFill>
                  <a:schemeClr val="tx1"/>
                </a:solidFill>
                <a:effectLst/>
                <a:latin typeface="+mn-lt"/>
                <a:ea typeface="+mn-ea"/>
                <a:cs typeface="+mn-cs"/>
              </a:rPr>
              <a:t>Besoin: Disposer d’une approche plus simple, flexible et agile pour définir et faire évoluer les processus.</a:t>
            </a:r>
          </a:p>
          <a:p>
            <a:pPr marL="800100" lvl="2" indent="-342900">
              <a:spcBef>
                <a:spcPts val="1000"/>
              </a:spcBef>
            </a:pPr>
            <a:endParaRPr lang="fr-CA" dirty="0"/>
          </a:p>
        </p:txBody>
      </p:sp>
      <p:sp>
        <p:nvSpPr>
          <p:cNvPr id="4" name="Espace réservé du numéro de diapositive 3">
            <a:extLst>
              <a:ext uri="{FF2B5EF4-FFF2-40B4-BE49-F238E27FC236}">
                <a16:creationId xmlns:a16="http://schemas.microsoft.com/office/drawing/2014/main" id="{769DA0D5-6F28-8B56-CEAD-32611E5862D5}"/>
              </a:ext>
            </a:extLst>
          </p:cNvPr>
          <p:cNvSpPr>
            <a:spLocks noGrp="1"/>
          </p:cNvSpPr>
          <p:nvPr>
            <p:ph type="sldNum" sz="quarter" idx="5"/>
          </p:nvPr>
        </p:nvSpPr>
        <p:spPr/>
        <p:txBody>
          <a:bodyPr/>
          <a:lstStyle/>
          <a:p>
            <a:fld id="{7F456DB8-8424-4DCF-BB20-E6B916C628D0}" type="slidenum">
              <a:rPr lang="fr-CA" smtClean="0"/>
              <a:t>3</a:t>
            </a:fld>
            <a:endParaRPr lang="fr-CA"/>
          </a:p>
        </p:txBody>
      </p:sp>
    </p:spTree>
    <p:extLst>
      <p:ext uri="{BB962C8B-B14F-4D97-AF65-F5344CB8AC3E}">
        <p14:creationId xmlns:p14="http://schemas.microsoft.com/office/powerpoint/2010/main" val="3264784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7F456DB8-8424-4DCF-BB20-E6B916C628D0}" type="slidenum">
              <a:rPr lang="fr-CA" smtClean="0"/>
              <a:t>4</a:t>
            </a:fld>
            <a:endParaRPr lang="fr-CA"/>
          </a:p>
        </p:txBody>
      </p:sp>
    </p:spTree>
    <p:extLst>
      <p:ext uri="{BB962C8B-B14F-4D97-AF65-F5344CB8AC3E}">
        <p14:creationId xmlns:p14="http://schemas.microsoft.com/office/powerpoint/2010/main" val="195723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On prend un exemple simple de prise de rendez-vous. L’usager fait une demande, et OIM orchestre automatiquement toutes les étapes du processus : vérifier la disponibilité, réserver le créneau, créer le dossier et envoyer la confirmation.</a:t>
            </a:r>
          </a:p>
          <a:p>
            <a:r>
              <a:rPr lang="fr-CA" dirty="0"/>
              <a:t>Tout est exécuté automatiquement entre les systèmes, sans intervention manuelle.</a:t>
            </a:r>
          </a:p>
          <a:p>
            <a:r>
              <a:rPr lang="fr-CA" b="1" dirty="0"/>
              <a:t>En plus, OIM applique les règles d’affaires en continu — par exemple proposer une autre plage si aucun créneau n’est disponible </a:t>
            </a:r>
            <a:r>
              <a:rPr lang="fr-CA" dirty="0"/>
              <a:t>et en cas de problème, le processus se met en pause et reprend exactement à l’étape concernée, sans tout recommencer.</a:t>
            </a:r>
          </a:p>
          <a:p>
            <a:endParaRPr lang="fr-CA" dirty="0"/>
          </a:p>
        </p:txBody>
      </p:sp>
      <p:sp>
        <p:nvSpPr>
          <p:cNvPr id="4" name="Espace réservé du numéro de diapositive 3"/>
          <p:cNvSpPr>
            <a:spLocks noGrp="1"/>
          </p:cNvSpPr>
          <p:nvPr>
            <p:ph type="sldNum" sz="quarter" idx="5"/>
          </p:nvPr>
        </p:nvSpPr>
        <p:spPr/>
        <p:txBody>
          <a:bodyPr/>
          <a:lstStyle/>
          <a:p>
            <a:fld id="{7F456DB8-8424-4DCF-BB20-E6B916C628D0}" type="slidenum">
              <a:rPr lang="fr-CA" smtClean="0"/>
              <a:t>5</a:t>
            </a:fld>
            <a:endParaRPr lang="fr-CA"/>
          </a:p>
        </p:txBody>
      </p:sp>
    </p:spTree>
    <p:extLst>
      <p:ext uri="{BB962C8B-B14F-4D97-AF65-F5344CB8AC3E}">
        <p14:creationId xmlns:p14="http://schemas.microsoft.com/office/powerpoint/2010/main" val="3969854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4694-72A4-5618-1BF5-CF20D281365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5188CD3-DC9E-5FDC-285E-067F6D66DFD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14E3938-5889-54C4-EEEC-C04C8709BC30}"/>
              </a:ext>
            </a:extLst>
          </p:cNvPr>
          <p:cNvSpPr>
            <a:spLocks noGrp="1"/>
          </p:cNvSpPr>
          <p:nvPr>
            <p:ph type="body" idx="1"/>
          </p:nvPr>
        </p:nvSpPr>
        <p:spPr/>
        <p:txBody>
          <a:bodyPr/>
          <a:lstStyle/>
          <a:p>
            <a:r>
              <a:rPr lang="fr-CA" dirty="0"/>
              <a:t>Tableau de bord:</a:t>
            </a:r>
          </a:p>
          <a:p>
            <a:pPr marL="171450" indent="-171450">
              <a:buFont typeface="Arial" panose="020B0604020202020204" pitchFamily="34" charset="0"/>
              <a:buChar char="•"/>
            </a:pPr>
            <a:r>
              <a:rPr lang="fr-CA" dirty="0"/>
              <a:t>Définition actives: tous les processus configurés dont un utilisateur a accès</a:t>
            </a:r>
          </a:p>
          <a:p>
            <a:pPr marL="171450" indent="-171450">
              <a:buFont typeface="Arial" panose="020B0604020202020204" pitchFamily="34" charset="0"/>
              <a:buChar char="•"/>
            </a:pPr>
            <a:r>
              <a:rPr lang="fr-CA" dirty="0"/>
              <a:t>Instances en cours: les processus qui sont entrain d’être exécutés</a:t>
            </a:r>
          </a:p>
          <a:p>
            <a:pPr marL="171450" indent="-171450">
              <a:buFont typeface="Arial" panose="020B0604020202020204" pitchFamily="34" charset="0"/>
              <a:buChar char="•"/>
            </a:pPr>
            <a:r>
              <a:rPr lang="fr-CA" dirty="0"/>
              <a:t>Instances en erreurs: instances qui ont rencontré une erreur lors de leur traitement. </a:t>
            </a:r>
          </a:p>
        </p:txBody>
      </p:sp>
      <p:sp>
        <p:nvSpPr>
          <p:cNvPr id="4" name="Espace réservé du numéro de diapositive 3">
            <a:extLst>
              <a:ext uri="{FF2B5EF4-FFF2-40B4-BE49-F238E27FC236}">
                <a16:creationId xmlns:a16="http://schemas.microsoft.com/office/drawing/2014/main" id="{7B12BE32-EF54-E83B-B9F7-0816A59C44E4}"/>
              </a:ext>
            </a:extLst>
          </p:cNvPr>
          <p:cNvSpPr>
            <a:spLocks noGrp="1"/>
          </p:cNvSpPr>
          <p:nvPr>
            <p:ph type="sldNum" sz="quarter" idx="5"/>
          </p:nvPr>
        </p:nvSpPr>
        <p:spPr/>
        <p:txBody>
          <a:bodyPr/>
          <a:lstStyle/>
          <a:p>
            <a:fld id="{7F456DB8-8424-4DCF-BB20-E6B916C628D0}" type="slidenum">
              <a:rPr lang="fr-CA" smtClean="0"/>
              <a:t>7</a:t>
            </a:fld>
            <a:endParaRPr lang="fr-CA"/>
          </a:p>
        </p:txBody>
      </p:sp>
    </p:spTree>
    <p:extLst>
      <p:ext uri="{BB962C8B-B14F-4D97-AF65-F5344CB8AC3E}">
        <p14:creationId xmlns:p14="http://schemas.microsoft.com/office/powerpoint/2010/main" val="3436454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8AE1-217E-F8EF-F85B-6566F2DC11E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AC08EA4-5166-E4B4-9A55-30169F264CE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F7338FC-AA64-3B1B-3FB6-30166DC80F26}"/>
              </a:ext>
            </a:extLst>
          </p:cNvPr>
          <p:cNvSpPr>
            <a:spLocks noGrp="1"/>
          </p:cNvSpPr>
          <p:nvPr>
            <p:ph type="body" idx="1"/>
          </p:nvPr>
        </p:nvSpPr>
        <p:spPr/>
        <p:txBody>
          <a:bodyPr/>
          <a:lstStyle/>
          <a:p>
            <a:r>
              <a:rPr lang="fr-CA" dirty="0"/>
              <a:t>Une fois entrée </a:t>
            </a:r>
          </a:p>
        </p:txBody>
      </p:sp>
      <p:sp>
        <p:nvSpPr>
          <p:cNvPr id="4" name="Espace réservé du numéro de diapositive 3">
            <a:extLst>
              <a:ext uri="{FF2B5EF4-FFF2-40B4-BE49-F238E27FC236}">
                <a16:creationId xmlns:a16="http://schemas.microsoft.com/office/drawing/2014/main" id="{C415DE6C-CD74-4591-2F85-0678410529CE}"/>
              </a:ext>
            </a:extLst>
          </p:cNvPr>
          <p:cNvSpPr>
            <a:spLocks noGrp="1"/>
          </p:cNvSpPr>
          <p:nvPr>
            <p:ph type="sldNum" sz="quarter" idx="5"/>
          </p:nvPr>
        </p:nvSpPr>
        <p:spPr/>
        <p:txBody>
          <a:bodyPr/>
          <a:lstStyle/>
          <a:p>
            <a:fld id="{7F456DB8-8424-4DCF-BB20-E6B916C628D0}" type="slidenum">
              <a:rPr lang="fr-CA" smtClean="0"/>
              <a:t>8</a:t>
            </a:fld>
            <a:endParaRPr lang="fr-CA"/>
          </a:p>
        </p:txBody>
      </p:sp>
    </p:spTree>
    <p:extLst>
      <p:ext uri="{BB962C8B-B14F-4D97-AF65-F5344CB8AC3E}">
        <p14:creationId xmlns:p14="http://schemas.microsoft.com/office/powerpoint/2010/main" val="4088518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FD9B2-9E9C-4B43-60C1-D86B79FAF97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F344519-A8FE-2619-4F38-B5D05C8521B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0A006C5-02A1-2CFB-745F-CFB6315938AC}"/>
              </a:ext>
            </a:extLst>
          </p:cNvPr>
          <p:cNvSpPr>
            <a:spLocks noGrp="1"/>
          </p:cNvSpPr>
          <p:nvPr>
            <p:ph type="body" idx="1"/>
          </p:nvPr>
        </p:nvSpPr>
        <p:spPr/>
        <p:txBody>
          <a:bodyPr/>
          <a:lstStyle/>
          <a:p>
            <a:r>
              <a:rPr lang="fr-CA" dirty="0"/>
              <a:t>Gestion des évènements externes: </a:t>
            </a:r>
          </a:p>
          <a:p>
            <a:r>
              <a:rPr lang="fr-CA" dirty="0"/>
              <a:t>Ex PRVL: création d’un individu après le début du processus (OIM doit attendre que l’individu soit créé pour reprendre le processus)</a:t>
            </a:r>
          </a:p>
          <a:p>
            <a:endParaRPr lang="fr-CA" dirty="0"/>
          </a:p>
        </p:txBody>
      </p:sp>
      <p:sp>
        <p:nvSpPr>
          <p:cNvPr id="4" name="Espace réservé du numéro de diapositive 3">
            <a:extLst>
              <a:ext uri="{FF2B5EF4-FFF2-40B4-BE49-F238E27FC236}">
                <a16:creationId xmlns:a16="http://schemas.microsoft.com/office/drawing/2014/main" id="{828360A0-4E39-EC90-84C9-76787F0D6AE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456DB8-8424-4DCF-BB20-E6B916C628D0}"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4146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Langage C# et </a:t>
            </a:r>
            <a:r>
              <a:rPr lang="fr-CA" dirty="0" err="1"/>
              <a:t>framework</a:t>
            </a:r>
            <a:r>
              <a:rPr lang="fr-CA" dirty="0"/>
              <a:t> .NET 10</a:t>
            </a:r>
          </a:p>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456DB8-8424-4DCF-BB20-E6B916C628D0}"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5929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456DB8-8424-4DCF-BB20-E6B916C628D0}"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33734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Accuei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1199536"/>
            <a:ext cx="12191999" cy="2035125"/>
          </a:xfrm>
        </p:spPr>
        <p:txBody>
          <a:bodyPr anchor="b">
            <a:normAutofit/>
          </a:bodyPr>
          <a:lstStyle>
            <a:lvl1pPr algn="ctr">
              <a:defRPr sz="6000" b="1">
                <a:solidFill>
                  <a:srgbClr val="143058"/>
                </a:solidFill>
                <a:latin typeface="Aptos" panose="020B0004020202020204" pitchFamily="34" charset="0"/>
              </a:defRPr>
            </a:lvl1pPr>
          </a:lstStyle>
          <a:p>
            <a:r>
              <a:rPr lang="fr-FR" dirty="0"/>
              <a:t>MODIFIEZ LE STYLE DU TITRE</a:t>
            </a:r>
            <a:endParaRPr lang="en-US" dirty="0"/>
          </a:p>
        </p:txBody>
      </p:sp>
      <p:sp>
        <p:nvSpPr>
          <p:cNvPr id="3" name="Subtitle 2"/>
          <p:cNvSpPr>
            <a:spLocks noGrp="1"/>
          </p:cNvSpPr>
          <p:nvPr>
            <p:ph type="subTitle" idx="1" hasCustomPrompt="1"/>
          </p:nvPr>
        </p:nvSpPr>
        <p:spPr>
          <a:xfrm>
            <a:off x="2874202" y="3434891"/>
            <a:ext cx="6443594" cy="1655762"/>
          </a:xfrm>
        </p:spPr>
        <p:txBody>
          <a:bodyPr>
            <a:normAutofit/>
          </a:bodyPr>
          <a:lstStyle>
            <a:lvl1pPr marL="0" indent="0" algn="ctr">
              <a:buNone/>
              <a:defRPr sz="4000" b="1">
                <a:solidFill>
                  <a:schemeClr val="bg1"/>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MODIFIER LE STYLE DES SOUS-TITRES DU MASQUE</a:t>
            </a:r>
            <a:endParaRPr lang="en-US" dirty="0"/>
          </a:p>
        </p:txBody>
      </p:sp>
    </p:spTree>
    <p:extLst>
      <p:ext uri="{BB962C8B-B14F-4D97-AF65-F5344CB8AC3E}">
        <p14:creationId xmlns:p14="http://schemas.microsoft.com/office/powerpoint/2010/main" val="243396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1199536"/>
            <a:ext cx="12191999" cy="2035125"/>
          </a:xfrm>
        </p:spPr>
        <p:txBody>
          <a:bodyPr anchor="b">
            <a:normAutofit/>
          </a:bodyPr>
          <a:lstStyle>
            <a:lvl1pPr algn="ctr">
              <a:defRPr sz="6000" b="0">
                <a:solidFill>
                  <a:srgbClr val="215093"/>
                </a:solidFill>
                <a:latin typeface="Aptos" panose="020B0004020202020204" pitchFamily="34" charset="0"/>
              </a:defRPr>
            </a:lvl1pPr>
          </a:lstStyle>
          <a:p>
            <a:r>
              <a:rPr lang="fr-FR" dirty="0"/>
              <a:t>MODIFIEZ LE STYLE DU TITRE</a:t>
            </a:r>
            <a:endParaRPr lang="en-US" dirty="0"/>
          </a:p>
        </p:txBody>
      </p:sp>
      <p:sp>
        <p:nvSpPr>
          <p:cNvPr id="3" name="Subtitle 2"/>
          <p:cNvSpPr>
            <a:spLocks noGrp="1"/>
          </p:cNvSpPr>
          <p:nvPr>
            <p:ph type="subTitle" idx="1" hasCustomPrompt="1"/>
          </p:nvPr>
        </p:nvSpPr>
        <p:spPr>
          <a:xfrm>
            <a:off x="2874202" y="3434891"/>
            <a:ext cx="6443594" cy="1655762"/>
          </a:xfrm>
        </p:spPr>
        <p:txBody>
          <a:bodyPr>
            <a:normAutofit/>
          </a:bodyPr>
          <a:lstStyle>
            <a:lvl1pPr marL="0" indent="0" algn="ctr">
              <a:buNone/>
              <a:defRPr sz="4000" b="1">
                <a:solidFill>
                  <a:srgbClr val="1971B7"/>
                </a:solidFill>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MODIFIER LE STYLE DES SOUS-TITRES DU MASQUE</a:t>
            </a:r>
            <a:endParaRPr lang="en-US" dirty="0"/>
          </a:p>
        </p:txBody>
      </p:sp>
    </p:spTree>
    <p:extLst>
      <p:ext uri="{BB962C8B-B14F-4D97-AF65-F5344CB8AC3E}">
        <p14:creationId xmlns:p14="http://schemas.microsoft.com/office/powerpoint/2010/main" val="3841014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Aptos" panose="020B0004020202020204" pitchFamily="34" charset="0"/>
              </a:defRPr>
            </a:lvl1pPr>
          </a:lstStyle>
          <a:p>
            <a:r>
              <a:rPr lang="fr-FR" dirty="0"/>
              <a:t>MODIFIEZ LE STYLE DU TITRE</a:t>
            </a:r>
            <a:endParaRPr lang="en-US" dirty="0"/>
          </a:p>
        </p:txBody>
      </p:sp>
      <p:sp>
        <p:nvSpPr>
          <p:cNvPr id="3" name="Content Placeholder 2"/>
          <p:cNvSpPr>
            <a:spLocks noGrp="1"/>
          </p:cNvSpPr>
          <p:nvPr>
            <p:ph idx="1"/>
          </p:nvPr>
        </p:nvSpPr>
        <p:spPr/>
        <p:txBody>
          <a:bodyPr/>
          <a:lstStyle>
            <a:lvl1pPr>
              <a:buClr>
                <a:srgbClr val="1CB8E7"/>
              </a:buClr>
              <a:defRPr>
                <a:latin typeface="Aptos" panose="020B0004020202020204" pitchFamily="34" charset="0"/>
              </a:defRPr>
            </a:lvl1pPr>
            <a:lvl2pPr>
              <a:buClr>
                <a:srgbClr val="1CB8E7"/>
              </a:buClr>
              <a:defRPr>
                <a:latin typeface="Aptos" panose="020B0004020202020204" pitchFamily="34" charset="0"/>
              </a:defRPr>
            </a:lvl2pPr>
            <a:lvl3pPr>
              <a:buClr>
                <a:srgbClr val="1CB8E7"/>
              </a:buClr>
              <a:defRPr>
                <a:latin typeface="Aptos" panose="020B0004020202020204" pitchFamily="34" charset="0"/>
              </a:defRPr>
            </a:lvl3pPr>
            <a:lvl4pPr>
              <a:buClr>
                <a:srgbClr val="1CB8E7"/>
              </a:buClr>
              <a:defRPr>
                <a:latin typeface="Aptos" panose="020B0004020202020204" pitchFamily="34" charset="0"/>
              </a:defRPr>
            </a:lvl4pPr>
            <a:lvl5pPr>
              <a:buClr>
                <a:srgbClr val="1CB8E7"/>
              </a:buClr>
              <a:defRPr>
                <a:latin typeface="Aptos" panose="020B0004020202020204" pitchFamily="34" charset="0"/>
              </a:defRPr>
            </a:lvl5p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249437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796414"/>
            <a:ext cx="10515600" cy="550605"/>
          </a:xfrm>
        </p:spPr>
        <p:txBody>
          <a:bodyPr anchor="b">
            <a:normAutofit/>
          </a:bodyPr>
          <a:lstStyle>
            <a:lvl1pPr>
              <a:defRPr sz="3600">
                <a:latin typeface="Aptos" panose="020B0004020202020204" pitchFamily="34" charset="0"/>
              </a:defRPr>
            </a:lvl1pPr>
          </a:lstStyle>
          <a:p>
            <a:r>
              <a:rPr lang="fr-FR" dirty="0"/>
              <a:t>MODIFIEZ LE STYLE DU TITRE</a:t>
            </a:r>
            <a:endParaRPr lang="en-US" dirty="0"/>
          </a:p>
        </p:txBody>
      </p:sp>
      <p:sp>
        <p:nvSpPr>
          <p:cNvPr id="3" name="Text Placeholder 2"/>
          <p:cNvSpPr>
            <a:spLocks noGrp="1"/>
          </p:cNvSpPr>
          <p:nvPr>
            <p:ph type="body" idx="1"/>
          </p:nvPr>
        </p:nvSpPr>
        <p:spPr>
          <a:xfrm>
            <a:off x="831850" y="1858298"/>
            <a:ext cx="10515600" cy="3352800"/>
          </a:xfrm>
        </p:spPr>
        <p:txBody>
          <a:bodyPr>
            <a:normAutofit/>
          </a:bodyPr>
          <a:lstStyle>
            <a:lvl1pPr marL="0" indent="0">
              <a:buNone/>
              <a:defRPr sz="2800">
                <a:solidFill>
                  <a:srgbClr val="215093"/>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Modifier les styles du texte du masque</a:t>
            </a:r>
          </a:p>
        </p:txBody>
      </p:sp>
    </p:spTree>
    <p:extLst>
      <p:ext uri="{BB962C8B-B14F-4D97-AF65-F5344CB8AC3E}">
        <p14:creationId xmlns:p14="http://schemas.microsoft.com/office/powerpoint/2010/main" val="3326711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Aptos" panose="020B0004020202020204" pitchFamily="34" charset="0"/>
              </a:defRPr>
            </a:lvl1pPr>
          </a:lstStyle>
          <a:p>
            <a:r>
              <a:rPr lang="fr-FR" dirty="0"/>
              <a:t>MODIFIEZ LE STYLE DU TITRE</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fr-FR" dirty="0"/>
              <a:t>Modifier les styles </a:t>
            </a:r>
            <a:br>
              <a:rPr lang="fr-FR" dirty="0"/>
            </a:br>
            <a:r>
              <a:rPr lang="fr-FR" dirty="0"/>
              <a:t>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fr-FR" dirty="0"/>
              <a:t>Modifier les styles </a:t>
            </a:r>
            <a:br>
              <a:rPr lang="fr-FR" dirty="0"/>
            </a:br>
            <a:r>
              <a:rPr lang="fr-FR" dirty="0"/>
              <a:t>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496948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Aptos" panose="020B0004020202020204" pitchFamily="34" charset="0"/>
              </a:defRPr>
            </a:lvl1pPr>
          </a:lstStyle>
          <a:p>
            <a:r>
              <a:rPr lang="fr-FR" dirty="0"/>
              <a:t>MODIFIEZ LE STYLE DU TITRE</a:t>
            </a:r>
            <a:endParaRPr lang="en-US" dirty="0"/>
          </a:p>
        </p:txBody>
      </p:sp>
    </p:spTree>
    <p:extLst>
      <p:ext uri="{BB962C8B-B14F-4D97-AF65-F5344CB8AC3E}">
        <p14:creationId xmlns:p14="http://schemas.microsoft.com/office/powerpoint/2010/main" val="2744701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678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629265"/>
            <a:ext cx="3932237" cy="1002890"/>
          </a:xfrm>
        </p:spPr>
        <p:txBody>
          <a:bodyPr anchor="b"/>
          <a:lstStyle>
            <a:lvl1pPr>
              <a:defRPr sz="3200">
                <a:solidFill>
                  <a:srgbClr val="215093"/>
                </a:solidFill>
                <a:latin typeface="Aptos" panose="020B0004020202020204" pitchFamily="34" charset="0"/>
              </a:defRPr>
            </a:lvl1pPr>
          </a:lstStyle>
          <a:p>
            <a:r>
              <a:rPr lang="fr-FR" dirty="0"/>
              <a:t>Modifiez </a:t>
            </a:r>
            <a:br>
              <a:rPr lang="fr-FR" dirty="0"/>
            </a:br>
            <a:r>
              <a:rPr lang="fr-FR" dirty="0"/>
              <a:t>le style du titre</a:t>
            </a:r>
            <a:endParaRPr lang="en-US" dirty="0"/>
          </a:p>
        </p:txBody>
      </p:sp>
      <p:sp>
        <p:nvSpPr>
          <p:cNvPr id="3" name="Content Placeholder 2"/>
          <p:cNvSpPr>
            <a:spLocks noGrp="1"/>
          </p:cNvSpPr>
          <p:nvPr>
            <p:ph idx="1" hasCustomPrompt="1"/>
          </p:nvPr>
        </p:nvSpPr>
        <p:spPr>
          <a:xfrm>
            <a:off x="5183188" y="1936955"/>
            <a:ext cx="5504477" cy="3303640"/>
          </a:xfrm>
        </p:spPr>
        <p:txBody>
          <a:bodyPr>
            <a:normAutofit/>
          </a:bodyPr>
          <a:lstStyle>
            <a:lvl1pPr>
              <a:defRPr sz="2800">
                <a:latin typeface="Aptos" panose="020B0004020202020204" pitchFamily="34" charset="0"/>
              </a:defRPr>
            </a:lvl1pPr>
            <a:lvl2pPr>
              <a:defRPr sz="2400">
                <a:latin typeface="Aptos" panose="020B0004020202020204" pitchFamily="34" charset="0"/>
              </a:defRPr>
            </a:lvl2pPr>
            <a:lvl3pPr>
              <a:defRPr sz="2000">
                <a:latin typeface="Aptos" panose="020B0004020202020204" pitchFamily="34" charset="0"/>
              </a:defRPr>
            </a:lvl3pPr>
            <a:lvl4pPr>
              <a:defRPr sz="1800">
                <a:latin typeface="Aptos" panose="020B0004020202020204" pitchFamily="34" charset="0"/>
              </a:defRPr>
            </a:lvl4pPr>
            <a:lvl5pPr>
              <a:defRPr sz="1800">
                <a:latin typeface="Aptos" panose="020B0004020202020204" pitchFamily="34" charset="0"/>
              </a:defRPr>
            </a:lvl5pPr>
            <a:lvl6pPr>
              <a:defRPr sz="2000"/>
            </a:lvl6pPr>
            <a:lvl7pPr>
              <a:defRPr sz="2000"/>
            </a:lvl7pPr>
            <a:lvl8pPr>
              <a:defRPr sz="2000"/>
            </a:lvl8pPr>
            <a:lvl9pPr>
              <a:defRPr sz="2000"/>
            </a:lvl9pPr>
          </a:lstStyle>
          <a:p>
            <a:pPr lvl="0"/>
            <a:r>
              <a:rPr lang="fr-FR" dirty="0"/>
              <a:t>Modifier les styles </a:t>
            </a:r>
            <a:br>
              <a:rPr lang="fr-FR" dirty="0"/>
            </a:br>
            <a:r>
              <a:rPr lang="fr-FR" dirty="0"/>
              <a:t>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Text Placeholder 3"/>
          <p:cNvSpPr>
            <a:spLocks noGrp="1"/>
          </p:cNvSpPr>
          <p:nvPr>
            <p:ph type="body" sz="half" idx="2" hasCustomPrompt="1"/>
          </p:nvPr>
        </p:nvSpPr>
        <p:spPr>
          <a:xfrm>
            <a:off x="839788" y="1936954"/>
            <a:ext cx="3932237" cy="3310323"/>
          </a:xfrm>
        </p:spPr>
        <p:txBody>
          <a:bodyPr>
            <a:normAutofit/>
          </a:bodyPr>
          <a:lstStyle>
            <a:lvl1pPr marL="0" indent="0">
              <a:buNone/>
              <a:defRPr sz="2400">
                <a:solidFill>
                  <a:srgbClr val="215093"/>
                </a:solidFill>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Modifier les styles </a:t>
            </a:r>
            <a:br>
              <a:rPr lang="fr-FR" dirty="0"/>
            </a:br>
            <a:r>
              <a:rPr lang="fr-FR" dirty="0"/>
              <a:t>du texte du masque</a:t>
            </a:r>
          </a:p>
        </p:txBody>
      </p:sp>
    </p:spTree>
    <p:extLst>
      <p:ext uri="{BB962C8B-B14F-4D97-AF65-F5344CB8AC3E}">
        <p14:creationId xmlns:p14="http://schemas.microsoft.com/office/powerpoint/2010/main" val="4023882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382250"/>
            <a:ext cx="3932237" cy="1263445"/>
          </a:xfrm>
        </p:spPr>
        <p:txBody>
          <a:bodyPr anchor="b"/>
          <a:lstStyle>
            <a:lvl1pPr>
              <a:defRPr sz="3200">
                <a:solidFill>
                  <a:srgbClr val="215093"/>
                </a:solidFill>
                <a:latin typeface="Aptos" panose="020B0004020202020204" pitchFamily="34" charset="0"/>
              </a:defRPr>
            </a:lvl1pPr>
          </a:lstStyle>
          <a:p>
            <a:r>
              <a:rPr lang="fr-FR" dirty="0"/>
              <a:t>Modifiez </a:t>
            </a:r>
            <a:br>
              <a:rPr lang="fr-FR" dirty="0"/>
            </a:br>
            <a:r>
              <a:rPr lang="fr-FR" dirty="0"/>
              <a:t>le style du titre</a:t>
            </a:r>
            <a:endParaRPr lang="en-US" dirty="0"/>
          </a:p>
        </p:txBody>
      </p:sp>
      <p:sp>
        <p:nvSpPr>
          <p:cNvPr id="3" name="Picture Placeholder 2"/>
          <p:cNvSpPr>
            <a:spLocks noGrp="1" noChangeAspect="1"/>
          </p:cNvSpPr>
          <p:nvPr>
            <p:ph type="pic" idx="1"/>
          </p:nvPr>
        </p:nvSpPr>
        <p:spPr>
          <a:xfrm>
            <a:off x="5183188" y="1907458"/>
            <a:ext cx="4462257" cy="3460956"/>
          </a:xfrm>
        </p:spPr>
        <p:txBody>
          <a:bodyPr anchor="t"/>
          <a:lstStyle>
            <a:lvl1pPr marL="0" indent="0" algn="ctr">
              <a:buNone/>
              <a:defRPr sz="3200">
                <a:latin typeface="Aptos" panose="020B00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hasCustomPrompt="1"/>
          </p:nvPr>
        </p:nvSpPr>
        <p:spPr>
          <a:xfrm>
            <a:off x="839788" y="1937459"/>
            <a:ext cx="3932237" cy="3311014"/>
          </a:xfrm>
        </p:spPr>
        <p:txBody>
          <a:bodyPr>
            <a:normAutofit/>
          </a:bodyPr>
          <a:lstStyle>
            <a:lvl1pPr marL="0" indent="0">
              <a:buNone/>
              <a:defRPr sz="24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Modifier les styles </a:t>
            </a:r>
            <a:br>
              <a:rPr lang="fr-FR" dirty="0"/>
            </a:br>
            <a:r>
              <a:rPr lang="fr-FR" dirty="0"/>
              <a:t>du texte du masque</a:t>
            </a:r>
          </a:p>
        </p:txBody>
      </p:sp>
    </p:spTree>
    <p:extLst>
      <p:ext uri="{BB962C8B-B14F-4D97-AF65-F5344CB8AC3E}">
        <p14:creationId xmlns:p14="http://schemas.microsoft.com/office/powerpoint/2010/main" val="3048652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a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9788" y="602428"/>
            <a:ext cx="10515600" cy="405531"/>
          </a:xfrm>
        </p:spPr>
        <p:txBody>
          <a:bodyPr>
            <a:normAutofit/>
          </a:bodyPr>
          <a:lstStyle>
            <a:lvl1pPr>
              <a:defRPr sz="3600">
                <a:latin typeface="Aptos" panose="020B0004020202020204" pitchFamily="34" charset="0"/>
              </a:defRPr>
            </a:lvl1pPr>
          </a:lstStyle>
          <a:p>
            <a:r>
              <a:rPr lang="fr-FR" dirty="0"/>
              <a:t>MODIFIEZ LE STYLE DU TITRE</a:t>
            </a:r>
            <a:endParaRPr lang="en-US" dirty="0"/>
          </a:p>
        </p:txBody>
      </p:sp>
      <p:sp>
        <p:nvSpPr>
          <p:cNvPr id="3" name="Text Placeholder 2"/>
          <p:cNvSpPr>
            <a:spLocks noGrp="1"/>
          </p:cNvSpPr>
          <p:nvPr>
            <p:ph type="body" idx="1" hasCustomPrompt="1"/>
          </p:nvPr>
        </p:nvSpPr>
        <p:spPr>
          <a:xfrm>
            <a:off x="839789" y="1364071"/>
            <a:ext cx="5157787" cy="823912"/>
          </a:xfrm>
        </p:spPr>
        <p:txBody>
          <a:bodyPr anchor="b"/>
          <a:lstStyle>
            <a:lvl1pPr marL="0" indent="0">
              <a:lnSpc>
                <a:spcPct val="100000"/>
              </a:lnSpc>
              <a:buNone/>
              <a:defRPr sz="2400" b="1">
                <a:solidFill>
                  <a:srgbClr val="1971B7"/>
                </a:solidFill>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Modifier les styles </a:t>
            </a:r>
            <a:br>
              <a:rPr lang="fr-FR" dirty="0"/>
            </a:br>
            <a:r>
              <a:rPr lang="fr-FR" dirty="0"/>
              <a:t>du texte du masque</a:t>
            </a:r>
          </a:p>
        </p:txBody>
      </p:sp>
      <p:sp>
        <p:nvSpPr>
          <p:cNvPr id="4" name="Content Placeholder 3"/>
          <p:cNvSpPr>
            <a:spLocks noGrp="1"/>
          </p:cNvSpPr>
          <p:nvPr>
            <p:ph sz="half" idx="2" hasCustomPrompt="1"/>
          </p:nvPr>
        </p:nvSpPr>
        <p:spPr>
          <a:xfrm>
            <a:off x="839789" y="2544096"/>
            <a:ext cx="5157787" cy="3067667"/>
          </a:xfrm>
        </p:spPr>
        <p:txBody>
          <a:bodyPr>
            <a:normAutofit/>
          </a:bodyPr>
          <a:lstStyle>
            <a:lvl1pPr>
              <a:buClr>
                <a:srgbClr val="1CB8E7"/>
              </a:buClr>
              <a:defRPr sz="2400">
                <a:solidFill>
                  <a:srgbClr val="215093"/>
                </a:solidFill>
                <a:latin typeface="Aptos" panose="020B0004020202020204" pitchFamily="34" charset="0"/>
              </a:defRPr>
            </a:lvl1pPr>
            <a:lvl2pPr>
              <a:buClr>
                <a:srgbClr val="1CB8E7"/>
              </a:buClr>
              <a:defRPr sz="2000">
                <a:solidFill>
                  <a:srgbClr val="215093"/>
                </a:solidFill>
                <a:latin typeface="Aptos" panose="020B0004020202020204" pitchFamily="34" charset="0"/>
              </a:defRPr>
            </a:lvl2pPr>
            <a:lvl3pPr>
              <a:buClr>
                <a:srgbClr val="1CB8E7"/>
              </a:buClr>
              <a:defRPr sz="1800">
                <a:solidFill>
                  <a:srgbClr val="215093"/>
                </a:solidFill>
                <a:latin typeface="Aptos" panose="020B0004020202020204" pitchFamily="34" charset="0"/>
              </a:defRPr>
            </a:lvl3pPr>
            <a:lvl4pPr>
              <a:buClr>
                <a:srgbClr val="1CB8E7"/>
              </a:buClr>
              <a:defRPr sz="1600">
                <a:solidFill>
                  <a:srgbClr val="215093"/>
                </a:solidFill>
                <a:latin typeface="Aptos" panose="020B0004020202020204" pitchFamily="34" charset="0"/>
              </a:defRPr>
            </a:lvl4pPr>
            <a:lvl5pPr>
              <a:buClr>
                <a:srgbClr val="1CB8E7"/>
              </a:buClr>
              <a:defRPr sz="1600">
                <a:solidFill>
                  <a:srgbClr val="215093"/>
                </a:solidFill>
                <a:latin typeface="Aptos" panose="020B0004020202020204" pitchFamily="34" charset="0"/>
              </a:defRPr>
            </a:lvl5pPr>
          </a:lstStyle>
          <a:p>
            <a:pPr lvl="0"/>
            <a:r>
              <a:rPr lang="fr-FR" dirty="0"/>
              <a:t>Modifier les styles </a:t>
            </a:r>
            <a:br>
              <a:rPr lang="fr-FR" dirty="0"/>
            </a:br>
            <a:r>
              <a:rPr lang="fr-FR" dirty="0"/>
              <a:t>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Text Placeholder 4"/>
          <p:cNvSpPr>
            <a:spLocks noGrp="1"/>
          </p:cNvSpPr>
          <p:nvPr>
            <p:ph type="body" sz="quarter" idx="3" hasCustomPrompt="1"/>
          </p:nvPr>
        </p:nvSpPr>
        <p:spPr>
          <a:xfrm>
            <a:off x="6172201" y="1364071"/>
            <a:ext cx="5183188" cy="823912"/>
          </a:xfrm>
        </p:spPr>
        <p:txBody>
          <a:bodyPr anchor="b"/>
          <a:lstStyle>
            <a:lvl1pPr marL="0" indent="0">
              <a:lnSpc>
                <a:spcPct val="100000"/>
              </a:lnSpc>
              <a:buNone/>
              <a:defRPr sz="2400" b="1">
                <a:solidFill>
                  <a:srgbClr val="1971B7"/>
                </a:solidFill>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Modifier les styles </a:t>
            </a:r>
            <a:br>
              <a:rPr lang="fr-FR" dirty="0"/>
            </a:br>
            <a:r>
              <a:rPr lang="fr-FR" dirty="0"/>
              <a:t>du texte du masque</a:t>
            </a:r>
          </a:p>
        </p:txBody>
      </p:sp>
      <p:sp>
        <p:nvSpPr>
          <p:cNvPr id="10" name="Content Placeholder 3"/>
          <p:cNvSpPr>
            <a:spLocks noGrp="1"/>
          </p:cNvSpPr>
          <p:nvPr>
            <p:ph sz="half" idx="13" hasCustomPrompt="1"/>
          </p:nvPr>
        </p:nvSpPr>
        <p:spPr>
          <a:xfrm>
            <a:off x="6196013" y="2527042"/>
            <a:ext cx="5157787" cy="3067667"/>
          </a:xfrm>
        </p:spPr>
        <p:txBody>
          <a:bodyPr>
            <a:normAutofit/>
          </a:bodyPr>
          <a:lstStyle>
            <a:lvl1pPr>
              <a:buClr>
                <a:srgbClr val="1CB8E7"/>
              </a:buClr>
              <a:defRPr sz="2400">
                <a:solidFill>
                  <a:srgbClr val="215093"/>
                </a:solidFill>
                <a:latin typeface="Aptos" panose="020B0004020202020204" pitchFamily="34" charset="0"/>
              </a:defRPr>
            </a:lvl1pPr>
            <a:lvl2pPr>
              <a:buClr>
                <a:srgbClr val="1CB8E7"/>
              </a:buClr>
              <a:defRPr sz="2000">
                <a:solidFill>
                  <a:srgbClr val="215093"/>
                </a:solidFill>
                <a:latin typeface="Aptos" panose="020B0004020202020204" pitchFamily="34" charset="0"/>
              </a:defRPr>
            </a:lvl2pPr>
            <a:lvl3pPr>
              <a:buClr>
                <a:srgbClr val="1CB8E7"/>
              </a:buClr>
              <a:defRPr sz="1800">
                <a:solidFill>
                  <a:srgbClr val="215093"/>
                </a:solidFill>
                <a:latin typeface="Aptos" panose="020B0004020202020204" pitchFamily="34" charset="0"/>
              </a:defRPr>
            </a:lvl3pPr>
            <a:lvl4pPr>
              <a:buClr>
                <a:srgbClr val="1CB8E7"/>
              </a:buClr>
              <a:defRPr sz="1600">
                <a:solidFill>
                  <a:srgbClr val="215093"/>
                </a:solidFill>
                <a:latin typeface="Aptos" panose="020B0004020202020204" pitchFamily="34" charset="0"/>
              </a:defRPr>
            </a:lvl4pPr>
            <a:lvl5pPr>
              <a:buClr>
                <a:srgbClr val="1CB8E7"/>
              </a:buClr>
              <a:defRPr sz="1600">
                <a:solidFill>
                  <a:srgbClr val="215093"/>
                </a:solidFill>
                <a:latin typeface="Aptos" panose="020B0004020202020204" pitchFamily="34" charset="0"/>
              </a:defRPr>
            </a:lvl5pPr>
          </a:lstStyle>
          <a:p>
            <a:pPr lvl="0"/>
            <a:r>
              <a:rPr lang="fr-FR" dirty="0"/>
              <a:t>Modifier les styles </a:t>
            </a:r>
            <a:br>
              <a:rPr lang="fr-FR" dirty="0"/>
            </a:br>
            <a:r>
              <a:rPr lang="fr-FR" dirty="0"/>
              <a:t>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3561440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806245"/>
            <a:ext cx="10515600" cy="550607"/>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6942989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3600" b="1" kern="1200">
          <a:solidFill>
            <a:srgbClr val="215093"/>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Clr>
          <a:srgbClr val="1CB8E7"/>
        </a:buClr>
        <a:buFont typeface="Arial" panose="020B0604020202020204" pitchFamily="34" charset="0"/>
        <a:buChar char="•"/>
        <a:defRPr sz="2800" kern="1200">
          <a:solidFill>
            <a:srgbClr val="215093"/>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1CB8E7"/>
        </a:buClr>
        <a:buFont typeface="Arial" panose="020B0604020202020204" pitchFamily="34" charset="0"/>
        <a:buChar char="•"/>
        <a:defRPr sz="2400" kern="1200">
          <a:solidFill>
            <a:srgbClr val="215093"/>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1CB8E7"/>
        </a:buClr>
        <a:buFont typeface="Arial" panose="020B0604020202020204" pitchFamily="34" charset="0"/>
        <a:buChar char="•"/>
        <a:defRPr sz="2000" kern="1200">
          <a:solidFill>
            <a:srgbClr val="215093"/>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1CB8E7"/>
        </a:buClr>
        <a:buFont typeface="Arial" panose="020B0604020202020204" pitchFamily="34" charset="0"/>
        <a:buChar char="•"/>
        <a:defRPr sz="1800" kern="1200">
          <a:solidFill>
            <a:srgbClr val="215093"/>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1CB8E7"/>
        </a:buClr>
        <a:buFont typeface="Arial" panose="020B0604020202020204" pitchFamily="34" charset="0"/>
        <a:buChar char="•"/>
        <a:defRPr sz="1800" kern="1200">
          <a:solidFill>
            <a:srgbClr val="215093"/>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1A_9CE6598F.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C95350-64D8-F12E-2540-FC3526306E5E}"/>
              </a:ext>
            </a:extLst>
          </p:cNvPr>
          <p:cNvSpPr>
            <a:spLocks noGrp="1"/>
          </p:cNvSpPr>
          <p:nvPr>
            <p:ph type="ctrTitle"/>
          </p:nvPr>
        </p:nvSpPr>
        <p:spPr/>
        <p:txBody>
          <a:bodyPr/>
          <a:lstStyle/>
          <a:p>
            <a:r>
              <a:rPr lang="fr-CA" dirty="0"/>
              <a:t>Maestro (OIM)</a:t>
            </a:r>
          </a:p>
        </p:txBody>
      </p:sp>
      <p:sp>
        <p:nvSpPr>
          <p:cNvPr id="3" name="Sous-titre 2">
            <a:extLst>
              <a:ext uri="{FF2B5EF4-FFF2-40B4-BE49-F238E27FC236}">
                <a16:creationId xmlns:a16="http://schemas.microsoft.com/office/drawing/2014/main" id="{CD3752FE-8CA5-D28C-F15E-E720B2C4B4F0}"/>
              </a:ext>
            </a:extLst>
          </p:cNvPr>
          <p:cNvSpPr>
            <a:spLocks noGrp="1"/>
          </p:cNvSpPr>
          <p:nvPr>
            <p:ph type="subTitle" idx="1"/>
          </p:nvPr>
        </p:nvSpPr>
        <p:spPr>
          <a:xfrm>
            <a:off x="2765157" y="3402885"/>
            <a:ext cx="6661684" cy="1217496"/>
          </a:xfrm>
        </p:spPr>
        <p:txBody>
          <a:bodyPr>
            <a:normAutofit fontScale="55000" lnSpcReduction="20000"/>
          </a:bodyPr>
          <a:lstStyle/>
          <a:p>
            <a:pPr>
              <a:lnSpc>
                <a:spcPct val="120000"/>
              </a:lnSpc>
            </a:pPr>
            <a:r>
              <a:rPr lang="fr-CA" dirty="0"/>
              <a:t>« Une couche d'orchestration mutualisée pour simplifier et faire évoluer les processus d'affaires »</a:t>
            </a:r>
          </a:p>
        </p:txBody>
      </p:sp>
      <p:sp>
        <p:nvSpPr>
          <p:cNvPr id="5" name="Sous-titre 2">
            <a:extLst>
              <a:ext uri="{FF2B5EF4-FFF2-40B4-BE49-F238E27FC236}">
                <a16:creationId xmlns:a16="http://schemas.microsoft.com/office/drawing/2014/main" id="{89985437-00EF-8392-34BC-AE6CB398CE8A}"/>
              </a:ext>
            </a:extLst>
          </p:cNvPr>
          <p:cNvSpPr txBox="1">
            <a:spLocks/>
          </p:cNvSpPr>
          <p:nvPr/>
        </p:nvSpPr>
        <p:spPr>
          <a:xfrm>
            <a:off x="185352" y="5181312"/>
            <a:ext cx="6443594" cy="7540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Clr>
                <a:srgbClr val="1CB8E7"/>
              </a:buClr>
              <a:buFont typeface="Arial" panose="020B0604020202020204" pitchFamily="34" charset="0"/>
              <a:buNone/>
              <a:defRPr sz="4000" b="1" kern="1200">
                <a:solidFill>
                  <a:schemeClr val="bg1"/>
                </a:solidFill>
                <a:latin typeface="Aptos" panose="020B0004020202020204" pitchFamily="34" charset="0"/>
                <a:ea typeface="+mn-ea"/>
                <a:cs typeface="+mn-cs"/>
              </a:defRPr>
            </a:lvl1pPr>
            <a:lvl2pPr marL="457200" indent="0" algn="ctr" defTabSz="914400" rtl="0" eaLnBrk="1" latinLnBrk="0" hangingPunct="1">
              <a:lnSpc>
                <a:spcPct val="90000"/>
              </a:lnSpc>
              <a:spcBef>
                <a:spcPts val="500"/>
              </a:spcBef>
              <a:buClr>
                <a:srgbClr val="1CB8E7"/>
              </a:buClr>
              <a:buFont typeface="Arial" panose="020B0604020202020204" pitchFamily="34" charset="0"/>
              <a:buNone/>
              <a:defRPr sz="2000" kern="1200">
                <a:solidFill>
                  <a:srgbClr val="215093"/>
                </a:solidFill>
                <a:latin typeface="Aptos" panose="020B0004020202020204" pitchFamily="34" charset="0"/>
                <a:ea typeface="+mn-ea"/>
                <a:cs typeface="+mn-cs"/>
              </a:defRPr>
            </a:lvl2pPr>
            <a:lvl3pPr marL="914400" indent="0" algn="ctr" defTabSz="914400" rtl="0" eaLnBrk="1" latinLnBrk="0" hangingPunct="1">
              <a:lnSpc>
                <a:spcPct val="90000"/>
              </a:lnSpc>
              <a:spcBef>
                <a:spcPts val="500"/>
              </a:spcBef>
              <a:buClr>
                <a:srgbClr val="1CB8E7"/>
              </a:buClr>
              <a:buFont typeface="Arial" panose="020B0604020202020204" pitchFamily="34" charset="0"/>
              <a:buNone/>
              <a:defRPr sz="1800" kern="1200">
                <a:solidFill>
                  <a:srgbClr val="215093"/>
                </a:solidFill>
                <a:latin typeface="Aptos" panose="020B0004020202020204" pitchFamily="34" charset="0"/>
                <a:ea typeface="+mn-ea"/>
                <a:cs typeface="+mn-cs"/>
              </a:defRPr>
            </a:lvl3pPr>
            <a:lvl4pPr marL="1371600" indent="0" algn="ctr" defTabSz="914400" rtl="0" eaLnBrk="1" latinLnBrk="0" hangingPunct="1">
              <a:lnSpc>
                <a:spcPct val="90000"/>
              </a:lnSpc>
              <a:spcBef>
                <a:spcPts val="500"/>
              </a:spcBef>
              <a:buClr>
                <a:srgbClr val="1CB8E7"/>
              </a:buClr>
              <a:buFont typeface="Arial" panose="020B0604020202020204" pitchFamily="34" charset="0"/>
              <a:buNone/>
              <a:defRPr sz="1600" kern="1200">
                <a:solidFill>
                  <a:srgbClr val="215093"/>
                </a:solidFill>
                <a:latin typeface="Aptos" panose="020B0004020202020204" pitchFamily="34" charset="0"/>
                <a:ea typeface="+mn-ea"/>
                <a:cs typeface="+mn-cs"/>
              </a:defRPr>
            </a:lvl4pPr>
            <a:lvl5pPr marL="1828800" indent="0" algn="ctr" defTabSz="914400" rtl="0" eaLnBrk="1" latinLnBrk="0" hangingPunct="1">
              <a:lnSpc>
                <a:spcPct val="90000"/>
              </a:lnSpc>
              <a:spcBef>
                <a:spcPts val="500"/>
              </a:spcBef>
              <a:buClr>
                <a:srgbClr val="1CB8E7"/>
              </a:buClr>
              <a:buFont typeface="Arial" panose="020B0604020202020204" pitchFamily="34" charset="0"/>
              <a:buNone/>
              <a:defRPr sz="1600" kern="1200">
                <a:solidFill>
                  <a:srgbClr val="215093"/>
                </a:solidFill>
                <a:latin typeface="Aptos"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1CB8E7"/>
              </a:buClr>
              <a:buSzTx/>
              <a:buFont typeface="Arial" panose="020B0604020202020204" pitchFamily="34" charset="0"/>
              <a:buNone/>
              <a:tabLst/>
              <a:defRPr/>
            </a:pPr>
            <a:endParaRPr kumimoji="0" lang="fr-CA" sz="4000" b="1" i="0" u="none" strike="noStrike" kern="1200" cap="none" spc="0" normalizeH="0" baseline="0" noProof="0" dirty="0">
              <a:ln>
                <a:noFill/>
              </a:ln>
              <a:solidFill>
                <a:prstClr val="white"/>
              </a:solidFill>
              <a:effectLst/>
              <a:uLnTx/>
              <a:uFillTx/>
              <a:latin typeface="Aptos" panose="020B0004020202020204" pitchFamily="34" charset="0"/>
              <a:ea typeface="+mn-ea"/>
              <a:cs typeface="+mn-cs"/>
            </a:endParaRPr>
          </a:p>
        </p:txBody>
      </p:sp>
      <p:sp>
        <p:nvSpPr>
          <p:cNvPr id="11" name="Text 3">
            <a:extLst>
              <a:ext uri="{FF2B5EF4-FFF2-40B4-BE49-F238E27FC236}">
                <a16:creationId xmlns:a16="http://schemas.microsoft.com/office/drawing/2014/main" id="{39324103-D9F3-E34B-9028-8CF6AC9ED666}"/>
              </a:ext>
            </a:extLst>
          </p:cNvPr>
          <p:cNvSpPr/>
          <p:nvPr/>
        </p:nvSpPr>
        <p:spPr>
          <a:xfrm>
            <a:off x="560822" y="544363"/>
            <a:ext cx="6439342" cy="257175"/>
          </a:xfrm>
          <a:prstGeom prst="rect">
            <a:avLst/>
          </a:prstGeom>
          <a:noFill/>
          <a:ln/>
        </p:spPr>
        <p:txBody>
          <a:bodyPr wrap="square" lIns="25400" tIns="25400" rIns="25400" bIns="25400" rtlCol="0" anchor="t">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0" i="0" u="none" strike="noStrike" kern="0" cap="none" spc="270" normalizeH="0" baseline="0" noProof="0" dirty="0">
                <a:ln>
                  <a:noFill/>
                </a:ln>
                <a:solidFill>
                  <a:srgbClr val="FFFFFF">
                    <a:alpha val="55000"/>
                  </a:srgbClr>
                </a:solidFill>
                <a:effectLst/>
                <a:uLnTx/>
                <a:uFillTx/>
                <a:latin typeface="Aptos" panose="020B0004020202020204" pitchFamily="34" charset="0"/>
                <a:ea typeface="JetBrains Mono" pitchFamily="34" charset="-122"/>
                <a:cs typeface="+mn-cs"/>
              </a:rPr>
              <a:t>DIRECTION DES PRODUITS NUMÉRIQUES MUTUALISABLES</a:t>
            </a:r>
            <a:endParaRPr kumimoji="0" lang="en-US" sz="135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3414552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879D68-D5F2-5636-3922-E2A30365F12B}"/>
              </a:ext>
            </a:extLst>
          </p:cNvPr>
          <p:cNvSpPr>
            <a:spLocks noGrp="1"/>
          </p:cNvSpPr>
          <p:nvPr>
            <p:ph type="title"/>
          </p:nvPr>
        </p:nvSpPr>
        <p:spPr/>
        <p:txBody>
          <a:bodyPr>
            <a:normAutofit fontScale="90000"/>
          </a:bodyPr>
          <a:lstStyle/>
          <a:p>
            <a:r>
              <a:rPr lang="fr-CA" dirty="0"/>
              <a:t>Plan de la présentation</a:t>
            </a:r>
          </a:p>
        </p:txBody>
      </p:sp>
      <p:sp>
        <p:nvSpPr>
          <p:cNvPr id="3" name="Espace réservé du texte 2">
            <a:extLst>
              <a:ext uri="{FF2B5EF4-FFF2-40B4-BE49-F238E27FC236}">
                <a16:creationId xmlns:a16="http://schemas.microsoft.com/office/drawing/2014/main" id="{F9246468-8855-CD63-9022-2BE6670E35CB}"/>
              </a:ext>
            </a:extLst>
          </p:cNvPr>
          <p:cNvSpPr>
            <a:spLocks noGrp="1"/>
          </p:cNvSpPr>
          <p:nvPr>
            <p:ph type="body" idx="1"/>
          </p:nvPr>
        </p:nvSpPr>
        <p:spPr>
          <a:xfrm>
            <a:off x="831850" y="1490463"/>
            <a:ext cx="10515600" cy="3751679"/>
          </a:xfrm>
        </p:spPr>
        <p:txBody>
          <a:bodyPr>
            <a:normAutofit lnSpcReduction="10000"/>
          </a:bodyPr>
          <a:lstStyle/>
          <a:p>
            <a:pPr marL="457200" indent="-457200">
              <a:buFont typeface="Arial" panose="020B0604020202020204" pitchFamily="34" charset="0"/>
              <a:buChar char="•"/>
            </a:pPr>
            <a:r>
              <a:rPr lang="fr-CA" dirty="0">
                <a:solidFill>
                  <a:srgbClr val="1A1D24"/>
                </a:solidFill>
              </a:rPr>
              <a:t>Besoins organisationnels à </a:t>
            </a:r>
            <a:r>
              <a:rPr lang="fr-CA">
                <a:solidFill>
                  <a:srgbClr val="1A1D24"/>
                </a:solidFill>
              </a:rPr>
              <a:t>l’origine du </a:t>
            </a:r>
            <a:r>
              <a:rPr lang="fr-CA" dirty="0">
                <a:solidFill>
                  <a:srgbClr val="1A1D24"/>
                </a:solidFill>
              </a:rPr>
              <a:t>produit</a:t>
            </a:r>
          </a:p>
          <a:p>
            <a:pPr marL="457200" indent="-457200">
              <a:buFont typeface="Arial" panose="020B0604020202020204" pitchFamily="34" charset="0"/>
              <a:buChar char="•"/>
            </a:pPr>
            <a:r>
              <a:rPr lang="fr-CA" dirty="0">
                <a:solidFill>
                  <a:srgbClr val="1A1D24"/>
                </a:solidFill>
              </a:rPr>
              <a:t>Aperçu du produit</a:t>
            </a:r>
          </a:p>
          <a:p>
            <a:pPr marL="457200" indent="-457200">
              <a:buFont typeface="Arial" panose="020B0604020202020204" pitchFamily="34" charset="0"/>
              <a:buChar char="•"/>
            </a:pPr>
            <a:r>
              <a:rPr lang="fr-CA" dirty="0">
                <a:solidFill>
                  <a:srgbClr val="1A1D24"/>
                </a:solidFill>
              </a:rPr>
              <a:t>Exemple d’orchestration d’un processus</a:t>
            </a:r>
          </a:p>
          <a:p>
            <a:pPr marL="914400" lvl="1" indent="-457200">
              <a:buFont typeface="Arial" panose="020B0604020202020204" pitchFamily="34" charset="0"/>
              <a:buChar char="•"/>
            </a:pPr>
            <a:r>
              <a:rPr lang="fr-CA" dirty="0">
                <a:solidFill>
                  <a:srgbClr val="1A1D24"/>
                </a:solidFill>
              </a:rPr>
              <a:t>Démonstration</a:t>
            </a:r>
          </a:p>
          <a:p>
            <a:pPr marL="457200" indent="-457200">
              <a:buFont typeface="Arial" panose="020B0604020202020204" pitchFamily="34" charset="0"/>
              <a:buChar char="•"/>
            </a:pPr>
            <a:r>
              <a:rPr lang="fr-CA" dirty="0">
                <a:solidFill>
                  <a:srgbClr val="1A1D24"/>
                </a:solidFill>
              </a:rPr>
              <a:t>Valeur et bénéfices pour l’organisation</a:t>
            </a:r>
          </a:p>
          <a:p>
            <a:pPr marL="457200" indent="-457200">
              <a:buFont typeface="Arial" panose="020B0604020202020204" pitchFamily="34" charset="0"/>
              <a:buChar char="•"/>
            </a:pPr>
            <a:r>
              <a:rPr lang="fr-CA" dirty="0">
                <a:solidFill>
                  <a:srgbClr val="1A1D24"/>
                </a:solidFill>
              </a:rPr>
              <a:t>Stratégie de développement</a:t>
            </a:r>
          </a:p>
          <a:p>
            <a:pPr marL="457200" indent="-457200">
              <a:buFont typeface="Arial" panose="020B0604020202020204" pitchFamily="34" charset="0"/>
              <a:buChar char="•"/>
            </a:pPr>
            <a:r>
              <a:rPr lang="fr-CA" dirty="0">
                <a:solidFill>
                  <a:srgbClr val="1A1D24"/>
                </a:solidFill>
              </a:rPr>
              <a:t>Prochaines étapes</a:t>
            </a:r>
          </a:p>
          <a:p>
            <a:pPr marL="457200" indent="-457200">
              <a:buFont typeface="Arial" panose="020B0604020202020204" pitchFamily="34" charset="0"/>
              <a:buChar char="•"/>
            </a:pPr>
            <a:r>
              <a:rPr lang="fr-CA" dirty="0">
                <a:solidFill>
                  <a:srgbClr val="1A1D24"/>
                </a:solidFill>
              </a:rPr>
              <a:t>Période de questions</a:t>
            </a:r>
          </a:p>
        </p:txBody>
      </p:sp>
    </p:spTree>
    <p:extLst>
      <p:ext uri="{BB962C8B-B14F-4D97-AF65-F5344CB8AC3E}">
        <p14:creationId xmlns:p14="http://schemas.microsoft.com/office/powerpoint/2010/main" val="1178871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60BEB-C70E-483B-C606-1547F6B2893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C0AB631-3DEF-29D5-F14B-35CE9DF8C69C}"/>
              </a:ext>
            </a:extLst>
          </p:cNvPr>
          <p:cNvSpPr>
            <a:spLocks noGrp="1"/>
          </p:cNvSpPr>
          <p:nvPr>
            <p:ph type="title"/>
          </p:nvPr>
        </p:nvSpPr>
        <p:spPr/>
        <p:txBody>
          <a:bodyPr>
            <a:normAutofit fontScale="90000"/>
          </a:bodyPr>
          <a:lstStyle/>
          <a:p>
            <a:r>
              <a:rPr lang="fr-CA" dirty="0"/>
              <a:t>Besoins organisationnels à l’origine du  produit</a:t>
            </a:r>
          </a:p>
        </p:txBody>
      </p:sp>
      <p:sp>
        <p:nvSpPr>
          <p:cNvPr id="5" name="Shape 6">
            <a:extLst>
              <a:ext uri="{FF2B5EF4-FFF2-40B4-BE49-F238E27FC236}">
                <a16:creationId xmlns:a16="http://schemas.microsoft.com/office/drawing/2014/main" id="{171C111F-0FA2-BDEB-5100-73AECBAF0151}"/>
              </a:ext>
            </a:extLst>
          </p:cNvPr>
          <p:cNvSpPr/>
          <p:nvPr/>
        </p:nvSpPr>
        <p:spPr>
          <a:xfrm>
            <a:off x="333375" y="1607729"/>
            <a:ext cx="3511031" cy="4324887"/>
          </a:xfrm>
          <a:prstGeom prst="rect">
            <a:avLst/>
          </a:prstGeom>
          <a:solidFill>
            <a:srgbClr val="E9F6FB"/>
          </a:solidFill>
          <a:ln/>
        </p:spPr>
        <p:txBody>
          <a:bodyPr/>
          <a:lstStyle/>
          <a:p>
            <a:endParaRPr lang="fr-CA" dirty="0">
              <a:solidFill>
                <a:srgbClr val="000000"/>
              </a:solidFill>
            </a:endParaRPr>
          </a:p>
        </p:txBody>
      </p:sp>
      <p:sp>
        <p:nvSpPr>
          <p:cNvPr id="6" name="Shape 6">
            <a:extLst>
              <a:ext uri="{FF2B5EF4-FFF2-40B4-BE49-F238E27FC236}">
                <a16:creationId xmlns:a16="http://schemas.microsoft.com/office/drawing/2014/main" id="{B8986BB4-812C-2815-F7C7-EAF9DA093C4B}"/>
              </a:ext>
            </a:extLst>
          </p:cNvPr>
          <p:cNvSpPr/>
          <p:nvPr/>
        </p:nvSpPr>
        <p:spPr>
          <a:xfrm>
            <a:off x="4341000" y="1607728"/>
            <a:ext cx="3510000" cy="4324887"/>
          </a:xfrm>
          <a:prstGeom prst="rect">
            <a:avLst/>
          </a:prstGeom>
          <a:solidFill>
            <a:srgbClr val="E9F6FB"/>
          </a:solidFill>
          <a:ln/>
        </p:spPr>
        <p:txBody>
          <a:bodyPr/>
          <a:lstStyle/>
          <a:p>
            <a:endParaRPr lang="fr-CA" dirty="0"/>
          </a:p>
        </p:txBody>
      </p:sp>
      <p:sp>
        <p:nvSpPr>
          <p:cNvPr id="7" name="Shape 6">
            <a:extLst>
              <a:ext uri="{FF2B5EF4-FFF2-40B4-BE49-F238E27FC236}">
                <a16:creationId xmlns:a16="http://schemas.microsoft.com/office/drawing/2014/main" id="{FDB163F3-7CEB-D7F3-838B-1061764527DC}"/>
              </a:ext>
            </a:extLst>
          </p:cNvPr>
          <p:cNvSpPr/>
          <p:nvPr/>
        </p:nvSpPr>
        <p:spPr>
          <a:xfrm>
            <a:off x="8348625" y="1607728"/>
            <a:ext cx="3510000" cy="4324887"/>
          </a:xfrm>
          <a:prstGeom prst="rect">
            <a:avLst/>
          </a:prstGeom>
          <a:solidFill>
            <a:srgbClr val="E9F6FB"/>
          </a:solidFill>
          <a:ln/>
        </p:spPr>
        <p:txBody>
          <a:bodyPr/>
          <a:lstStyle/>
          <a:p>
            <a:endParaRPr lang="fr-CA" dirty="0"/>
          </a:p>
        </p:txBody>
      </p:sp>
      <p:sp>
        <p:nvSpPr>
          <p:cNvPr id="11" name="Text 12">
            <a:extLst>
              <a:ext uri="{FF2B5EF4-FFF2-40B4-BE49-F238E27FC236}">
                <a16:creationId xmlns:a16="http://schemas.microsoft.com/office/drawing/2014/main" id="{D8122020-7D02-0A7F-346A-E0C5FBCD7692}"/>
              </a:ext>
            </a:extLst>
          </p:cNvPr>
          <p:cNvSpPr/>
          <p:nvPr/>
        </p:nvSpPr>
        <p:spPr>
          <a:xfrm>
            <a:off x="523879" y="1907891"/>
            <a:ext cx="3125855" cy="715712"/>
          </a:xfrm>
          <a:prstGeom prst="rect">
            <a:avLst/>
          </a:prstGeom>
          <a:noFill/>
          <a:ln/>
        </p:spPr>
        <p:txBody>
          <a:bodyPr wrap="square" lIns="25400" tIns="25400" rIns="25400" bIns="25400" rtlCol="0" anchor="t">
            <a:normAutofit/>
          </a:bodyPr>
          <a:lstStyle/>
          <a:p>
            <a:pPr marL="0" indent="0" algn="ctr">
              <a:buNone/>
            </a:pPr>
            <a:r>
              <a:rPr lang="en-US" b="1" dirty="0">
                <a:solidFill>
                  <a:srgbClr val="1A1D24"/>
                </a:solidFill>
                <a:latin typeface="Aptos" panose="020B0004020202020204" pitchFamily="34" charset="0"/>
              </a:rPr>
              <a:t>Une </a:t>
            </a:r>
            <a:r>
              <a:rPr lang="en-US" b="1" dirty="0" err="1">
                <a:solidFill>
                  <a:srgbClr val="1A1D24"/>
                </a:solidFill>
                <a:latin typeface="Aptos" panose="020B0004020202020204" pitchFamily="34" charset="0"/>
              </a:rPr>
              <a:t>mécanique</a:t>
            </a:r>
            <a:r>
              <a:rPr lang="en-US" b="1" dirty="0">
                <a:solidFill>
                  <a:srgbClr val="1A1D24"/>
                </a:solidFill>
                <a:latin typeface="Aptos" panose="020B0004020202020204" pitchFamily="34" charset="0"/>
              </a:rPr>
              <a:t> d'affaires de plus </a:t>
            </a:r>
            <a:r>
              <a:rPr lang="en-US" b="1" dirty="0" err="1">
                <a:solidFill>
                  <a:srgbClr val="1A1D24"/>
                </a:solidFill>
                <a:latin typeface="Aptos" panose="020B0004020202020204" pitchFamily="34" charset="0"/>
              </a:rPr>
              <a:t>en</a:t>
            </a:r>
            <a:r>
              <a:rPr lang="en-US" b="1" dirty="0">
                <a:solidFill>
                  <a:srgbClr val="1A1D24"/>
                </a:solidFill>
                <a:latin typeface="Aptos" panose="020B0004020202020204" pitchFamily="34" charset="0"/>
              </a:rPr>
              <a:t> plus </a:t>
            </a:r>
            <a:r>
              <a:rPr lang="en-US" b="1" dirty="0" err="1">
                <a:solidFill>
                  <a:srgbClr val="1A1D24"/>
                </a:solidFill>
                <a:latin typeface="Aptos" panose="020B0004020202020204" pitchFamily="34" charset="0"/>
              </a:rPr>
              <a:t>complexe</a:t>
            </a:r>
            <a:endParaRPr lang="en-US" b="1" dirty="0">
              <a:solidFill>
                <a:srgbClr val="1A1D24"/>
              </a:solidFill>
              <a:latin typeface="Aptos" panose="020B0004020202020204" pitchFamily="34" charset="0"/>
            </a:endParaRPr>
          </a:p>
        </p:txBody>
      </p:sp>
      <p:sp>
        <p:nvSpPr>
          <p:cNvPr id="12" name="Text 13">
            <a:extLst>
              <a:ext uri="{FF2B5EF4-FFF2-40B4-BE49-F238E27FC236}">
                <a16:creationId xmlns:a16="http://schemas.microsoft.com/office/drawing/2014/main" id="{26A207FD-EE09-17B1-4488-A184AF566844}"/>
              </a:ext>
            </a:extLst>
          </p:cNvPr>
          <p:cNvSpPr/>
          <p:nvPr/>
        </p:nvSpPr>
        <p:spPr>
          <a:xfrm>
            <a:off x="523879" y="2818534"/>
            <a:ext cx="3125855" cy="1903273"/>
          </a:xfrm>
          <a:prstGeom prst="rect">
            <a:avLst/>
          </a:prstGeom>
          <a:noFill/>
          <a:ln/>
        </p:spPr>
        <p:txBody>
          <a:bodyPr wrap="square" lIns="25400" tIns="25400" rIns="25400" bIns="25400" rtlCol="0" anchor="t">
            <a:normAutofit/>
          </a:bodyPr>
          <a:lstStyle/>
          <a:p>
            <a:pPr>
              <a:lnSpc>
                <a:spcPct val="140000"/>
              </a:lnSpc>
            </a:pPr>
            <a:r>
              <a:rPr lang="en-US" sz="1600" dirty="0">
                <a:solidFill>
                  <a:srgbClr val="000000"/>
                </a:solidFill>
                <a:latin typeface="Aptos" panose="020B0004020202020204" pitchFamily="34" charset="0"/>
                <a:ea typeface="-apple-system" pitchFamily="34" charset="-122"/>
              </a:rPr>
              <a:t>Les processus d'affaires sont nombreux, hétérogènes et difficiles à faire </a:t>
            </a:r>
            <a:r>
              <a:rPr lang="en-US" sz="1600" dirty="0" err="1">
                <a:solidFill>
                  <a:srgbClr val="000000"/>
                </a:solidFill>
                <a:latin typeface="Aptos" panose="020B0004020202020204" pitchFamily="34" charset="0"/>
                <a:ea typeface="-apple-system" pitchFamily="34" charset="-122"/>
              </a:rPr>
              <a:t>évoluer</a:t>
            </a:r>
            <a:r>
              <a:rPr lang="en-US" sz="1600" dirty="0">
                <a:solidFill>
                  <a:srgbClr val="000000"/>
                </a:solidFill>
                <a:latin typeface="Aptos" panose="020B0004020202020204" pitchFamily="34" charset="0"/>
                <a:ea typeface="-apple-system" pitchFamily="34" charset="-122"/>
              </a:rPr>
              <a:t>. </a:t>
            </a:r>
            <a:r>
              <a:rPr lang="en-US" sz="1600" dirty="0" err="1">
                <a:solidFill>
                  <a:srgbClr val="000000"/>
                </a:solidFill>
                <a:latin typeface="Aptos" panose="020B0004020202020204" pitchFamily="34" charset="0"/>
                <a:ea typeface="-apple-system" pitchFamily="34" charset="-122"/>
              </a:rPr>
              <a:t>Ils</a:t>
            </a:r>
            <a:r>
              <a:rPr lang="en-US" sz="1600" dirty="0">
                <a:solidFill>
                  <a:srgbClr val="000000"/>
                </a:solidFill>
                <a:latin typeface="Aptos" panose="020B0004020202020204" pitchFamily="34" charset="0"/>
                <a:ea typeface="-apple-system" pitchFamily="34" charset="-122"/>
              </a:rPr>
              <a:t> sont aujourd'hui codés en dur dans </a:t>
            </a:r>
            <a:r>
              <a:rPr lang="en-US" sz="1600" dirty="0" err="1">
                <a:solidFill>
                  <a:srgbClr val="000000"/>
                </a:solidFill>
                <a:latin typeface="Aptos" panose="020B0004020202020204" pitchFamily="34" charset="0"/>
                <a:ea typeface="-apple-system" pitchFamily="34" charset="-122"/>
              </a:rPr>
              <a:t>plusieurs</a:t>
            </a:r>
            <a:r>
              <a:rPr lang="en-US" sz="1600" dirty="0">
                <a:solidFill>
                  <a:srgbClr val="000000"/>
                </a:solidFill>
                <a:latin typeface="Aptos" panose="020B0004020202020204" pitchFamily="34" charset="0"/>
                <a:ea typeface="-apple-system" pitchFamily="34" charset="-122"/>
              </a:rPr>
              <a:t> </a:t>
            </a:r>
            <a:r>
              <a:rPr lang="en-US" sz="1600" dirty="0" err="1">
                <a:solidFill>
                  <a:srgbClr val="000000"/>
                </a:solidFill>
                <a:latin typeface="Aptos" panose="020B0004020202020204" pitchFamily="34" charset="0"/>
                <a:ea typeface="-apple-system" pitchFamily="34" charset="-122"/>
              </a:rPr>
              <a:t>systèmes</a:t>
            </a:r>
            <a:endParaRPr lang="en-US" sz="1600" dirty="0">
              <a:solidFill>
                <a:srgbClr val="000000"/>
              </a:solidFill>
              <a:latin typeface="Aptos" panose="020B0004020202020204" pitchFamily="34" charset="0"/>
              <a:ea typeface="-apple-system" pitchFamily="34" charset="-122"/>
            </a:endParaRPr>
          </a:p>
        </p:txBody>
      </p:sp>
      <p:sp>
        <p:nvSpPr>
          <p:cNvPr id="13" name="Text 12">
            <a:extLst>
              <a:ext uri="{FF2B5EF4-FFF2-40B4-BE49-F238E27FC236}">
                <a16:creationId xmlns:a16="http://schemas.microsoft.com/office/drawing/2014/main" id="{DB697481-B904-590F-FA4F-BCF88D0E53A0}"/>
              </a:ext>
            </a:extLst>
          </p:cNvPr>
          <p:cNvSpPr/>
          <p:nvPr/>
        </p:nvSpPr>
        <p:spPr>
          <a:xfrm>
            <a:off x="4533072" y="1907891"/>
            <a:ext cx="3125855" cy="664196"/>
          </a:xfrm>
          <a:prstGeom prst="rect">
            <a:avLst/>
          </a:prstGeom>
          <a:noFill/>
          <a:ln/>
        </p:spPr>
        <p:txBody>
          <a:bodyPr wrap="square" lIns="25400" tIns="25400" rIns="25400" bIns="25400" rtlCol="0" anchor="t">
            <a:normAutofit/>
          </a:bodyPr>
          <a:lstStyle/>
          <a:p>
            <a:pPr marL="0" indent="0" algn="ctr">
              <a:buNone/>
            </a:pPr>
            <a:r>
              <a:rPr lang="en-US" b="1" dirty="0">
                <a:solidFill>
                  <a:srgbClr val="1A1D24"/>
                </a:solidFill>
                <a:latin typeface="Aptos" panose="020B0004020202020204" pitchFamily="34" charset="0"/>
              </a:rPr>
              <a:t>Des </a:t>
            </a:r>
            <a:r>
              <a:rPr lang="en-US" b="1" dirty="0" err="1">
                <a:solidFill>
                  <a:srgbClr val="1A1D24"/>
                </a:solidFill>
                <a:latin typeface="Aptos" panose="020B0004020202020204" pitchFamily="34" charset="0"/>
              </a:rPr>
              <a:t>changements</a:t>
            </a:r>
            <a:r>
              <a:rPr lang="en-US" b="1" dirty="0">
                <a:solidFill>
                  <a:srgbClr val="1A1D24"/>
                </a:solidFill>
                <a:latin typeface="Aptos" panose="020B0004020202020204" pitchFamily="34" charset="0"/>
              </a:rPr>
              <a:t> longs et </a:t>
            </a:r>
            <a:r>
              <a:rPr lang="en-US" b="1" dirty="0" err="1">
                <a:solidFill>
                  <a:srgbClr val="1A1D24"/>
                </a:solidFill>
                <a:latin typeface="Aptos" panose="020B0004020202020204" pitchFamily="34" charset="0"/>
              </a:rPr>
              <a:t>coûteux</a:t>
            </a:r>
            <a:endParaRPr lang="en-US" b="1" dirty="0">
              <a:solidFill>
                <a:srgbClr val="1A1D24"/>
              </a:solidFill>
              <a:latin typeface="Aptos" panose="020B0004020202020204" pitchFamily="34" charset="0"/>
            </a:endParaRPr>
          </a:p>
        </p:txBody>
      </p:sp>
      <p:sp>
        <p:nvSpPr>
          <p:cNvPr id="17" name="Text 13">
            <a:extLst>
              <a:ext uri="{FF2B5EF4-FFF2-40B4-BE49-F238E27FC236}">
                <a16:creationId xmlns:a16="http://schemas.microsoft.com/office/drawing/2014/main" id="{58E69172-2C04-5B23-BCC0-754DD1078E48}"/>
              </a:ext>
            </a:extLst>
          </p:cNvPr>
          <p:cNvSpPr/>
          <p:nvPr/>
        </p:nvSpPr>
        <p:spPr>
          <a:xfrm>
            <a:off x="4608342" y="2818534"/>
            <a:ext cx="3125855" cy="1903273"/>
          </a:xfrm>
          <a:prstGeom prst="rect">
            <a:avLst/>
          </a:prstGeom>
          <a:noFill/>
          <a:ln/>
        </p:spPr>
        <p:txBody>
          <a:bodyPr wrap="square" lIns="25400" tIns="25400" rIns="25400" bIns="25400" rtlCol="0" anchor="t">
            <a:normAutofit/>
          </a:bodyPr>
          <a:lstStyle/>
          <a:p>
            <a:pPr>
              <a:lnSpc>
                <a:spcPct val="140000"/>
              </a:lnSpc>
            </a:pPr>
            <a:r>
              <a:rPr lang="en-US" sz="1600" dirty="0" err="1">
                <a:solidFill>
                  <a:srgbClr val="000000"/>
                </a:solidFill>
                <a:latin typeface="Aptos" panose="020B0004020202020204" pitchFamily="34" charset="0"/>
                <a:ea typeface="-apple-system" pitchFamily="34" charset="-122"/>
              </a:rPr>
              <a:t>Chaque</a:t>
            </a:r>
            <a:r>
              <a:rPr lang="en-US" sz="1600" dirty="0">
                <a:solidFill>
                  <a:srgbClr val="000000"/>
                </a:solidFill>
                <a:latin typeface="Aptos" panose="020B0004020202020204" pitchFamily="34" charset="0"/>
                <a:ea typeface="-apple-system" pitchFamily="34" charset="-122"/>
              </a:rPr>
              <a:t> modification </a:t>
            </a:r>
            <a:r>
              <a:rPr lang="en-US" sz="1600" dirty="0" err="1">
                <a:solidFill>
                  <a:srgbClr val="000000"/>
                </a:solidFill>
                <a:latin typeface="Aptos" panose="020B0004020202020204" pitchFamily="34" charset="0"/>
                <a:ea typeface="-apple-system" pitchFamily="34" charset="-122"/>
              </a:rPr>
              <a:t>mobilise</a:t>
            </a:r>
            <a:r>
              <a:rPr lang="en-US" sz="1600" dirty="0">
                <a:solidFill>
                  <a:srgbClr val="000000"/>
                </a:solidFill>
                <a:latin typeface="Aptos" panose="020B0004020202020204" pitchFamily="34" charset="0"/>
                <a:ea typeface="-apple-system" pitchFamily="34" charset="-122"/>
              </a:rPr>
              <a:t> </a:t>
            </a:r>
            <a:r>
              <a:rPr lang="en-US" sz="1600" dirty="0" err="1">
                <a:solidFill>
                  <a:srgbClr val="000000"/>
                </a:solidFill>
                <a:latin typeface="Aptos" panose="020B0004020202020204" pitchFamily="34" charset="0"/>
                <a:ea typeface="-apple-system" pitchFamily="34" charset="-122"/>
              </a:rPr>
              <a:t>plusieurs</a:t>
            </a:r>
            <a:r>
              <a:rPr lang="en-US" sz="1600" dirty="0">
                <a:solidFill>
                  <a:srgbClr val="000000"/>
                </a:solidFill>
                <a:latin typeface="Aptos" panose="020B0004020202020204" pitchFamily="34" charset="0"/>
                <a:ea typeface="-apple-system" pitchFamily="34" charset="-122"/>
              </a:rPr>
              <a:t> équipes, repose sur du </a:t>
            </a:r>
            <a:r>
              <a:rPr lang="en-US" sz="1600" dirty="0" err="1">
                <a:solidFill>
                  <a:srgbClr val="000000"/>
                </a:solidFill>
                <a:latin typeface="Aptos" panose="020B0004020202020204" pitchFamily="34" charset="0"/>
                <a:ea typeface="-apple-system" pitchFamily="34" charset="-122"/>
              </a:rPr>
              <a:t>développement</a:t>
            </a:r>
            <a:r>
              <a:rPr lang="en-US" sz="1600" dirty="0">
                <a:solidFill>
                  <a:srgbClr val="000000"/>
                </a:solidFill>
                <a:latin typeface="Aptos" panose="020B0004020202020204" pitchFamily="34" charset="0"/>
                <a:ea typeface="-apple-system" pitchFamily="34" charset="-122"/>
              </a:rPr>
              <a:t> sur </a:t>
            </a:r>
            <a:r>
              <a:rPr lang="en-US" sz="1600" dirty="0" err="1">
                <a:solidFill>
                  <a:srgbClr val="000000"/>
                </a:solidFill>
                <a:latin typeface="Aptos" panose="020B0004020202020204" pitchFamily="34" charset="0"/>
                <a:ea typeface="-apple-system" pitchFamily="34" charset="-122"/>
              </a:rPr>
              <a:t>mesure</a:t>
            </a:r>
            <a:r>
              <a:rPr lang="en-US" sz="1600" dirty="0">
                <a:solidFill>
                  <a:srgbClr val="000000"/>
                </a:solidFill>
                <a:latin typeface="Aptos" panose="020B0004020202020204" pitchFamily="34" charset="0"/>
                <a:ea typeface="-apple-system" pitchFamily="34" charset="-122"/>
              </a:rPr>
              <a:t>, et </a:t>
            </a:r>
            <a:r>
              <a:rPr lang="en-US" sz="1600" dirty="0" err="1">
                <a:solidFill>
                  <a:srgbClr val="000000"/>
                </a:solidFill>
                <a:latin typeface="Aptos" panose="020B0004020202020204" pitchFamily="34" charset="0"/>
                <a:ea typeface="-apple-system" pitchFamily="34" charset="-122"/>
              </a:rPr>
              <a:t>augmente</a:t>
            </a:r>
            <a:r>
              <a:rPr lang="en-US" sz="1600" dirty="0">
                <a:solidFill>
                  <a:srgbClr val="000000"/>
                </a:solidFill>
                <a:latin typeface="Aptos" panose="020B0004020202020204" pitchFamily="34" charset="0"/>
                <a:ea typeface="-apple-system" pitchFamily="34" charset="-122"/>
              </a:rPr>
              <a:t> les </a:t>
            </a:r>
            <a:r>
              <a:rPr lang="en-US" sz="1600" dirty="0" err="1">
                <a:solidFill>
                  <a:srgbClr val="000000"/>
                </a:solidFill>
                <a:latin typeface="Aptos" panose="020B0004020202020204" pitchFamily="34" charset="0"/>
                <a:ea typeface="-apple-system" pitchFamily="34" charset="-122"/>
              </a:rPr>
              <a:t>délais</a:t>
            </a:r>
            <a:r>
              <a:rPr lang="en-US" sz="1600" dirty="0">
                <a:solidFill>
                  <a:srgbClr val="000000"/>
                </a:solidFill>
                <a:latin typeface="Aptos" panose="020B0004020202020204" pitchFamily="34" charset="0"/>
                <a:ea typeface="-apple-system" pitchFamily="34" charset="-122"/>
              </a:rPr>
              <a:t> </a:t>
            </a:r>
            <a:r>
              <a:rPr lang="en-US" sz="1600" dirty="0" err="1">
                <a:solidFill>
                  <a:srgbClr val="000000"/>
                </a:solidFill>
                <a:latin typeface="Aptos" panose="020B0004020202020204" pitchFamily="34" charset="0"/>
                <a:ea typeface="-apple-system" pitchFamily="34" charset="-122"/>
              </a:rPr>
              <a:t>ainsi</a:t>
            </a:r>
            <a:r>
              <a:rPr lang="en-US" sz="1600" dirty="0">
                <a:solidFill>
                  <a:srgbClr val="000000"/>
                </a:solidFill>
                <a:latin typeface="Aptos" panose="020B0004020202020204" pitchFamily="34" charset="0"/>
                <a:ea typeface="-apple-system" pitchFamily="34" charset="-122"/>
              </a:rPr>
              <a:t> </a:t>
            </a:r>
            <a:r>
              <a:rPr lang="en-US" sz="1600" dirty="0" err="1">
                <a:solidFill>
                  <a:srgbClr val="000000"/>
                </a:solidFill>
                <a:latin typeface="Aptos" panose="020B0004020202020204" pitchFamily="34" charset="0"/>
                <a:ea typeface="-apple-system" pitchFamily="34" charset="-122"/>
              </a:rPr>
              <a:t>que</a:t>
            </a:r>
            <a:r>
              <a:rPr lang="en-US" sz="1600" dirty="0">
                <a:solidFill>
                  <a:srgbClr val="000000"/>
                </a:solidFill>
                <a:latin typeface="Aptos" panose="020B0004020202020204" pitchFamily="34" charset="0"/>
                <a:ea typeface="-apple-system" pitchFamily="34" charset="-122"/>
              </a:rPr>
              <a:t> les </a:t>
            </a:r>
            <a:r>
              <a:rPr lang="en-US" sz="1600" dirty="0" err="1">
                <a:solidFill>
                  <a:srgbClr val="000000"/>
                </a:solidFill>
                <a:latin typeface="Aptos" panose="020B0004020202020204" pitchFamily="34" charset="0"/>
                <a:ea typeface="-apple-system" pitchFamily="34" charset="-122"/>
              </a:rPr>
              <a:t>risques</a:t>
            </a:r>
            <a:r>
              <a:rPr lang="en-US" sz="1600" dirty="0">
                <a:solidFill>
                  <a:srgbClr val="000000"/>
                </a:solidFill>
                <a:latin typeface="Aptos" panose="020B0004020202020204" pitchFamily="34" charset="0"/>
                <a:ea typeface="-apple-system" pitchFamily="34" charset="-122"/>
              </a:rPr>
              <a:t> </a:t>
            </a:r>
            <a:r>
              <a:rPr lang="en-US" sz="1600" dirty="0" err="1">
                <a:solidFill>
                  <a:srgbClr val="000000"/>
                </a:solidFill>
                <a:latin typeface="Aptos" panose="020B0004020202020204" pitchFamily="34" charset="0"/>
                <a:ea typeface="-apple-system" pitchFamily="34" charset="-122"/>
              </a:rPr>
              <a:t>opérationnels</a:t>
            </a:r>
            <a:r>
              <a:rPr lang="en-US" sz="1600" dirty="0">
                <a:solidFill>
                  <a:srgbClr val="000000"/>
                </a:solidFill>
                <a:latin typeface="Aptos" panose="020B0004020202020204" pitchFamily="34" charset="0"/>
                <a:ea typeface="-apple-system" pitchFamily="34" charset="-122"/>
              </a:rPr>
              <a:t>.</a:t>
            </a:r>
          </a:p>
        </p:txBody>
      </p:sp>
      <p:sp>
        <p:nvSpPr>
          <p:cNvPr id="19" name="Text 12">
            <a:extLst>
              <a:ext uri="{FF2B5EF4-FFF2-40B4-BE49-F238E27FC236}">
                <a16:creationId xmlns:a16="http://schemas.microsoft.com/office/drawing/2014/main" id="{9A50870B-2FFC-CFED-8A2E-0FCAAE2D3C2A}"/>
              </a:ext>
            </a:extLst>
          </p:cNvPr>
          <p:cNvSpPr/>
          <p:nvPr/>
        </p:nvSpPr>
        <p:spPr>
          <a:xfrm>
            <a:off x="8540697" y="1907891"/>
            <a:ext cx="3125855" cy="715712"/>
          </a:xfrm>
          <a:prstGeom prst="rect">
            <a:avLst/>
          </a:prstGeom>
          <a:noFill/>
          <a:ln/>
        </p:spPr>
        <p:txBody>
          <a:bodyPr wrap="square" lIns="25400" tIns="25400" rIns="25400" bIns="25400" rtlCol="0" anchor="t">
            <a:normAutofit/>
          </a:bodyPr>
          <a:lstStyle/>
          <a:p>
            <a:pPr marL="0" indent="0" algn="ctr">
              <a:buNone/>
            </a:pPr>
            <a:r>
              <a:rPr lang="en-US" b="1" dirty="0">
                <a:solidFill>
                  <a:srgbClr val="1A1D24"/>
                </a:solidFill>
                <a:latin typeface="Aptos" panose="020B0004020202020204" pitchFamily="34" charset="0"/>
              </a:rPr>
              <a:t>Une </a:t>
            </a:r>
            <a:r>
              <a:rPr lang="en-US" b="1" dirty="0" err="1">
                <a:solidFill>
                  <a:srgbClr val="1A1D24"/>
                </a:solidFill>
                <a:latin typeface="Aptos" panose="020B0004020202020204" pitchFamily="34" charset="0"/>
              </a:rPr>
              <a:t>approche</a:t>
            </a:r>
            <a:r>
              <a:rPr lang="en-US" b="1" dirty="0">
                <a:solidFill>
                  <a:srgbClr val="1A1D24"/>
                </a:solidFill>
                <a:latin typeface="Aptos" panose="020B0004020202020204" pitchFamily="34" charset="0"/>
              </a:rPr>
              <a:t> plus simple, flexible et agile</a:t>
            </a:r>
          </a:p>
        </p:txBody>
      </p:sp>
      <p:sp>
        <p:nvSpPr>
          <p:cNvPr id="20" name="Text 13">
            <a:extLst>
              <a:ext uri="{FF2B5EF4-FFF2-40B4-BE49-F238E27FC236}">
                <a16:creationId xmlns:a16="http://schemas.microsoft.com/office/drawing/2014/main" id="{A90CF649-8C65-6BE8-8943-B58F0784D599}"/>
              </a:ext>
            </a:extLst>
          </p:cNvPr>
          <p:cNvSpPr/>
          <p:nvPr/>
        </p:nvSpPr>
        <p:spPr>
          <a:xfrm>
            <a:off x="8540696" y="2874479"/>
            <a:ext cx="3125855" cy="1903273"/>
          </a:xfrm>
          <a:prstGeom prst="rect">
            <a:avLst/>
          </a:prstGeom>
          <a:noFill/>
          <a:ln/>
        </p:spPr>
        <p:txBody>
          <a:bodyPr wrap="square" lIns="25400" tIns="25400" rIns="25400" bIns="25400" rtlCol="0" anchor="t">
            <a:normAutofit/>
          </a:bodyPr>
          <a:lstStyle/>
          <a:p>
            <a:pPr>
              <a:lnSpc>
                <a:spcPct val="140000"/>
              </a:lnSpc>
            </a:pPr>
            <a:r>
              <a:rPr lang="en-US" sz="1600" dirty="0">
                <a:solidFill>
                  <a:srgbClr val="000000"/>
                </a:solidFill>
                <a:latin typeface="Aptos" panose="020B0004020202020204" pitchFamily="34" charset="0"/>
                <a:ea typeface="-apple-system" pitchFamily="34" charset="-122"/>
              </a:rPr>
              <a:t>Disposer d’un </a:t>
            </a:r>
            <a:r>
              <a:rPr lang="en-US" sz="1600" dirty="0" err="1">
                <a:solidFill>
                  <a:srgbClr val="000000"/>
                </a:solidFill>
                <a:latin typeface="Aptos" panose="020B0004020202020204" pitchFamily="34" charset="0"/>
                <a:ea typeface="-apple-system" pitchFamily="34" charset="-122"/>
              </a:rPr>
              <a:t>produit</a:t>
            </a:r>
            <a:r>
              <a:rPr lang="en-US" sz="1600" dirty="0">
                <a:solidFill>
                  <a:srgbClr val="000000"/>
                </a:solidFill>
                <a:latin typeface="Aptos" panose="020B0004020202020204" pitchFamily="34" charset="0"/>
                <a:ea typeface="-apple-system" pitchFamily="34" charset="-122"/>
              </a:rPr>
              <a:t> qui </a:t>
            </a:r>
            <a:r>
              <a:rPr lang="en-US" sz="1600" dirty="0" err="1">
                <a:solidFill>
                  <a:srgbClr val="000000"/>
                </a:solidFill>
                <a:latin typeface="Aptos" panose="020B0004020202020204" pitchFamily="34" charset="0"/>
                <a:ea typeface="-apple-system" pitchFamily="34" charset="-122"/>
              </a:rPr>
              <a:t>permet</a:t>
            </a:r>
            <a:r>
              <a:rPr lang="en-US" sz="1600" dirty="0">
                <a:solidFill>
                  <a:srgbClr val="000000"/>
                </a:solidFill>
                <a:latin typeface="Aptos" panose="020B0004020202020204" pitchFamily="34" charset="0"/>
                <a:ea typeface="-apple-system" pitchFamily="34" charset="-122"/>
              </a:rPr>
              <a:t> de </a:t>
            </a:r>
            <a:r>
              <a:rPr lang="en-US" sz="1600" dirty="0" err="1">
                <a:solidFill>
                  <a:srgbClr val="000000"/>
                </a:solidFill>
                <a:latin typeface="Aptos" panose="020B0004020202020204" pitchFamily="34" charset="0"/>
                <a:ea typeface="-apple-system" pitchFamily="34" charset="-122"/>
              </a:rPr>
              <a:t>définir</a:t>
            </a:r>
            <a:r>
              <a:rPr lang="en-US" sz="1600" dirty="0">
                <a:solidFill>
                  <a:srgbClr val="000000"/>
                </a:solidFill>
                <a:latin typeface="Aptos" panose="020B0004020202020204" pitchFamily="34" charset="0"/>
                <a:ea typeface="-apple-system" pitchFamily="34" charset="-122"/>
              </a:rPr>
              <a:t> et de faire </a:t>
            </a:r>
            <a:r>
              <a:rPr lang="en-US" sz="1600" dirty="0" err="1">
                <a:solidFill>
                  <a:srgbClr val="000000"/>
                </a:solidFill>
                <a:latin typeface="Aptos" panose="020B0004020202020204" pitchFamily="34" charset="0"/>
                <a:ea typeface="-apple-system" pitchFamily="34" charset="-122"/>
              </a:rPr>
              <a:t>évoluer</a:t>
            </a:r>
            <a:r>
              <a:rPr lang="en-US" sz="1600" dirty="0">
                <a:solidFill>
                  <a:srgbClr val="000000"/>
                </a:solidFill>
                <a:latin typeface="Aptos" panose="020B0004020202020204" pitchFamily="34" charset="0"/>
                <a:ea typeface="-apple-system" pitchFamily="34" charset="-122"/>
              </a:rPr>
              <a:t> les processus d’affaires </a:t>
            </a:r>
            <a:r>
              <a:rPr lang="en-US" sz="1600" b="1" dirty="0">
                <a:solidFill>
                  <a:srgbClr val="000000"/>
                </a:solidFill>
                <a:latin typeface="Aptos" panose="020B0004020202020204" pitchFamily="34" charset="0"/>
                <a:ea typeface="-apple-system" pitchFamily="34" charset="-122"/>
              </a:rPr>
              <a:t>sans </a:t>
            </a:r>
            <a:r>
              <a:rPr lang="en-US" sz="1600" b="1" dirty="0" err="1">
                <a:solidFill>
                  <a:srgbClr val="000000"/>
                </a:solidFill>
                <a:latin typeface="Aptos" panose="020B0004020202020204" pitchFamily="34" charset="0"/>
                <a:ea typeface="-apple-system" pitchFamily="34" charset="-122"/>
              </a:rPr>
              <a:t>développement</a:t>
            </a:r>
            <a:r>
              <a:rPr lang="en-US" sz="1600" b="1" dirty="0">
                <a:solidFill>
                  <a:srgbClr val="000000"/>
                </a:solidFill>
                <a:latin typeface="Aptos" panose="020B0004020202020204" pitchFamily="34" charset="0"/>
                <a:ea typeface="-apple-system" pitchFamily="34" charset="-122"/>
              </a:rPr>
              <a:t> sur </a:t>
            </a:r>
            <a:r>
              <a:rPr lang="en-US" sz="1600" b="1" dirty="0" err="1">
                <a:solidFill>
                  <a:srgbClr val="000000"/>
                </a:solidFill>
                <a:latin typeface="Aptos" panose="020B0004020202020204" pitchFamily="34" charset="0"/>
                <a:ea typeface="-apple-system" pitchFamily="34" charset="-122"/>
              </a:rPr>
              <a:t>mesure</a:t>
            </a:r>
            <a:r>
              <a:rPr lang="en-US" sz="1600" b="1" dirty="0">
                <a:solidFill>
                  <a:srgbClr val="000000"/>
                </a:solidFill>
                <a:latin typeface="Aptos" panose="020B0004020202020204" pitchFamily="34" charset="0"/>
                <a:ea typeface="-apple-system" pitchFamily="34" charset="-122"/>
              </a:rPr>
              <a:t> (par configuration)</a:t>
            </a:r>
          </a:p>
        </p:txBody>
      </p:sp>
      <p:sp>
        <p:nvSpPr>
          <p:cNvPr id="22" name="Shape 14">
            <a:extLst>
              <a:ext uri="{FF2B5EF4-FFF2-40B4-BE49-F238E27FC236}">
                <a16:creationId xmlns:a16="http://schemas.microsoft.com/office/drawing/2014/main" id="{9CDA9FC9-D772-A34F-A318-45C28C197774}"/>
              </a:ext>
            </a:extLst>
          </p:cNvPr>
          <p:cNvSpPr/>
          <p:nvPr/>
        </p:nvSpPr>
        <p:spPr>
          <a:xfrm>
            <a:off x="3974038" y="3770171"/>
            <a:ext cx="228600" cy="9525"/>
          </a:xfrm>
          <a:prstGeom prst="rect">
            <a:avLst/>
          </a:prstGeom>
          <a:solidFill>
            <a:srgbClr val="8A8F99"/>
          </a:solidFill>
          <a:ln>
            <a:solidFill>
              <a:srgbClr val="8A8F99"/>
            </a:solidFill>
          </a:ln>
        </p:spPr>
        <p:txBody>
          <a:bodyPr/>
          <a:lstStyle/>
          <a:p>
            <a:endParaRPr lang="fr-CA" dirty="0"/>
          </a:p>
        </p:txBody>
      </p:sp>
      <p:sp>
        <p:nvSpPr>
          <p:cNvPr id="3" name="Shape 14">
            <a:extLst>
              <a:ext uri="{FF2B5EF4-FFF2-40B4-BE49-F238E27FC236}">
                <a16:creationId xmlns:a16="http://schemas.microsoft.com/office/drawing/2014/main" id="{68B3B2F4-318A-35A0-B593-58B8FE62C8CA}"/>
              </a:ext>
            </a:extLst>
          </p:cNvPr>
          <p:cNvSpPr/>
          <p:nvPr/>
        </p:nvSpPr>
        <p:spPr>
          <a:xfrm>
            <a:off x="7983010" y="3760646"/>
            <a:ext cx="228600" cy="9525"/>
          </a:xfrm>
          <a:prstGeom prst="rect">
            <a:avLst/>
          </a:prstGeom>
          <a:solidFill>
            <a:srgbClr val="8A8F99"/>
          </a:solidFill>
          <a:ln>
            <a:solidFill>
              <a:srgbClr val="8A8F99"/>
            </a:solidFill>
          </a:ln>
        </p:spPr>
        <p:txBody>
          <a:bodyPr/>
          <a:lstStyle/>
          <a:p>
            <a:endParaRPr lang="fr-CA" dirty="0"/>
          </a:p>
        </p:txBody>
      </p:sp>
    </p:spTree>
    <p:extLst>
      <p:ext uri="{BB962C8B-B14F-4D97-AF65-F5344CB8AC3E}">
        <p14:creationId xmlns:p14="http://schemas.microsoft.com/office/powerpoint/2010/main" val="656130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655CB-27A9-79D2-DD08-BBBCA2EBCC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5C666B-88DF-8EA7-2466-6602340BB724}"/>
              </a:ext>
            </a:extLst>
          </p:cNvPr>
          <p:cNvSpPr>
            <a:spLocks noGrp="1"/>
          </p:cNvSpPr>
          <p:nvPr>
            <p:ph type="title"/>
          </p:nvPr>
        </p:nvSpPr>
        <p:spPr/>
        <p:txBody>
          <a:bodyPr>
            <a:normAutofit fontScale="90000"/>
          </a:bodyPr>
          <a:lstStyle/>
          <a:p>
            <a:r>
              <a:rPr lang="fr-CA" dirty="0"/>
              <a:t>Aperçu du produit</a:t>
            </a:r>
          </a:p>
        </p:txBody>
      </p:sp>
      <p:graphicFrame>
        <p:nvGraphicFramePr>
          <p:cNvPr id="3" name="Diagramme 2">
            <a:extLst>
              <a:ext uri="{FF2B5EF4-FFF2-40B4-BE49-F238E27FC236}">
                <a16:creationId xmlns:a16="http://schemas.microsoft.com/office/drawing/2014/main" id="{5CDA7F00-A643-F446-254B-3EFF9FF196EF}"/>
              </a:ext>
            </a:extLst>
          </p:cNvPr>
          <p:cNvGraphicFramePr/>
          <p:nvPr>
            <p:extLst>
              <p:ext uri="{D42A27DB-BD31-4B8C-83A1-F6EECF244321}">
                <p14:modId xmlns:p14="http://schemas.microsoft.com/office/powerpoint/2010/main" val="3515963778"/>
              </p:ext>
            </p:extLst>
          </p:nvPr>
        </p:nvGraphicFramePr>
        <p:xfrm>
          <a:off x="59191" y="1545613"/>
          <a:ext cx="12073618" cy="4012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 11">
            <a:extLst>
              <a:ext uri="{FF2B5EF4-FFF2-40B4-BE49-F238E27FC236}">
                <a16:creationId xmlns:a16="http://schemas.microsoft.com/office/drawing/2014/main" id="{EEAD852B-2B97-3198-A2F2-5398353B89AF}"/>
              </a:ext>
            </a:extLst>
          </p:cNvPr>
          <p:cNvSpPr/>
          <p:nvPr/>
        </p:nvSpPr>
        <p:spPr>
          <a:xfrm>
            <a:off x="1841092" y="1824107"/>
            <a:ext cx="4198438" cy="331804"/>
          </a:xfrm>
          <a:prstGeom prst="rect">
            <a:avLst/>
          </a:prstGeom>
          <a:noFill/>
          <a:ln/>
        </p:spPr>
        <p:txBody>
          <a:bodyPr wrap="square" lIns="25400" tIns="25400" rIns="25400" bIns="25400" rtlCol="0" anchor="t">
            <a:normAutofit/>
          </a:bodyPr>
          <a:lstStyle/>
          <a:p>
            <a:pPr marL="0" indent="0" algn="l">
              <a:buNone/>
            </a:pPr>
            <a:r>
              <a:rPr lang="en-US" sz="1600" b="1" kern="0" spc="210" dirty="0">
                <a:solidFill>
                  <a:srgbClr val="1A1D24"/>
                </a:solidFill>
                <a:latin typeface="Aptos" panose="020B0004020202020204" pitchFamily="34" charset="0"/>
                <a:ea typeface="JetBrains Mono" pitchFamily="34" charset="-122"/>
                <a:cs typeface="JetBrains Mono" pitchFamily="34" charset="-120"/>
              </a:rPr>
              <a:t>LE QUOI</a:t>
            </a:r>
            <a:endParaRPr lang="en-US" sz="1600" b="1" dirty="0">
              <a:solidFill>
                <a:srgbClr val="1A1D24"/>
              </a:solidFill>
              <a:latin typeface="Aptos" panose="020B0004020202020204" pitchFamily="34" charset="0"/>
            </a:endParaRPr>
          </a:p>
        </p:txBody>
      </p:sp>
      <p:sp>
        <p:nvSpPr>
          <p:cNvPr id="6" name="Text 11">
            <a:extLst>
              <a:ext uri="{FF2B5EF4-FFF2-40B4-BE49-F238E27FC236}">
                <a16:creationId xmlns:a16="http://schemas.microsoft.com/office/drawing/2014/main" id="{C9E2FFF8-17E6-D899-59E8-04C615B12FB3}"/>
              </a:ext>
            </a:extLst>
          </p:cNvPr>
          <p:cNvSpPr/>
          <p:nvPr/>
        </p:nvSpPr>
        <p:spPr>
          <a:xfrm>
            <a:off x="7565617" y="1824107"/>
            <a:ext cx="4198438" cy="331804"/>
          </a:xfrm>
          <a:prstGeom prst="rect">
            <a:avLst/>
          </a:prstGeom>
          <a:noFill/>
          <a:ln/>
        </p:spPr>
        <p:txBody>
          <a:bodyPr wrap="square" lIns="25400" tIns="25400" rIns="25400" bIns="25400" rtlCol="0" anchor="t">
            <a:normAutofit/>
          </a:bodyPr>
          <a:lstStyle/>
          <a:p>
            <a:pPr marL="0" indent="0" algn="l">
              <a:buNone/>
            </a:pPr>
            <a:r>
              <a:rPr lang="en-US" sz="1600" b="1" kern="0" spc="210" dirty="0">
                <a:solidFill>
                  <a:srgbClr val="1A1D24"/>
                </a:solidFill>
                <a:latin typeface="Aptos" panose="020B0004020202020204" pitchFamily="34" charset="0"/>
                <a:ea typeface="JetBrains Mono" pitchFamily="34" charset="-122"/>
                <a:cs typeface="JetBrains Mono" pitchFamily="34" charset="-120"/>
              </a:rPr>
              <a:t>LE POURQUOI</a:t>
            </a:r>
            <a:endParaRPr lang="en-US" sz="1600" b="1" dirty="0">
              <a:solidFill>
                <a:srgbClr val="1A1D24"/>
              </a:solidFill>
              <a:latin typeface="Aptos" panose="020B0004020202020204" pitchFamily="34" charset="0"/>
            </a:endParaRPr>
          </a:p>
        </p:txBody>
      </p:sp>
      <p:sp>
        <p:nvSpPr>
          <p:cNvPr id="7" name="Text 11">
            <a:extLst>
              <a:ext uri="{FF2B5EF4-FFF2-40B4-BE49-F238E27FC236}">
                <a16:creationId xmlns:a16="http://schemas.microsoft.com/office/drawing/2014/main" id="{BC2E077B-C143-7918-F026-14DC0401C9C2}"/>
              </a:ext>
            </a:extLst>
          </p:cNvPr>
          <p:cNvSpPr/>
          <p:nvPr/>
        </p:nvSpPr>
        <p:spPr>
          <a:xfrm>
            <a:off x="4650967" y="3957707"/>
            <a:ext cx="4198438" cy="331804"/>
          </a:xfrm>
          <a:prstGeom prst="rect">
            <a:avLst/>
          </a:prstGeom>
          <a:noFill/>
          <a:ln/>
        </p:spPr>
        <p:txBody>
          <a:bodyPr wrap="square" lIns="25400" tIns="25400" rIns="25400" bIns="25400" rtlCol="0" anchor="t">
            <a:normAutofit/>
          </a:bodyPr>
          <a:lstStyle/>
          <a:p>
            <a:pPr marL="0" indent="0" algn="l">
              <a:buNone/>
            </a:pPr>
            <a:r>
              <a:rPr lang="en-US" sz="1600" b="1" kern="0" spc="210" dirty="0">
                <a:solidFill>
                  <a:srgbClr val="1A1D24"/>
                </a:solidFill>
                <a:latin typeface="Aptos" panose="020B0004020202020204" pitchFamily="34" charset="0"/>
                <a:ea typeface="JetBrains Mono" pitchFamily="34" charset="-122"/>
                <a:cs typeface="JetBrains Mono" pitchFamily="34" charset="-120"/>
              </a:rPr>
              <a:t>LE COMMENT</a:t>
            </a:r>
            <a:endParaRPr lang="en-US" sz="1600" b="1" dirty="0">
              <a:solidFill>
                <a:srgbClr val="1A1D24"/>
              </a:solidFill>
              <a:latin typeface="Aptos" panose="020B0004020202020204" pitchFamily="34" charset="0"/>
            </a:endParaRPr>
          </a:p>
        </p:txBody>
      </p:sp>
    </p:spTree>
    <p:extLst>
      <p:ext uri="{BB962C8B-B14F-4D97-AF65-F5344CB8AC3E}">
        <p14:creationId xmlns:p14="http://schemas.microsoft.com/office/powerpoint/2010/main" val="3651905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75F8AB-7338-75AE-B009-7C23C24FF724}"/>
              </a:ext>
            </a:extLst>
          </p:cNvPr>
          <p:cNvSpPr>
            <a:spLocks noGrp="1"/>
          </p:cNvSpPr>
          <p:nvPr>
            <p:ph type="title"/>
          </p:nvPr>
        </p:nvSpPr>
        <p:spPr/>
        <p:txBody>
          <a:bodyPr>
            <a:normAutofit fontScale="90000"/>
          </a:bodyPr>
          <a:lstStyle/>
          <a:p>
            <a:r>
              <a:rPr lang="fr-CA" dirty="0"/>
              <a:t>Exemple d’orchestration d’un processus</a:t>
            </a:r>
          </a:p>
        </p:txBody>
      </p:sp>
      <p:sp>
        <p:nvSpPr>
          <p:cNvPr id="4" name="Text 4">
            <a:extLst>
              <a:ext uri="{FF2B5EF4-FFF2-40B4-BE49-F238E27FC236}">
                <a16:creationId xmlns:a16="http://schemas.microsoft.com/office/drawing/2014/main" id="{46A0D071-5257-8546-E6A3-12089D79BF94}"/>
              </a:ext>
            </a:extLst>
          </p:cNvPr>
          <p:cNvSpPr/>
          <p:nvPr/>
        </p:nvSpPr>
        <p:spPr>
          <a:xfrm>
            <a:off x="947267" y="1366998"/>
            <a:ext cx="4828908" cy="361322"/>
          </a:xfrm>
          <a:prstGeom prst="rect">
            <a:avLst/>
          </a:prstGeom>
          <a:noFill/>
          <a:ln/>
        </p:spPr>
        <p:txBody>
          <a:bodyPr wrap="square" lIns="25400" tIns="25400" rIns="25400" bIns="25400" rtlCol="0" anchor="t">
            <a:normAutofit fontScale="77500" lnSpcReduction="20000"/>
          </a:bodyPr>
          <a:lstStyle/>
          <a:p>
            <a:pPr marL="0" indent="0" algn="l">
              <a:buNone/>
            </a:pPr>
            <a:r>
              <a:rPr lang="en-US" sz="2000" b="1" i="1" dirty="0">
                <a:ln w="0"/>
                <a:solidFill>
                  <a:srgbClr val="215093"/>
                </a:solidFill>
                <a:effectLst>
                  <a:outerShdw blurRad="38100" dist="19050" dir="2700000" algn="tl" rotWithShape="0">
                    <a:schemeClr val="dk1">
                      <a:alpha val="40000"/>
                    </a:schemeClr>
                  </a:outerShdw>
                </a:effectLst>
                <a:latin typeface="Aptos" panose="020B0004020202020204" pitchFamily="34" charset="0"/>
              </a:rPr>
              <a:t>CAS CONCRET – PRISE DE RENDEZ-VOUS EN LIGNE</a:t>
            </a:r>
          </a:p>
        </p:txBody>
      </p:sp>
      <p:grpSp>
        <p:nvGrpSpPr>
          <p:cNvPr id="5" name="Groupe 4">
            <a:extLst>
              <a:ext uri="{FF2B5EF4-FFF2-40B4-BE49-F238E27FC236}">
                <a16:creationId xmlns:a16="http://schemas.microsoft.com/office/drawing/2014/main" id="{5D28A733-6EEA-E914-F1AE-0B21375DAEB4}"/>
              </a:ext>
            </a:extLst>
          </p:cNvPr>
          <p:cNvGrpSpPr/>
          <p:nvPr/>
        </p:nvGrpSpPr>
        <p:grpSpPr>
          <a:xfrm>
            <a:off x="967363" y="1959522"/>
            <a:ext cx="10799257" cy="3768042"/>
            <a:chOff x="1047750" y="4099620"/>
            <a:chExt cx="16192500" cy="4146404"/>
          </a:xfrm>
        </p:grpSpPr>
        <p:sp>
          <p:nvSpPr>
            <p:cNvPr id="6" name="Shape 6">
              <a:extLst>
                <a:ext uri="{FF2B5EF4-FFF2-40B4-BE49-F238E27FC236}">
                  <a16:creationId xmlns:a16="http://schemas.microsoft.com/office/drawing/2014/main" id="{315725DC-C0E8-D8C4-1066-76A2D4C923F0}"/>
                </a:ext>
              </a:extLst>
            </p:cNvPr>
            <p:cNvSpPr/>
            <p:nvPr/>
          </p:nvSpPr>
          <p:spPr>
            <a:xfrm>
              <a:off x="1047750" y="4099620"/>
              <a:ext cx="3101280" cy="1569541"/>
            </a:xfrm>
            <a:prstGeom prst="rect">
              <a:avLst/>
            </a:prstGeom>
            <a:solidFill>
              <a:srgbClr val="FFFFFF"/>
            </a:solidFill>
            <a:ln w="9525">
              <a:solidFill>
                <a:schemeClr val="tx1"/>
              </a:solidFill>
              <a:prstDash val="solid"/>
            </a:ln>
          </p:spPr>
          <p:txBody>
            <a:bodyPr/>
            <a:lstStyle/>
            <a:p>
              <a:endParaRPr lang="fr-CA">
                <a:solidFill>
                  <a:srgbClr val="1A1D24"/>
                </a:solidFill>
                <a:latin typeface="Aptos" panose="020B0004020202020204" pitchFamily="34" charset="0"/>
              </a:endParaRPr>
            </a:p>
          </p:txBody>
        </p:sp>
        <p:sp>
          <p:nvSpPr>
            <p:cNvPr id="7" name="Text 7">
              <a:extLst>
                <a:ext uri="{FF2B5EF4-FFF2-40B4-BE49-F238E27FC236}">
                  <a16:creationId xmlns:a16="http://schemas.microsoft.com/office/drawing/2014/main" id="{E7DCC7D0-765F-3CB3-FE47-9D0D16D145C6}"/>
                </a:ext>
              </a:extLst>
            </p:cNvPr>
            <p:cNvSpPr/>
            <p:nvPr/>
          </p:nvSpPr>
          <p:spPr>
            <a:xfrm>
              <a:off x="1285875" y="4375845"/>
              <a:ext cx="270378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975" kern="0" spc="156" dirty="0">
                  <a:solidFill>
                    <a:srgbClr val="1A1D24"/>
                  </a:solidFill>
                  <a:latin typeface="Aptos" panose="020B0004020202020204" pitchFamily="34" charset="0"/>
                  <a:ea typeface="JetBrains Mono" pitchFamily="34" charset="-122"/>
                  <a:cs typeface="JetBrains Mono" pitchFamily="34" charset="-120"/>
                </a:rPr>
                <a:t>01</a:t>
              </a:r>
              <a:endParaRPr lang="en-US" sz="975" dirty="0">
                <a:solidFill>
                  <a:srgbClr val="1A1D24"/>
                </a:solidFill>
                <a:latin typeface="Aptos" panose="020B0004020202020204" pitchFamily="34" charset="0"/>
              </a:endParaRPr>
            </a:p>
          </p:txBody>
        </p:sp>
        <p:sp>
          <p:nvSpPr>
            <p:cNvPr id="8" name="Text 8">
              <a:extLst>
                <a:ext uri="{FF2B5EF4-FFF2-40B4-BE49-F238E27FC236}">
                  <a16:creationId xmlns:a16="http://schemas.microsoft.com/office/drawing/2014/main" id="{89EF3C8E-4AB5-559C-3BE6-A94B8F2DA691}"/>
                </a:ext>
              </a:extLst>
            </p:cNvPr>
            <p:cNvSpPr/>
            <p:nvPr/>
          </p:nvSpPr>
          <p:spPr>
            <a:xfrm>
              <a:off x="1285876" y="4633020"/>
              <a:ext cx="2703780" cy="540841"/>
            </a:xfrm>
            <a:prstGeom prst="rect">
              <a:avLst/>
            </a:prstGeom>
            <a:noFill/>
            <a:ln/>
          </p:spPr>
          <p:txBody>
            <a:bodyPr wrap="square" lIns="25400" tIns="25400" rIns="25400" bIns="25400" rtlCol="0" anchor="t">
              <a:normAutofit/>
            </a:bodyPr>
            <a:lstStyle/>
            <a:p>
              <a:pPr marL="0" indent="0" algn="l">
                <a:lnSpc>
                  <a:spcPct val="120000"/>
                </a:lnSpc>
                <a:buNone/>
              </a:pPr>
              <a:r>
                <a:rPr lang="en-US" sz="1650" b="1" dirty="0" err="1">
                  <a:solidFill>
                    <a:srgbClr val="1A1D24"/>
                  </a:solidFill>
                  <a:latin typeface="Aptos" panose="020B0004020202020204" pitchFamily="34" charset="0"/>
                  <a:ea typeface="-apple-system" pitchFamily="34" charset="-122"/>
                  <a:cs typeface="-apple-system" pitchFamily="34" charset="-120"/>
                </a:rPr>
                <a:t>Demande</a:t>
              </a:r>
              <a:r>
                <a:rPr lang="en-US" sz="1650" b="1" dirty="0">
                  <a:solidFill>
                    <a:srgbClr val="1A1D24"/>
                  </a:solidFill>
                  <a:latin typeface="Aptos" panose="020B0004020202020204" pitchFamily="34" charset="0"/>
                  <a:ea typeface="-apple-system" pitchFamily="34" charset="-122"/>
                  <a:cs typeface="-apple-system" pitchFamily="34" charset="-120"/>
                </a:rPr>
                <a:t> </a:t>
              </a:r>
              <a:r>
                <a:rPr lang="en-US" sz="1650" b="1" dirty="0" err="1">
                  <a:solidFill>
                    <a:srgbClr val="1A1D24"/>
                  </a:solidFill>
                  <a:latin typeface="Aptos" panose="020B0004020202020204" pitchFamily="34" charset="0"/>
                  <a:ea typeface="-apple-system" pitchFamily="34" charset="-122"/>
                  <a:cs typeface="-apple-system" pitchFamily="34" charset="-120"/>
                </a:rPr>
                <a:t>citoyen</a:t>
              </a:r>
              <a:endParaRPr lang="en-US" sz="1650" dirty="0">
                <a:solidFill>
                  <a:srgbClr val="1A1D24"/>
                </a:solidFill>
                <a:latin typeface="Aptos" panose="020B0004020202020204" pitchFamily="34" charset="0"/>
              </a:endParaRPr>
            </a:p>
          </p:txBody>
        </p:sp>
        <p:sp>
          <p:nvSpPr>
            <p:cNvPr id="9" name="Text 9">
              <a:extLst>
                <a:ext uri="{FF2B5EF4-FFF2-40B4-BE49-F238E27FC236}">
                  <a16:creationId xmlns:a16="http://schemas.microsoft.com/office/drawing/2014/main" id="{4642DD16-CB12-ABC7-C031-D58036E8C711}"/>
                </a:ext>
              </a:extLst>
            </p:cNvPr>
            <p:cNvSpPr/>
            <p:nvPr/>
          </p:nvSpPr>
          <p:spPr>
            <a:xfrm>
              <a:off x="1285875" y="5231011"/>
              <a:ext cx="270378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000" dirty="0">
                  <a:solidFill>
                    <a:srgbClr val="1A1D24"/>
                  </a:solidFill>
                  <a:latin typeface="Aptos" panose="020B0004020202020204" pitchFamily="34" charset="0"/>
                  <a:ea typeface="JetBrains Mono" pitchFamily="34" charset="-122"/>
                  <a:cs typeface="JetBrains Mono" pitchFamily="34" charset="-120"/>
                </a:rPr>
                <a:t>↳ Formulaire</a:t>
              </a:r>
              <a:endParaRPr lang="en-US" sz="1000" dirty="0">
                <a:solidFill>
                  <a:srgbClr val="1A1D24"/>
                </a:solidFill>
                <a:latin typeface="Aptos" panose="020B0004020202020204" pitchFamily="34" charset="0"/>
              </a:endParaRPr>
            </a:p>
          </p:txBody>
        </p:sp>
        <p:sp>
          <p:nvSpPr>
            <p:cNvPr id="10" name="Shape 10">
              <a:extLst>
                <a:ext uri="{FF2B5EF4-FFF2-40B4-BE49-F238E27FC236}">
                  <a16:creationId xmlns:a16="http://schemas.microsoft.com/office/drawing/2014/main" id="{30E4BDAB-19D0-04B1-A315-0CA7C83426EB}"/>
                </a:ext>
              </a:extLst>
            </p:cNvPr>
            <p:cNvSpPr/>
            <p:nvPr/>
          </p:nvSpPr>
          <p:spPr>
            <a:xfrm>
              <a:off x="4320480" y="4099620"/>
              <a:ext cx="3101280" cy="1569541"/>
            </a:xfrm>
            <a:prstGeom prst="rect">
              <a:avLst/>
            </a:prstGeom>
            <a:solidFill>
              <a:srgbClr val="FFFFFF"/>
            </a:solidFill>
            <a:ln w="9525">
              <a:solidFill>
                <a:schemeClr val="tx1"/>
              </a:solidFill>
              <a:prstDash val="solid"/>
            </a:ln>
          </p:spPr>
          <p:txBody>
            <a:bodyPr/>
            <a:lstStyle/>
            <a:p>
              <a:endParaRPr lang="fr-CA">
                <a:solidFill>
                  <a:srgbClr val="1A1D24"/>
                </a:solidFill>
                <a:latin typeface="Aptos" panose="020B0004020202020204" pitchFamily="34" charset="0"/>
              </a:endParaRPr>
            </a:p>
          </p:txBody>
        </p:sp>
        <p:sp>
          <p:nvSpPr>
            <p:cNvPr id="11" name="Text 11">
              <a:extLst>
                <a:ext uri="{FF2B5EF4-FFF2-40B4-BE49-F238E27FC236}">
                  <a16:creationId xmlns:a16="http://schemas.microsoft.com/office/drawing/2014/main" id="{6B4DA8AF-95FA-2F03-5D3B-D5FB3C91DA22}"/>
                </a:ext>
              </a:extLst>
            </p:cNvPr>
            <p:cNvSpPr/>
            <p:nvPr/>
          </p:nvSpPr>
          <p:spPr>
            <a:xfrm>
              <a:off x="4558605" y="4375845"/>
              <a:ext cx="270378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975" kern="0" spc="156" dirty="0">
                  <a:solidFill>
                    <a:srgbClr val="1A1D24"/>
                  </a:solidFill>
                  <a:latin typeface="Aptos" panose="020B0004020202020204" pitchFamily="34" charset="0"/>
                  <a:ea typeface="JetBrains Mono" pitchFamily="34" charset="-122"/>
                  <a:cs typeface="JetBrains Mono" pitchFamily="34" charset="-120"/>
                </a:rPr>
                <a:t>02</a:t>
              </a:r>
              <a:endParaRPr lang="en-US" sz="975" dirty="0">
                <a:solidFill>
                  <a:srgbClr val="1A1D24"/>
                </a:solidFill>
                <a:latin typeface="Aptos" panose="020B0004020202020204" pitchFamily="34" charset="0"/>
              </a:endParaRPr>
            </a:p>
          </p:txBody>
        </p:sp>
        <p:sp>
          <p:nvSpPr>
            <p:cNvPr id="12" name="Text 12">
              <a:extLst>
                <a:ext uri="{FF2B5EF4-FFF2-40B4-BE49-F238E27FC236}">
                  <a16:creationId xmlns:a16="http://schemas.microsoft.com/office/drawing/2014/main" id="{3F5870BF-BF0B-71C4-2A60-4F4ED3AF533A}"/>
                </a:ext>
              </a:extLst>
            </p:cNvPr>
            <p:cNvSpPr/>
            <p:nvPr/>
          </p:nvSpPr>
          <p:spPr>
            <a:xfrm>
              <a:off x="4558605" y="4633020"/>
              <a:ext cx="2703780" cy="540841"/>
            </a:xfrm>
            <a:prstGeom prst="rect">
              <a:avLst/>
            </a:prstGeom>
            <a:noFill/>
            <a:ln/>
          </p:spPr>
          <p:txBody>
            <a:bodyPr wrap="square" lIns="25400" tIns="25400" rIns="25400" bIns="25400" rtlCol="0" anchor="t">
              <a:normAutofit fontScale="85000" lnSpcReduction="20000"/>
            </a:bodyPr>
            <a:lstStyle/>
            <a:p>
              <a:pPr marL="0" indent="0" algn="l">
                <a:lnSpc>
                  <a:spcPct val="120000"/>
                </a:lnSpc>
                <a:buNone/>
              </a:pPr>
              <a:r>
                <a:rPr lang="en-US" sz="1650" b="1" dirty="0">
                  <a:solidFill>
                    <a:srgbClr val="1A1D24"/>
                  </a:solidFill>
                  <a:latin typeface="Aptos" panose="020B0004020202020204" pitchFamily="34" charset="0"/>
                  <a:ea typeface="-apple-system" pitchFamily="34" charset="-122"/>
                  <a:cs typeface="-apple-system" pitchFamily="34" charset="-120"/>
                </a:rPr>
                <a:t>Vérification admissibilité</a:t>
              </a:r>
              <a:endParaRPr lang="en-US" sz="1650" dirty="0">
                <a:solidFill>
                  <a:srgbClr val="1A1D24"/>
                </a:solidFill>
                <a:latin typeface="Aptos" panose="020B0004020202020204" pitchFamily="34" charset="0"/>
              </a:endParaRPr>
            </a:p>
          </p:txBody>
        </p:sp>
        <p:sp>
          <p:nvSpPr>
            <p:cNvPr id="13" name="Text 13">
              <a:extLst>
                <a:ext uri="{FF2B5EF4-FFF2-40B4-BE49-F238E27FC236}">
                  <a16:creationId xmlns:a16="http://schemas.microsoft.com/office/drawing/2014/main" id="{B488A55F-5E27-0750-574C-305BE8FAB1A1}"/>
                </a:ext>
              </a:extLst>
            </p:cNvPr>
            <p:cNvSpPr/>
            <p:nvPr/>
          </p:nvSpPr>
          <p:spPr>
            <a:xfrm>
              <a:off x="4558605" y="5231011"/>
              <a:ext cx="270378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975" dirty="0">
                  <a:solidFill>
                    <a:srgbClr val="1A1D24"/>
                  </a:solidFill>
                  <a:latin typeface="Aptos" panose="020B0004020202020204" pitchFamily="34" charset="0"/>
                  <a:ea typeface="JetBrains Mono" pitchFamily="34" charset="-122"/>
                  <a:cs typeface="JetBrains Mono" pitchFamily="34" charset="-120"/>
                </a:rPr>
                <a:t>↳ Système A</a:t>
              </a:r>
              <a:endParaRPr lang="en-US" sz="975" dirty="0">
                <a:solidFill>
                  <a:srgbClr val="1A1D24"/>
                </a:solidFill>
                <a:latin typeface="Aptos" panose="020B0004020202020204" pitchFamily="34" charset="0"/>
              </a:endParaRPr>
            </a:p>
          </p:txBody>
        </p:sp>
        <p:sp>
          <p:nvSpPr>
            <p:cNvPr id="14" name="Shape 14">
              <a:extLst>
                <a:ext uri="{FF2B5EF4-FFF2-40B4-BE49-F238E27FC236}">
                  <a16:creationId xmlns:a16="http://schemas.microsoft.com/office/drawing/2014/main" id="{676C103A-AEC5-BD30-3EF7-1683793C84D1}"/>
                </a:ext>
              </a:extLst>
            </p:cNvPr>
            <p:cNvSpPr/>
            <p:nvPr/>
          </p:nvSpPr>
          <p:spPr>
            <a:xfrm>
              <a:off x="7593211" y="4099620"/>
              <a:ext cx="3101429" cy="1569541"/>
            </a:xfrm>
            <a:prstGeom prst="rect">
              <a:avLst/>
            </a:prstGeom>
            <a:solidFill>
              <a:srgbClr val="FFFFFF"/>
            </a:solidFill>
            <a:ln w="9525">
              <a:solidFill>
                <a:schemeClr val="tx1"/>
              </a:solidFill>
              <a:prstDash val="solid"/>
            </a:ln>
          </p:spPr>
          <p:txBody>
            <a:bodyPr/>
            <a:lstStyle/>
            <a:p>
              <a:endParaRPr lang="fr-CA">
                <a:solidFill>
                  <a:srgbClr val="1A1D24"/>
                </a:solidFill>
                <a:latin typeface="Aptos" panose="020B0004020202020204" pitchFamily="34" charset="0"/>
              </a:endParaRPr>
            </a:p>
          </p:txBody>
        </p:sp>
        <p:sp>
          <p:nvSpPr>
            <p:cNvPr id="15" name="Text 15">
              <a:extLst>
                <a:ext uri="{FF2B5EF4-FFF2-40B4-BE49-F238E27FC236}">
                  <a16:creationId xmlns:a16="http://schemas.microsoft.com/office/drawing/2014/main" id="{AAE1E433-12EA-2744-FF0B-E8F8711C7F17}"/>
                </a:ext>
              </a:extLst>
            </p:cNvPr>
            <p:cNvSpPr/>
            <p:nvPr/>
          </p:nvSpPr>
          <p:spPr>
            <a:xfrm>
              <a:off x="7831336" y="4375845"/>
              <a:ext cx="2703935" cy="200025"/>
            </a:xfrm>
            <a:prstGeom prst="rect">
              <a:avLst/>
            </a:prstGeom>
            <a:noFill/>
            <a:ln/>
          </p:spPr>
          <p:txBody>
            <a:bodyPr wrap="square" lIns="25400" tIns="25400" rIns="25400" bIns="25400" rtlCol="0" anchor="t">
              <a:normAutofit fontScale="92500" lnSpcReduction="10000"/>
            </a:bodyPr>
            <a:lstStyle/>
            <a:p>
              <a:pPr marL="0" indent="0" algn="l">
                <a:buNone/>
              </a:pPr>
              <a:r>
                <a:rPr lang="en-US" sz="975" kern="0" spc="156" dirty="0">
                  <a:solidFill>
                    <a:srgbClr val="1A1D24"/>
                  </a:solidFill>
                  <a:latin typeface="Aptos" panose="020B0004020202020204" pitchFamily="34" charset="0"/>
                  <a:ea typeface="JetBrains Mono" pitchFamily="34" charset="-122"/>
                  <a:cs typeface="JetBrains Mono" pitchFamily="34" charset="-120"/>
                </a:rPr>
                <a:t>03</a:t>
              </a:r>
              <a:endParaRPr lang="en-US" sz="975" dirty="0">
                <a:solidFill>
                  <a:srgbClr val="1A1D24"/>
                </a:solidFill>
                <a:latin typeface="Aptos" panose="020B0004020202020204" pitchFamily="34" charset="0"/>
              </a:endParaRPr>
            </a:p>
          </p:txBody>
        </p:sp>
        <p:sp>
          <p:nvSpPr>
            <p:cNvPr id="16" name="Text 16">
              <a:extLst>
                <a:ext uri="{FF2B5EF4-FFF2-40B4-BE49-F238E27FC236}">
                  <a16:creationId xmlns:a16="http://schemas.microsoft.com/office/drawing/2014/main" id="{A9915A53-8AF9-1401-A6F3-2E92069D8D06}"/>
                </a:ext>
              </a:extLst>
            </p:cNvPr>
            <p:cNvSpPr/>
            <p:nvPr/>
          </p:nvSpPr>
          <p:spPr>
            <a:xfrm>
              <a:off x="7831336" y="4633020"/>
              <a:ext cx="2703935" cy="540841"/>
            </a:xfrm>
            <a:prstGeom prst="rect">
              <a:avLst/>
            </a:prstGeom>
            <a:noFill/>
            <a:ln/>
          </p:spPr>
          <p:txBody>
            <a:bodyPr wrap="square" lIns="25400" tIns="25400" rIns="25400" bIns="25400" rtlCol="0" anchor="t">
              <a:normAutofit fontScale="85000" lnSpcReduction="20000"/>
            </a:bodyPr>
            <a:lstStyle/>
            <a:p>
              <a:pPr marL="0" indent="0" algn="l">
                <a:lnSpc>
                  <a:spcPct val="120000"/>
                </a:lnSpc>
                <a:buNone/>
              </a:pPr>
              <a:r>
                <a:rPr lang="en-US" sz="1650" b="1" dirty="0">
                  <a:solidFill>
                    <a:srgbClr val="1A1D24"/>
                  </a:solidFill>
                  <a:latin typeface="Aptos" panose="020B0004020202020204" pitchFamily="34" charset="0"/>
                  <a:ea typeface="-apple-system" pitchFamily="34" charset="-122"/>
                  <a:cs typeface="-apple-system" pitchFamily="34" charset="-120"/>
                </a:rPr>
                <a:t>Réservation d'une plage</a:t>
              </a:r>
              <a:endParaRPr lang="en-US" sz="1650" dirty="0">
                <a:solidFill>
                  <a:srgbClr val="1A1D24"/>
                </a:solidFill>
                <a:latin typeface="Aptos" panose="020B0004020202020204" pitchFamily="34" charset="0"/>
              </a:endParaRPr>
            </a:p>
          </p:txBody>
        </p:sp>
        <p:sp>
          <p:nvSpPr>
            <p:cNvPr id="17" name="Text 17">
              <a:extLst>
                <a:ext uri="{FF2B5EF4-FFF2-40B4-BE49-F238E27FC236}">
                  <a16:creationId xmlns:a16="http://schemas.microsoft.com/office/drawing/2014/main" id="{23D66737-FBB3-87AD-C3D3-156743064219}"/>
                </a:ext>
              </a:extLst>
            </p:cNvPr>
            <p:cNvSpPr/>
            <p:nvPr/>
          </p:nvSpPr>
          <p:spPr>
            <a:xfrm>
              <a:off x="7831336" y="5231011"/>
              <a:ext cx="2703935" cy="200025"/>
            </a:xfrm>
            <a:prstGeom prst="rect">
              <a:avLst/>
            </a:prstGeom>
            <a:noFill/>
            <a:ln/>
          </p:spPr>
          <p:txBody>
            <a:bodyPr wrap="square" lIns="25400" tIns="25400" rIns="25400" bIns="25400" rtlCol="0" anchor="t">
              <a:normAutofit fontScale="92500" lnSpcReduction="10000"/>
            </a:bodyPr>
            <a:lstStyle/>
            <a:p>
              <a:pPr marL="0" indent="0" algn="l">
                <a:buNone/>
              </a:pPr>
              <a:r>
                <a:rPr lang="en-US" sz="975" dirty="0">
                  <a:solidFill>
                    <a:srgbClr val="1A1D24"/>
                  </a:solidFill>
                  <a:latin typeface="Aptos" panose="020B0004020202020204" pitchFamily="34" charset="0"/>
                  <a:ea typeface="JetBrains Mono" pitchFamily="34" charset="-122"/>
                  <a:cs typeface="JetBrains Mono" pitchFamily="34" charset="-120"/>
                </a:rPr>
                <a:t>↳ Système B</a:t>
              </a:r>
              <a:endParaRPr lang="en-US" sz="975" dirty="0">
                <a:solidFill>
                  <a:srgbClr val="1A1D24"/>
                </a:solidFill>
                <a:latin typeface="Aptos" panose="020B0004020202020204" pitchFamily="34" charset="0"/>
              </a:endParaRPr>
            </a:p>
          </p:txBody>
        </p:sp>
        <p:sp>
          <p:nvSpPr>
            <p:cNvPr id="18" name="Shape 18">
              <a:extLst>
                <a:ext uri="{FF2B5EF4-FFF2-40B4-BE49-F238E27FC236}">
                  <a16:creationId xmlns:a16="http://schemas.microsoft.com/office/drawing/2014/main" id="{227F613C-2C23-75C0-F894-F8B194E463C6}"/>
                </a:ext>
              </a:extLst>
            </p:cNvPr>
            <p:cNvSpPr/>
            <p:nvPr/>
          </p:nvSpPr>
          <p:spPr>
            <a:xfrm>
              <a:off x="10866090" y="4099620"/>
              <a:ext cx="3101280" cy="1569541"/>
            </a:xfrm>
            <a:prstGeom prst="rect">
              <a:avLst/>
            </a:prstGeom>
            <a:solidFill>
              <a:srgbClr val="FFFFFF"/>
            </a:solidFill>
            <a:ln w="9525">
              <a:solidFill>
                <a:schemeClr val="tx1"/>
              </a:solidFill>
              <a:prstDash val="solid"/>
            </a:ln>
          </p:spPr>
          <p:txBody>
            <a:bodyPr/>
            <a:lstStyle/>
            <a:p>
              <a:endParaRPr lang="fr-CA">
                <a:solidFill>
                  <a:srgbClr val="1A1D24"/>
                </a:solidFill>
                <a:latin typeface="Aptos" panose="020B0004020202020204" pitchFamily="34" charset="0"/>
              </a:endParaRPr>
            </a:p>
          </p:txBody>
        </p:sp>
        <p:sp>
          <p:nvSpPr>
            <p:cNvPr id="19" name="Text 19">
              <a:extLst>
                <a:ext uri="{FF2B5EF4-FFF2-40B4-BE49-F238E27FC236}">
                  <a16:creationId xmlns:a16="http://schemas.microsoft.com/office/drawing/2014/main" id="{2A4E5960-DD27-F0D7-0DBC-EA1A45EA3B87}"/>
                </a:ext>
              </a:extLst>
            </p:cNvPr>
            <p:cNvSpPr/>
            <p:nvPr/>
          </p:nvSpPr>
          <p:spPr>
            <a:xfrm>
              <a:off x="11104215" y="4375845"/>
              <a:ext cx="270378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975" kern="0" spc="156" dirty="0">
                  <a:solidFill>
                    <a:srgbClr val="1A1D24"/>
                  </a:solidFill>
                  <a:latin typeface="Aptos" panose="020B0004020202020204" pitchFamily="34" charset="0"/>
                  <a:ea typeface="JetBrains Mono" pitchFamily="34" charset="-122"/>
                  <a:cs typeface="JetBrains Mono" pitchFamily="34" charset="-120"/>
                </a:rPr>
                <a:t>04</a:t>
              </a:r>
              <a:endParaRPr lang="en-US" sz="975" dirty="0">
                <a:solidFill>
                  <a:srgbClr val="1A1D24"/>
                </a:solidFill>
                <a:latin typeface="Aptos" panose="020B0004020202020204" pitchFamily="34" charset="0"/>
              </a:endParaRPr>
            </a:p>
          </p:txBody>
        </p:sp>
        <p:sp>
          <p:nvSpPr>
            <p:cNvPr id="20" name="Text 20">
              <a:extLst>
                <a:ext uri="{FF2B5EF4-FFF2-40B4-BE49-F238E27FC236}">
                  <a16:creationId xmlns:a16="http://schemas.microsoft.com/office/drawing/2014/main" id="{B39CF99B-F1C5-48B9-391A-CFF01A762CF7}"/>
                </a:ext>
              </a:extLst>
            </p:cNvPr>
            <p:cNvSpPr/>
            <p:nvPr/>
          </p:nvSpPr>
          <p:spPr>
            <a:xfrm>
              <a:off x="11104215" y="4633020"/>
              <a:ext cx="2703781" cy="540841"/>
            </a:xfrm>
            <a:prstGeom prst="rect">
              <a:avLst/>
            </a:prstGeom>
            <a:noFill/>
            <a:ln/>
          </p:spPr>
          <p:txBody>
            <a:bodyPr wrap="square" lIns="25400" tIns="25400" rIns="25400" bIns="25400" rtlCol="0" anchor="t">
              <a:normAutofit fontScale="85000" lnSpcReduction="20000"/>
            </a:bodyPr>
            <a:lstStyle/>
            <a:p>
              <a:pPr marL="0" indent="0" algn="l">
                <a:lnSpc>
                  <a:spcPct val="120000"/>
                </a:lnSpc>
                <a:buNone/>
              </a:pPr>
              <a:r>
                <a:rPr lang="en-US" sz="1650" b="1" dirty="0">
                  <a:solidFill>
                    <a:srgbClr val="1A1D24"/>
                  </a:solidFill>
                  <a:latin typeface="Aptos" panose="020B0004020202020204" pitchFamily="34" charset="0"/>
                  <a:ea typeface="-apple-system" pitchFamily="34" charset="-122"/>
                  <a:cs typeface="-apple-system" pitchFamily="34" charset="-120"/>
                </a:rPr>
                <a:t>Confirmation au demandeur</a:t>
              </a:r>
              <a:endParaRPr lang="en-US" sz="1650" dirty="0">
                <a:solidFill>
                  <a:srgbClr val="1A1D24"/>
                </a:solidFill>
                <a:latin typeface="Aptos" panose="020B0004020202020204" pitchFamily="34" charset="0"/>
              </a:endParaRPr>
            </a:p>
          </p:txBody>
        </p:sp>
        <p:sp>
          <p:nvSpPr>
            <p:cNvPr id="21" name="Text 21">
              <a:extLst>
                <a:ext uri="{FF2B5EF4-FFF2-40B4-BE49-F238E27FC236}">
                  <a16:creationId xmlns:a16="http://schemas.microsoft.com/office/drawing/2014/main" id="{3504280C-E847-551C-7A08-0706DFEDE198}"/>
                </a:ext>
              </a:extLst>
            </p:cNvPr>
            <p:cNvSpPr/>
            <p:nvPr/>
          </p:nvSpPr>
          <p:spPr>
            <a:xfrm>
              <a:off x="11104215" y="5231011"/>
              <a:ext cx="270378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975" dirty="0">
                  <a:solidFill>
                    <a:srgbClr val="1A1D24"/>
                  </a:solidFill>
                  <a:latin typeface="Aptos" panose="020B0004020202020204" pitchFamily="34" charset="0"/>
                  <a:ea typeface="JetBrains Mono" pitchFamily="34" charset="-122"/>
                  <a:cs typeface="JetBrains Mono" pitchFamily="34" charset="-120"/>
                </a:rPr>
                <a:t>↳ Notif.</a:t>
              </a:r>
              <a:endParaRPr lang="en-US" sz="975" dirty="0">
                <a:solidFill>
                  <a:srgbClr val="1A1D24"/>
                </a:solidFill>
                <a:latin typeface="Aptos" panose="020B0004020202020204" pitchFamily="34" charset="0"/>
              </a:endParaRPr>
            </a:p>
          </p:txBody>
        </p:sp>
        <p:sp>
          <p:nvSpPr>
            <p:cNvPr id="22" name="Shape 22">
              <a:extLst>
                <a:ext uri="{FF2B5EF4-FFF2-40B4-BE49-F238E27FC236}">
                  <a16:creationId xmlns:a16="http://schemas.microsoft.com/office/drawing/2014/main" id="{07212C8F-D956-4618-5218-D74F2D7272CA}"/>
                </a:ext>
              </a:extLst>
            </p:cNvPr>
            <p:cNvSpPr/>
            <p:nvPr/>
          </p:nvSpPr>
          <p:spPr>
            <a:xfrm>
              <a:off x="14138821" y="4099620"/>
              <a:ext cx="3101429" cy="1569541"/>
            </a:xfrm>
            <a:prstGeom prst="rect">
              <a:avLst/>
            </a:prstGeom>
            <a:solidFill>
              <a:srgbClr val="FFFFFF"/>
            </a:solidFill>
            <a:ln w="9525">
              <a:solidFill>
                <a:schemeClr val="tx1"/>
              </a:solidFill>
              <a:prstDash val="solid"/>
            </a:ln>
          </p:spPr>
          <p:txBody>
            <a:bodyPr/>
            <a:lstStyle/>
            <a:p>
              <a:endParaRPr lang="fr-CA">
                <a:solidFill>
                  <a:srgbClr val="1A1D24"/>
                </a:solidFill>
                <a:latin typeface="Aptos" panose="020B0004020202020204" pitchFamily="34" charset="0"/>
              </a:endParaRPr>
            </a:p>
          </p:txBody>
        </p:sp>
        <p:sp>
          <p:nvSpPr>
            <p:cNvPr id="23" name="Text 23">
              <a:extLst>
                <a:ext uri="{FF2B5EF4-FFF2-40B4-BE49-F238E27FC236}">
                  <a16:creationId xmlns:a16="http://schemas.microsoft.com/office/drawing/2014/main" id="{9EF40DAE-B93D-5DCE-6784-D5A3C3DCE61D}"/>
                </a:ext>
              </a:extLst>
            </p:cNvPr>
            <p:cNvSpPr/>
            <p:nvPr/>
          </p:nvSpPr>
          <p:spPr>
            <a:xfrm>
              <a:off x="14376946" y="4375845"/>
              <a:ext cx="2703935" cy="200025"/>
            </a:xfrm>
            <a:prstGeom prst="rect">
              <a:avLst/>
            </a:prstGeom>
            <a:noFill/>
            <a:ln/>
          </p:spPr>
          <p:txBody>
            <a:bodyPr wrap="square" lIns="25400" tIns="25400" rIns="25400" bIns="25400" rtlCol="0" anchor="t">
              <a:normAutofit fontScale="92500" lnSpcReduction="10000"/>
            </a:bodyPr>
            <a:lstStyle/>
            <a:p>
              <a:pPr marL="0" indent="0" algn="l">
                <a:buNone/>
              </a:pPr>
              <a:r>
                <a:rPr lang="en-US" sz="975" kern="0" spc="156" dirty="0">
                  <a:solidFill>
                    <a:srgbClr val="1A1D24"/>
                  </a:solidFill>
                  <a:latin typeface="Aptos" panose="020B0004020202020204" pitchFamily="34" charset="0"/>
                  <a:ea typeface="JetBrains Mono" pitchFamily="34" charset="-122"/>
                  <a:cs typeface="JetBrains Mono" pitchFamily="34" charset="-120"/>
                </a:rPr>
                <a:t>05</a:t>
              </a:r>
              <a:endParaRPr lang="en-US" sz="975" dirty="0">
                <a:solidFill>
                  <a:srgbClr val="1A1D24"/>
                </a:solidFill>
                <a:latin typeface="Aptos" panose="020B0004020202020204" pitchFamily="34" charset="0"/>
              </a:endParaRPr>
            </a:p>
          </p:txBody>
        </p:sp>
        <p:sp>
          <p:nvSpPr>
            <p:cNvPr id="24" name="Text 24">
              <a:extLst>
                <a:ext uri="{FF2B5EF4-FFF2-40B4-BE49-F238E27FC236}">
                  <a16:creationId xmlns:a16="http://schemas.microsoft.com/office/drawing/2014/main" id="{222BE64E-3ED9-4C96-58A0-D26A3395A372}"/>
                </a:ext>
              </a:extLst>
            </p:cNvPr>
            <p:cNvSpPr/>
            <p:nvPr/>
          </p:nvSpPr>
          <p:spPr>
            <a:xfrm>
              <a:off x="14376946" y="4633020"/>
              <a:ext cx="2703935" cy="540841"/>
            </a:xfrm>
            <a:prstGeom prst="rect">
              <a:avLst/>
            </a:prstGeom>
            <a:noFill/>
            <a:ln/>
          </p:spPr>
          <p:txBody>
            <a:bodyPr wrap="square" lIns="25400" tIns="25400" rIns="25400" bIns="25400" rtlCol="0" anchor="t">
              <a:normAutofit fontScale="85000" lnSpcReduction="20000"/>
            </a:bodyPr>
            <a:lstStyle/>
            <a:p>
              <a:pPr marL="0" indent="0" algn="l">
                <a:lnSpc>
                  <a:spcPct val="120000"/>
                </a:lnSpc>
                <a:buNone/>
              </a:pPr>
              <a:r>
                <a:rPr lang="en-US" sz="1650" b="1" dirty="0">
                  <a:solidFill>
                    <a:srgbClr val="1A1D24"/>
                  </a:solidFill>
                  <a:latin typeface="Aptos" panose="020B0004020202020204" pitchFamily="34" charset="0"/>
                  <a:ea typeface="-apple-system" pitchFamily="34" charset="-122"/>
                  <a:cs typeface="-apple-system" pitchFamily="34" charset="-120"/>
                </a:rPr>
                <a:t>Confirmation à </a:t>
              </a:r>
              <a:r>
                <a:rPr lang="en-US" sz="1650" b="1" dirty="0" err="1">
                  <a:solidFill>
                    <a:srgbClr val="1A1D24"/>
                  </a:solidFill>
                  <a:latin typeface="Aptos" panose="020B0004020202020204" pitchFamily="34" charset="0"/>
                  <a:ea typeface="-apple-system" pitchFamily="34" charset="-122"/>
                  <a:cs typeface="-apple-system" pitchFamily="34" charset="-120"/>
                </a:rPr>
                <a:t>l’agent</a:t>
              </a:r>
              <a:endParaRPr lang="en-US" sz="1650" dirty="0">
                <a:solidFill>
                  <a:srgbClr val="1A1D24"/>
                </a:solidFill>
                <a:latin typeface="Aptos" panose="020B0004020202020204" pitchFamily="34" charset="0"/>
              </a:endParaRPr>
            </a:p>
          </p:txBody>
        </p:sp>
        <p:sp>
          <p:nvSpPr>
            <p:cNvPr id="25" name="Text 25">
              <a:extLst>
                <a:ext uri="{FF2B5EF4-FFF2-40B4-BE49-F238E27FC236}">
                  <a16:creationId xmlns:a16="http://schemas.microsoft.com/office/drawing/2014/main" id="{297518D4-A74C-D2FA-62AA-3A16CE920470}"/>
                </a:ext>
              </a:extLst>
            </p:cNvPr>
            <p:cNvSpPr/>
            <p:nvPr/>
          </p:nvSpPr>
          <p:spPr>
            <a:xfrm>
              <a:off x="14376946" y="5231011"/>
              <a:ext cx="2703935" cy="200025"/>
            </a:xfrm>
            <a:prstGeom prst="rect">
              <a:avLst/>
            </a:prstGeom>
            <a:noFill/>
            <a:ln/>
          </p:spPr>
          <p:txBody>
            <a:bodyPr wrap="square" lIns="25400" tIns="25400" rIns="25400" bIns="25400" rtlCol="0" anchor="t">
              <a:normAutofit fontScale="92500" lnSpcReduction="10000"/>
            </a:bodyPr>
            <a:lstStyle/>
            <a:p>
              <a:pPr marL="0" indent="0" algn="l">
                <a:buNone/>
              </a:pPr>
              <a:r>
                <a:rPr lang="en-US" sz="975" dirty="0">
                  <a:solidFill>
                    <a:srgbClr val="1A1D24"/>
                  </a:solidFill>
                  <a:latin typeface="Aptos" panose="020B0004020202020204" pitchFamily="34" charset="0"/>
                  <a:ea typeface="JetBrains Mono" pitchFamily="34" charset="-122"/>
                  <a:cs typeface="JetBrains Mono" pitchFamily="34" charset="-120"/>
                </a:rPr>
                <a:t>↳ Système C</a:t>
              </a:r>
              <a:endParaRPr lang="en-US" sz="975" dirty="0">
                <a:solidFill>
                  <a:srgbClr val="1A1D24"/>
                </a:solidFill>
                <a:latin typeface="Aptos" panose="020B0004020202020204" pitchFamily="34" charset="0"/>
              </a:endParaRPr>
            </a:p>
          </p:txBody>
        </p:sp>
        <p:sp>
          <p:nvSpPr>
            <p:cNvPr id="26" name="Shape 26">
              <a:extLst>
                <a:ext uri="{FF2B5EF4-FFF2-40B4-BE49-F238E27FC236}">
                  <a16:creationId xmlns:a16="http://schemas.microsoft.com/office/drawing/2014/main" id="{4F82381B-D4C3-52B9-579E-675FCB0B0EF8}"/>
                </a:ext>
              </a:extLst>
            </p:cNvPr>
            <p:cNvSpPr/>
            <p:nvPr/>
          </p:nvSpPr>
          <p:spPr>
            <a:xfrm>
              <a:off x="1047750" y="5939350"/>
              <a:ext cx="16192500" cy="1390501"/>
            </a:xfrm>
            <a:prstGeom prst="rect">
              <a:avLst/>
            </a:prstGeom>
            <a:solidFill>
              <a:srgbClr val="E9F6FB"/>
            </a:solidFill>
            <a:ln/>
          </p:spPr>
          <p:txBody>
            <a:bodyPr/>
            <a:lstStyle/>
            <a:p>
              <a:endParaRPr lang="fr-CA" dirty="0">
                <a:solidFill>
                  <a:srgbClr val="1A1D24"/>
                </a:solidFill>
                <a:latin typeface="Aptos" panose="020B0004020202020204" pitchFamily="34" charset="0"/>
              </a:endParaRPr>
            </a:p>
          </p:txBody>
        </p:sp>
        <p:sp>
          <p:nvSpPr>
            <p:cNvPr id="27" name="Text 27">
              <a:extLst>
                <a:ext uri="{FF2B5EF4-FFF2-40B4-BE49-F238E27FC236}">
                  <a16:creationId xmlns:a16="http://schemas.microsoft.com/office/drawing/2014/main" id="{E38A28A4-46ED-1082-F6B6-A713BABA78FA}"/>
                </a:ext>
              </a:extLst>
            </p:cNvPr>
            <p:cNvSpPr/>
            <p:nvPr/>
          </p:nvSpPr>
          <p:spPr>
            <a:xfrm>
              <a:off x="1504947" y="6146871"/>
              <a:ext cx="2815077" cy="393281"/>
            </a:xfrm>
            <a:prstGeom prst="rect">
              <a:avLst/>
            </a:prstGeom>
            <a:noFill/>
            <a:ln/>
          </p:spPr>
          <p:txBody>
            <a:bodyPr wrap="square" lIns="0" tIns="0" rIns="0" bIns="0" rtlCol="0" anchor="t">
              <a:normAutofit fontScale="92500"/>
            </a:bodyPr>
            <a:lstStyle/>
            <a:p>
              <a:pPr marL="0" indent="0" algn="l">
                <a:buNone/>
              </a:pPr>
              <a:r>
                <a:rPr lang="en-US" sz="2400" b="1" dirty="0">
                  <a:solidFill>
                    <a:srgbClr val="1A1D24"/>
                  </a:solidFill>
                  <a:latin typeface="Aptos" panose="020B0004020202020204" pitchFamily="34" charset="0"/>
                  <a:ea typeface="-apple-system" pitchFamily="34" charset="-122"/>
                  <a:cs typeface="-apple-system" pitchFamily="34" charset="-120"/>
                </a:rPr>
                <a:t>Maestro (OIM)</a:t>
              </a:r>
              <a:endParaRPr lang="en-US" sz="1950" dirty="0">
                <a:solidFill>
                  <a:srgbClr val="1A1D24"/>
                </a:solidFill>
                <a:latin typeface="Aptos" panose="020B0004020202020204" pitchFamily="34" charset="0"/>
              </a:endParaRPr>
            </a:p>
          </p:txBody>
        </p:sp>
        <p:sp>
          <p:nvSpPr>
            <p:cNvPr id="28" name="Text 28">
              <a:extLst>
                <a:ext uri="{FF2B5EF4-FFF2-40B4-BE49-F238E27FC236}">
                  <a16:creationId xmlns:a16="http://schemas.microsoft.com/office/drawing/2014/main" id="{D2BBD6B6-F0B8-DAAE-03DC-325B88B456C0}"/>
                </a:ext>
              </a:extLst>
            </p:cNvPr>
            <p:cNvSpPr/>
            <p:nvPr/>
          </p:nvSpPr>
          <p:spPr>
            <a:xfrm>
              <a:off x="1504950" y="6655183"/>
              <a:ext cx="2747010" cy="489088"/>
            </a:xfrm>
            <a:prstGeom prst="rect">
              <a:avLst/>
            </a:prstGeom>
            <a:noFill/>
            <a:ln/>
          </p:spPr>
          <p:txBody>
            <a:bodyPr wrap="square" lIns="25400" tIns="25400" rIns="25400" bIns="25400" rtlCol="0" anchor="t">
              <a:normAutofit/>
            </a:bodyPr>
            <a:lstStyle/>
            <a:p>
              <a:pPr marL="0" indent="0" algn="l">
                <a:buNone/>
              </a:pPr>
              <a:r>
                <a:rPr lang="en-US" sz="1200" kern="0" spc="180" dirty="0">
                  <a:solidFill>
                    <a:srgbClr val="1A1D24"/>
                  </a:solidFill>
                  <a:latin typeface="Aptos" panose="020B0004020202020204" pitchFamily="34" charset="0"/>
                  <a:ea typeface="JetBrains Mono" pitchFamily="34" charset="-122"/>
                  <a:cs typeface="JetBrains Mono" pitchFamily="34" charset="-120"/>
                </a:rPr>
                <a:t>CE QU'IL GÈRE EN ARRIÈRE-PLAN</a:t>
              </a:r>
              <a:endParaRPr lang="en-US" sz="1200" dirty="0">
                <a:solidFill>
                  <a:srgbClr val="1A1D24"/>
                </a:solidFill>
                <a:latin typeface="Aptos" panose="020B0004020202020204" pitchFamily="34" charset="0"/>
              </a:endParaRPr>
            </a:p>
          </p:txBody>
        </p:sp>
        <p:sp>
          <p:nvSpPr>
            <p:cNvPr id="29" name="Shape 29">
              <a:extLst>
                <a:ext uri="{FF2B5EF4-FFF2-40B4-BE49-F238E27FC236}">
                  <a16:creationId xmlns:a16="http://schemas.microsoft.com/office/drawing/2014/main" id="{CAFD185D-AEA5-728F-47F6-A515F0016DFD}"/>
                </a:ext>
              </a:extLst>
            </p:cNvPr>
            <p:cNvSpPr/>
            <p:nvPr/>
          </p:nvSpPr>
          <p:spPr>
            <a:xfrm>
              <a:off x="4593348" y="6060960"/>
              <a:ext cx="9526" cy="1188447"/>
            </a:xfrm>
            <a:prstGeom prst="rect">
              <a:avLst/>
            </a:prstGeom>
            <a:solidFill>
              <a:srgbClr val="2D2E83">
                <a:alpha val="15000"/>
              </a:srgbClr>
            </a:solidFill>
            <a:ln>
              <a:solidFill>
                <a:schemeClr val="tx1"/>
              </a:solidFill>
            </a:ln>
          </p:spPr>
          <p:txBody>
            <a:bodyPr/>
            <a:lstStyle/>
            <a:p>
              <a:endParaRPr lang="fr-CA">
                <a:solidFill>
                  <a:srgbClr val="1A1D24"/>
                </a:solidFill>
                <a:latin typeface="Aptos" panose="020B0004020202020204" pitchFamily="34" charset="0"/>
              </a:endParaRPr>
            </a:p>
          </p:txBody>
        </p:sp>
        <p:sp>
          <p:nvSpPr>
            <p:cNvPr id="30" name="Text 30">
              <a:extLst>
                <a:ext uri="{FF2B5EF4-FFF2-40B4-BE49-F238E27FC236}">
                  <a16:creationId xmlns:a16="http://schemas.microsoft.com/office/drawing/2014/main" id="{61C572D4-22FC-9C75-8DF9-3275ACB6684E}"/>
                </a:ext>
              </a:extLst>
            </p:cNvPr>
            <p:cNvSpPr/>
            <p:nvPr/>
          </p:nvSpPr>
          <p:spPr>
            <a:xfrm>
              <a:off x="4714875" y="6114522"/>
              <a:ext cx="2688144" cy="415611"/>
            </a:xfrm>
            <a:prstGeom prst="rect">
              <a:avLst/>
            </a:prstGeom>
            <a:noFill/>
            <a:ln/>
          </p:spPr>
          <p:txBody>
            <a:bodyPr wrap="square" lIns="25400" tIns="25400" rIns="25400" bIns="25400" rtlCol="0" anchor="t">
              <a:normAutofit/>
            </a:bodyPr>
            <a:lstStyle/>
            <a:p>
              <a:pPr marL="0" indent="0" algn="l">
                <a:lnSpc>
                  <a:spcPct val="140000"/>
                </a:lnSpc>
                <a:buNone/>
              </a:pPr>
              <a:r>
                <a:rPr lang="en-US" sz="1600" b="1" kern="0" spc="120" dirty="0">
                  <a:solidFill>
                    <a:srgbClr val="1A1D24"/>
                  </a:solidFill>
                  <a:latin typeface="Aptos" panose="020B0004020202020204" pitchFamily="34" charset="0"/>
                  <a:ea typeface="JetBrains Mono" pitchFamily="34" charset="-122"/>
                  <a:cs typeface="JetBrains Mono" pitchFamily="34" charset="-120"/>
                </a:rPr>
                <a:t>SÉQUENCE</a:t>
              </a:r>
              <a:endParaRPr lang="en-US" sz="1400" dirty="0">
                <a:solidFill>
                  <a:srgbClr val="1A1D24"/>
                </a:solidFill>
                <a:latin typeface="Aptos" panose="020B0004020202020204" pitchFamily="34" charset="0"/>
              </a:endParaRPr>
            </a:p>
          </p:txBody>
        </p:sp>
        <p:sp>
          <p:nvSpPr>
            <p:cNvPr id="31" name="Text 31">
              <a:extLst>
                <a:ext uri="{FF2B5EF4-FFF2-40B4-BE49-F238E27FC236}">
                  <a16:creationId xmlns:a16="http://schemas.microsoft.com/office/drawing/2014/main" id="{AB3B97BD-12ED-D500-D701-93302CE80777}"/>
                </a:ext>
              </a:extLst>
            </p:cNvPr>
            <p:cNvSpPr/>
            <p:nvPr/>
          </p:nvSpPr>
          <p:spPr>
            <a:xfrm>
              <a:off x="4773890" y="6572485"/>
              <a:ext cx="2570112" cy="654483"/>
            </a:xfrm>
            <a:prstGeom prst="rect">
              <a:avLst/>
            </a:prstGeom>
            <a:noFill/>
            <a:ln/>
          </p:spPr>
          <p:txBody>
            <a:bodyPr wrap="square" lIns="0" tIns="0" rIns="0" bIns="0" rtlCol="0" anchor="t">
              <a:normAutofit/>
            </a:bodyPr>
            <a:lstStyle/>
            <a:p>
              <a:pPr marL="0" indent="0" algn="l">
                <a:buNone/>
              </a:pPr>
              <a:r>
                <a:rPr lang="en-US" sz="1300" dirty="0">
                  <a:solidFill>
                    <a:srgbClr val="1A1D24"/>
                  </a:solidFill>
                  <a:latin typeface="Aptos" panose="020B0004020202020204" pitchFamily="34" charset="0"/>
                  <a:ea typeface="-apple-system" pitchFamily="34" charset="-122"/>
                  <a:cs typeface="-apple-system" pitchFamily="34" charset="-120"/>
                </a:rPr>
                <a:t>Exécute chaque étape dans le bon ordre.</a:t>
              </a:r>
              <a:endParaRPr lang="en-US" sz="1300" dirty="0">
                <a:solidFill>
                  <a:srgbClr val="1A1D24"/>
                </a:solidFill>
                <a:latin typeface="Aptos" panose="020B0004020202020204" pitchFamily="34" charset="0"/>
              </a:endParaRPr>
            </a:p>
          </p:txBody>
        </p:sp>
        <p:sp>
          <p:nvSpPr>
            <p:cNvPr id="34" name="Text 34">
              <a:extLst>
                <a:ext uri="{FF2B5EF4-FFF2-40B4-BE49-F238E27FC236}">
                  <a16:creationId xmlns:a16="http://schemas.microsoft.com/office/drawing/2014/main" id="{97439A21-75B2-E5D5-DB0F-4097836F5FF9}"/>
                </a:ext>
              </a:extLst>
            </p:cNvPr>
            <p:cNvSpPr/>
            <p:nvPr/>
          </p:nvSpPr>
          <p:spPr>
            <a:xfrm>
              <a:off x="7997338" y="6568233"/>
              <a:ext cx="2847975" cy="595088"/>
            </a:xfrm>
            <a:prstGeom prst="rect">
              <a:avLst/>
            </a:prstGeom>
            <a:noFill/>
            <a:ln/>
          </p:spPr>
          <p:txBody>
            <a:bodyPr wrap="square" lIns="0" tIns="0" rIns="0" bIns="0" rtlCol="0" anchor="t">
              <a:noAutofit/>
            </a:bodyPr>
            <a:lstStyle/>
            <a:p>
              <a:r>
                <a:rPr lang="en-US" sz="1300" dirty="0">
                  <a:solidFill>
                    <a:srgbClr val="1A1D24"/>
                  </a:solidFill>
                  <a:latin typeface="Aptos" panose="020B0004020202020204" pitchFamily="34" charset="0"/>
                  <a:ea typeface="-apple-system" pitchFamily="34" charset="-122"/>
                </a:rPr>
                <a:t>Applique les règles métier (ex. plage </a:t>
              </a:r>
              <a:r>
                <a:rPr lang="en-US" sz="1300" dirty="0" err="1">
                  <a:solidFill>
                    <a:srgbClr val="1A1D24"/>
                  </a:solidFill>
                  <a:latin typeface="Aptos" panose="020B0004020202020204" pitchFamily="34" charset="0"/>
                  <a:ea typeface="-apple-system" pitchFamily="34" charset="-122"/>
                </a:rPr>
                <a:t>indisponible</a:t>
              </a:r>
              <a:r>
                <a:rPr lang="en-US" sz="1300" dirty="0">
                  <a:solidFill>
                    <a:srgbClr val="1A1D24"/>
                  </a:solidFill>
                  <a:latin typeface="Aptos" panose="020B0004020202020204" pitchFamily="34" charset="0"/>
                  <a:ea typeface="-apple-system" pitchFamily="34" charset="-122"/>
                </a:rPr>
                <a:t>).</a:t>
              </a:r>
            </a:p>
          </p:txBody>
        </p:sp>
        <p:sp>
          <p:nvSpPr>
            <p:cNvPr id="41" name="Text 41">
              <a:extLst>
                <a:ext uri="{FF2B5EF4-FFF2-40B4-BE49-F238E27FC236}">
                  <a16:creationId xmlns:a16="http://schemas.microsoft.com/office/drawing/2014/main" id="{D138C99C-A920-5FFA-FCED-A7C9AB6E0146}"/>
                </a:ext>
              </a:extLst>
            </p:cNvPr>
            <p:cNvSpPr/>
            <p:nvPr/>
          </p:nvSpPr>
          <p:spPr>
            <a:xfrm>
              <a:off x="1047750" y="7593578"/>
              <a:ext cx="4902003" cy="304800"/>
            </a:xfrm>
            <a:prstGeom prst="rect">
              <a:avLst/>
            </a:prstGeom>
            <a:noFill/>
            <a:ln/>
          </p:spPr>
          <p:txBody>
            <a:bodyPr wrap="square" lIns="25400" tIns="25400" rIns="25400" bIns="25400" rtlCol="0" anchor="t">
              <a:noAutofit/>
            </a:bodyPr>
            <a:lstStyle/>
            <a:p>
              <a:pPr marL="0" indent="0" algn="l">
                <a:lnSpc>
                  <a:spcPct val="140000"/>
                </a:lnSpc>
                <a:buNone/>
              </a:pPr>
              <a:r>
                <a:rPr lang="en-US" sz="1600" b="1" dirty="0">
                  <a:solidFill>
                    <a:srgbClr val="1A1D24"/>
                  </a:solidFill>
                  <a:latin typeface="Aptos" panose="020B0004020202020204" pitchFamily="34" charset="0"/>
                  <a:ea typeface="-apple-system" pitchFamily="34" charset="-122"/>
                  <a:cs typeface="-apple-system" pitchFamily="34" charset="-120"/>
                </a:rPr>
                <a:t>En cas d'imprévu</a:t>
              </a:r>
              <a:endParaRPr lang="en-US" sz="1600" dirty="0">
                <a:solidFill>
                  <a:srgbClr val="1A1D24"/>
                </a:solidFill>
                <a:latin typeface="Aptos" panose="020B0004020202020204" pitchFamily="34" charset="0"/>
              </a:endParaRPr>
            </a:p>
          </p:txBody>
        </p:sp>
        <p:sp>
          <p:nvSpPr>
            <p:cNvPr id="42" name="Text 42">
              <a:extLst>
                <a:ext uri="{FF2B5EF4-FFF2-40B4-BE49-F238E27FC236}">
                  <a16:creationId xmlns:a16="http://schemas.microsoft.com/office/drawing/2014/main" id="{E4755340-B277-6ACE-A088-BB3E0F58025F}"/>
                </a:ext>
              </a:extLst>
            </p:cNvPr>
            <p:cNvSpPr/>
            <p:nvPr/>
          </p:nvSpPr>
          <p:spPr>
            <a:xfrm>
              <a:off x="1107488" y="7995165"/>
              <a:ext cx="4305080" cy="238125"/>
            </a:xfrm>
            <a:prstGeom prst="rect">
              <a:avLst/>
            </a:prstGeom>
            <a:noFill/>
            <a:ln/>
          </p:spPr>
          <p:txBody>
            <a:bodyPr wrap="square" lIns="0" tIns="0" rIns="0" bIns="0" rtlCol="0" anchor="t">
              <a:noAutofit/>
            </a:bodyPr>
            <a:lstStyle/>
            <a:p>
              <a:pPr marL="0" indent="0" algn="l">
                <a:lnSpc>
                  <a:spcPct val="140000"/>
                </a:lnSpc>
                <a:buNone/>
              </a:pPr>
              <a:r>
                <a:rPr lang="en-US" sz="1300" dirty="0">
                  <a:solidFill>
                    <a:srgbClr val="1A1D24"/>
                  </a:solidFill>
                  <a:latin typeface="Aptos" panose="020B0004020202020204" pitchFamily="34" charset="0"/>
                  <a:ea typeface="-apple-system" pitchFamily="34" charset="-122"/>
                  <a:cs typeface="-apple-system" pitchFamily="34" charset="-120"/>
                </a:rPr>
                <a:t>Le processus se met en pause à l'étape qui échoue.</a:t>
              </a:r>
              <a:endParaRPr lang="en-US" sz="1300" dirty="0">
                <a:solidFill>
                  <a:srgbClr val="1A1D24"/>
                </a:solidFill>
                <a:latin typeface="Aptos" panose="020B0004020202020204" pitchFamily="34" charset="0"/>
              </a:endParaRPr>
            </a:p>
          </p:txBody>
        </p:sp>
        <p:sp>
          <p:nvSpPr>
            <p:cNvPr id="43" name="Text 43">
              <a:extLst>
                <a:ext uri="{FF2B5EF4-FFF2-40B4-BE49-F238E27FC236}">
                  <a16:creationId xmlns:a16="http://schemas.microsoft.com/office/drawing/2014/main" id="{170A9E5D-4E68-9FC8-516F-9BA78E8A6F5B}"/>
                </a:ext>
              </a:extLst>
            </p:cNvPr>
            <p:cNvSpPr/>
            <p:nvPr/>
          </p:nvSpPr>
          <p:spPr>
            <a:xfrm>
              <a:off x="6778526" y="7609714"/>
              <a:ext cx="4902156" cy="304800"/>
            </a:xfrm>
            <a:prstGeom prst="rect">
              <a:avLst/>
            </a:prstGeom>
            <a:noFill/>
            <a:ln/>
          </p:spPr>
          <p:txBody>
            <a:bodyPr wrap="square" lIns="25400" tIns="25400" rIns="25400" bIns="25400" rtlCol="0" anchor="t">
              <a:noAutofit/>
            </a:bodyPr>
            <a:lstStyle/>
            <a:p>
              <a:pPr marL="0" indent="0" algn="l">
                <a:lnSpc>
                  <a:spcPct val="140000"/>
                </a:lnSpc>
                <a:buNone/>
              </a:pPr>
              <a:r>
                <a:rPr lang="en-US" sz="1600" b="1" dirty="0">
                  <a:solidFill>
                    <a:srgbClr val="1A1D24"/>
                  </a:solidFill>
                  <a:latin typeface="Aptos" panose="020B0004020202020204" pitchFamily="34" charset="0"/>
                  <a:ea typeface="-apple-system" pitchFamily="34" charset="-122"/>
                  <a:cs typeface="-apple-system" pitchFamily="34" charset="-120"/>
                </a:rPr>
                <a:t>Correction simple</a:t>
              </a:r>
              <a:endParaRPr lang="en-US" sz="1600" dirty="0">
                <a:solidFill>
                  <a:srgbClr val="1A1D24"/>
                </a:solidFill>
                <a:latin typeface="Aptos" panose="020B0004020202020204" pitchFamily="34" charset="0"/>
              </a:endParaRPr>
            </a:p>
          </p:txBody>
        </p:sp>
        <p:sp>
          <p:nvSpPr>
            <p:cNvPr id="44" name="Text 44">
              <a:extLst>
                <a:ext uri="{FF2B5EF4-FFF2-40B4-BE49-F238E27FC236}">
                  <a16:creationId xmlns:a16="http://schemas.microsoft.com/office/drawing/2014/main" id="{1F91641C-438D-560B-4B23-BC35B1EB7D60}"/>
                </a:ext>
              </a:extLst>
            </p:cNvPr>
            <p:cNvSpPr/>
            <p:nvPr/>
          </p:nvSpPr>
          <p:spPr>
            <a:xfrm>
              <a:off x="6853856" y="8007899"/>
              <a:ext cx="4103807" cy="238125"/>
            </a:xfrm>
            <a:prstGeom prst="rect">
              <a:avLst/>
            </a:prstGeom>
            <a:noFill/>
            <a:ln/>
          </p:spPr>
          <p:txBody>
            <a:bodyPr wrap="square" lIns="0" tIns="0" rIns="0" bIns="0" rtlCol="0" anchor="t">
              <a:noAutofit/>
            </a:bodyPr>
            <a:lstStyle/>
            <a:p>
              <a:pPr marL="0" indent="0" algn="l">
                <a:lnSpc>
                  <a:spcPct val="140000"/>
                </a:lnSpc>
                <a:buNone/>
              </a:pPr>
              <a:r>
                <a:rPr lang="en-US" sz="1300" dirty="0">
                  <a:solidFill>
                    <a:srgbClr val="1A1D24"/>
                  </a:solidFill>
                  <a:latin typeface="Aptos" panose="020B0004020202020204" pitchFamily="34" charset="0"/>
                  <a:ea typeface="-apple-system" pitchFamily="34" charset="-122"/>
                  <a:cs typeface="-apple-system" pitchFamily="34" charset="-120"/>
                </a:rPr>
                <a:t>Ex. proposer un nouveau créneau au demandeur.</a:t>
              </a:r>
              <a:endParaRPr lang="en-US" sz="1300" dirty="0">
                <a:solidFill>
                  <a:srgbClr val="1A1D24"/>
                </a:solidFill>
                <a:latin typeface="Aptos" panose="020B0004020202020204" pitchFamily="34" charset="0"/>
              </a:endParaRPr>
            </a:p>
          </p:txBody>
        </p:sp>
        <p:sp>
          <p:nvSpPr>
            <p:cNvPr id="45" name="Text 45">
              <a:extLst>
                <a:ext uri="{FF2B5EF4-FFF2-40B4-BE49-F238E27FC236}">
                  <a16:creationId xmlns:a16="http://schemas.microsoft.com/office/drawing/2014/main" id="{AB7FD127-1AA3-D910-058B-935BAC3477E0}"/>
                </a:ext>
              </a:extLst>
            </p:cNvPr>
            <p:cNvSpPr/>
            <p:nvPr/>
          </p:nvSpPr>
          <p:spPr>
            <a:xfrm>
              <a:off x="12233225" y="7609714"/>
              <a:ext cx="4902156" cy="304800"/>
            </a:xfrm>
            <a:prstGeom prst="rect">
              <a:avLst/>
            </a:prstGeom>
            <a:noFill/>
            <a:ln/>
          </p:spPr>
          <p:txBody>
            <a:bodyPr wrap="square" lIns="25400" tIns="25400" rIns="25400" bIns="25400" rtlCol="0" anchor="t">
              <a:noAutofit/>
            </a:bodyPr>
            <a:lstStyle/>
            <a:p>
              <a:pPr marL="0" indent="0" algn="l">
                <a:lnSpc>
                  <a:spcPct val="140000"/>
                </a:lnSpc>
                <a:buNone/>
              </a:pPr>
              <a:r>
                <a:rPr lang="en-US" sz="1600" b="1" dirty="0">
                  <a:solidFill>
                    <a:srgbClr val="1A1D24"/>
                  </a:solidFill>
                  <a:latin typeface="Aptos" panose="020B0004020202020204" pitchFamily="34" charset="0"/>
                  <a:ea typeface="-apple-system" pitchFamily="34" charset="-122"/>
                  <a:cs typeface="-apple-system" pitchFamily="34" charset="-120"/>
                </a:rPr>
                <a:t>Reprise immédiate</a:t>
              </a:r>
              <a:endParaRPr lang="en-US" sz="1600" dirty="0">
                <a:solidFill>
                  <a:srgbClr val="1A1D24"/>
                </a:solidFill>
                <a:latin typeface="Aptos" panose="020B0004020202020204" pitchFamily="34" charset="0"/>
              </a:endParaRPr>
            </a:p>
          </p:txBody>
        </p:sp>
        <p:sp>
          <p:nvSpPr>
            <p:cNvPr id="46" name="Text 46">
              <a:extLst>
                <a:ext uri="{FF2B5EF4-FFF2-40B4-BE49-F238E27FC236}">
                  <a16:creationId xmlns:a16="http://schemas.microsoft.com/office/drawing/2014/main" id="{8D2DF54E-0FE9-45E7-C266-7B4D2BAB647C}"/>
                </a:ext>
              </a:extLst>
            </p:cNvPr>
            <p:cNvSpPr/>
            <p:nvPr/>
          </p:nvSpPr>
          <p:spPr>
            <a:xfrm>
              <a:off x="12293489" y="8007899"/>
              <a:ext cx="3688535" cy="238125"/>
            </a:xfrm>
            <a:prstGeom prst="rect">
              <a:avLst/>
            </a:prstGeom>
            <a:noFill/>
            <a:ln/>
          </p:spPr>
          <p:txBody>
            <a:bodyPr wrap="square" lIns="0" tIns="0" rIns="0" bIns="0" rtlCol="0" anchor="t">
              <a:noAutofit/>
            </a:bodyPr>
            <a:lstStyle/>
            <a:p>
              <a:pPr marL="0" indent="0" algn="l">
                <a:lnSpc>
                  <a:spcPct val="140000"/>
                </a:lnSpc>
                <a:buNone/>
              </a:pPr>
              <a:r>
                <a:rPr lang="en-US" sz="1300" dirty="0">
                  <a:solidFill>
                    <a:srgbClr val="1A1D24"/>
                  </a:solidFill>
                  <a:latin typeface="Aptos" panose="020B0004020202020204" pitchFamily="34" charset="0"/>
                  <a:ea typeface="-apple-system" pitchFamily="34" charset="-122"/>
                  <a:cs typeface="-apple-system" pitchFamily="34" charset="-120"/>
                </a:rPr>
                <a:t>Le processus repart sans tout recommencer.</a:t>
              </a:r>
              <a:endParaRPr lang="en-US" sz="1300" dirty="0">
                <a:solidFill>
                  <a:srgbClr val="1A1D24"/>
                </a:solidFill>
                <a:latin typeface="Aptos" panose="020B0004020202020204" pitchFamily="34" charset="0"/>
              </a:endParaRPr>
            </a:p>
          </p:txBody>
        </p:sp>
      </p:grpSp>
      <p:sp>
        <p:nvSpPr>
          <p:cNvPr id="47" name="Text 30">
            <a:extLst>
              <a:ext uri="{FF2B5EF4-FFF2-40B4-BE49-F238E27FC236}">
                <a16:creationId xmlns:a16="http://schemas.microsoft.com/office/drawing/2014/main" id="{05BC76A0-7226-4683-A0FB-82CD2C1273B0}"/>
              </a:ext>
            </a:extLst>
          </p:cNvPr>
          <p:cNvSpPr/>
          <p:nvPr/>
        </p:nvSpPr>
        <p:spPr>
          <a:xfrm>
            <a:off x="5582153" y="3790563"/>
            <a:ext cx="1792803" cy="377686"/>
          </a:xfrm>
          <a:prstGeom prst="rect">
            <a:avLst/>
          </a:prstGeom>
          <a:noFill/>
          <a:ln/>
        </p:spPr>
        <p:txBody>
          <a:bodyPr wrap="square" lIns="25400" tIns="25400" rIns="25400" bIns="25400" rtlCol="0" anchor="t">
            <a:normAutofit/>
          </a:bodyPr>
          <a:lstStyle/>
          <a:p>
            <a:pPr marL="0" indent="0" algn="l">
              <a:lnSpc>
                <a:spcPct val="140000"/>
              </a:lnSpc>
              <a:buNone/>
            </a:pPr>
            <a:r>
              <a:rPr lang="en-US" sz="1600" b="1" kern="0" spc="120" dirty="0">
                <a:solidFill>
                  <a:srgbClr val="1A1D24"/>
                </a:solidFill>
                <a:latin typeface="Aptos" panose="020B0004020202020204" pitchFamily="34" charset="0"/>
                <a:ea typeface="JetBrains Mono" pitchFamily="34" charset="-122"/>
              </a:rPr>
              <a:t>RÈGLES</a:t>
            </a:r>
            <a:endParaRPr lang="en-US" sz="1400" dirty="0">
              <a:solidFill>
                <a:srgbClr val="1A1D24"/>
              </a:solidFill>
              <a:latin typeface="Aptos" panose="020B0004020202020204" pitchFamily="34" charset="0"/>
            </a:endParaRPr>
          </a:p>
        </p:txBody>
      </p:sp>
      <p:sp>
        <p:nvSpPr>
          <p:cNvPr id="48" name="Text 30">
            <a:extLst>
              <a:ext uri="{FF2B5EF4-FFF2-40B4-BE49-F238E27FC236}">
                <a16:creationId xmlns:a16="http://schemas.microsoft.com/office/drawing/2014/main" id="{11C376CD-FE35-7E9B-52C4-ACC76790223C}"/>
              </a:ext>
            </a:extLst>
          </p:cNvPr>
          <p:cNvSpPr/>
          <p:nvPr/>
        </p:nvSpPr>
        <p:spPr>
          <a:xfrm>
            <a:off x="7679548" y="3790563"/>
            <a:ext cx="1792803" cy="377686"/>
          </a:xfrm>
          <a:prstGeom prst="rect">
            <a:avLst/>
          </a:prstGeom>
          <a:noFill/>
          <a:ln/>
        </p:spPr>
        <p:txBody>
          <a:bodyPr wrap="square" lIns="25400" tIns="25400" rIns="25400" bIns="25400" rtlCol="0" anchor="t">
            <a:normAutofit/>
          </a:bodyPr>
          <a:lstStyle/>
          <a:p>
            <a:pPr marL="0" indent="0" algn="l">
              <a:lnSpc>
                <a:spcPct val="140000"/>
              </a:lnSpc>
              <a:buNone/>
            </a:pPr>
            <a:r>
              <a:rPr lang="en-US" sz="1600" b="1" kern="0" spc="120" dirty="0">
                <a:solidFill>
                  <a:srgbClr val="1A1D24"/>
                </a:solidFill>
                <a:latin typeface="Aptos" panose="020B0004020202020204" pitchFamily="34" charset="0"/>
                <a:ea typeface="JetBrains Mono" pitchFamily="34" charset="-122"/>
              </a:rPr>
              <a:t>INTÉGRATION</a:t>
            </a:r>
            <a:endParaRPr lang="en-US" sz="1400" dirty="0">
              <a:solidFill>
                <a:srgbClr val="1A1D24"/>
              </a:solidFill>
              <a:latin typeface="Aptos" panose="020B0004020202020204" pitchFamily="34" charset="0"/>
            </a:endParaRPr>
          </a:p>
        </p:txBody>
      </p:sp>
      <p:sp>
        <p:nvSpPr>
          <p:cNvPr id="49" name="Text 34">
            <a:extLst>
              <a:ext uri="{FF2B5EF4-FFF2-40B4-BE49-F238E27FC236}">
                <a16:creationId xmlns:a16="http://schemas.microsoft.com/office/drawing/2014/main" id="{947CC724-EAD3-3874-34C4-6EDCEEC0B7C2}"/>
              </a:ext>
            </a:extLst>
          </p:cNvPr>
          <p:cNvSpPr/>
          <p:nvPr/>
        </p:nvSpPr>
        <p:spPr>
          <a:xfrm>
            <a:off x="7707645" y="4185560"/>
            <a:ext cx="1899399" cy="540786"/>
          </a:xfrm>
          <a:prstGeom prst="rect">
            <a:avLst/>
          </a:prstGeom>
          <a:noFill/>
          <a:ln/>
        </p:spPr>
        <p:txBody>
          <a:bodyPr wrap="square" lIns="0" tIns="0" rIns="0" bIns="0" rtlCol="0" anchor="t">
            <a:noAutofit/>
          </a:bodyPr>
          <a:lstStyle/>
          <a:p>
            <a:r>
              <a:rPr lang="en-US" sz="1300" dirty="0">
                <a:solidFill>
                  <a:srgbClr val="1A1D24"/>
                </a:solidFill>
                <a:latin typeface="Aptos" panose="020B0004020202020204" pitchFamily="34" charset="0"/>
                <a:ea typeface="-apple-system" pitchFamily="34" charset="-122"/>
              </a:rPr>
              <a:t>Communique avec les </a:t>
            </a:r>
            <a:r>
              <a:rPr lang="en-US" sz="1300" dirty="0" err="1">
                <a:solidFill>
                  <a:srgbClr val="1A1D24"/>
                </a:solidFill>
                <a:latin typeface="Aptos" panose="020B0004020202020204" pitchFamily="34" charset="0"/>
                <a:ea typeface="-apple-system" pitchFamily="34" charset="-122"/>
              </a:rPr>
              <a:t>systèmes</a:t>
            </a:r>
            <a:r>
              <a:rPr lang="en-US" sz="1300" dirty="0">
                <a:solidFill>
                  <a:srgbClr val="1A1D24"/>
                </a:solidFill>
                <a:latin typeface="Aptos" panose="020B0004020202020204" pitchFamily="34" charset="0"/>
                <a:ea typeface="-apple-system" pitchFamily="34" charset="-122"/>
              </a:rPr>
              <a:t> sans code </a:t>
            </a:r>
            <a:r>
              <a:rPr lang="en-US" sz="1300" dirty="0" err="1">
                <a:solidFill>
                  <a:srgbClr val="1A1D24"/>
                </a:solidFill>
                <a:latin typeface="Aptos" panose="020B0004020202020204" pitchFamily="34" charset="0"/>
                <a:ea typeface="-apple-system" pitchFamily="34" charset="-122"/>
              </a:rPr>
              <a:t>spécifique</a:t>
            </a:r>
            <a:endParaRPr lang="en-US" sz="1300" dirty="0">
              <a:solidFill>
                <a:srgbClr val="1A1D24"/>
              </a:solidFill>
              <a:latin typeface="Aptos" panose="020B0004020202020204" pitchFamily="34" charset="0"/>
              <a:ea typeface="-apple-system" pitchFamily="34" charset="-122"/>
            </a:endParaRPr>
          </a:p>
        </p:txBody>
      </p:sp>
      <p:sp>
        <p:nvSpPr>
          <p:cNvPr id="50" name="Text 30">
            <a:extLst>
              <a:ext uri="{FF2B5EF4-FFF2-40B4-BE49-F238E27FC236}">
                <a16:creationId xmlns:a16="http://schemas.microsoft.com/office/drawing/2014/main" id="{E892712D-520E-5BAF-2394-C16B0B0DC2B0}"/>
              </a:ext>
            </a:extLst>
          </p:cNvPr>
          <p:cNvSpPr/>
          <p:nvPr/>
        </p:nvSpPr>
        <p:spPr>
          <a:xfrm>
            <a:off x="9778633" y="3788419"/>
            <a:ext cx="1792803" cy="377686"/>
          </a:xfrm>
          <a:prstGeom prst="rect">
            <a:avLst/>
          </a:prstGeom>
          <a:noFill/>
          <a:ln/>
        </p:spPr>
        <p:txBody>
          <a:bodyPr wrap="square" lIns="25400" tIns="25400" rIns="25400" bIns="25400" rtlCol="0" anchor="t">
            <a:normAutofit/>
          </a:bodyPr>
          <a:lstStyle/>
          <a:p>
            <a:pPr marL="0" indent="0" algn="l">
              <a:lnSpc>
                <a:spcPct val="140000"/>
              </a:lnSpc>
              <a:buNone/>
            </a:pPr>
            <a:r>
              <a:rPr lang="en-US" sz="1600" b="1" kern="0" spc="120" dirty="0">
                <a:solidFill>
                  <a:srgbClr val="1A1D24"/>
                </a:solidFill>
                <a:latin typeface="Aptos" panose="020B0004020202020204" pitchFamily="34" charset="0"/>
                <a:ea typeface="JetBrains Mono" pitchFamily="34" charset="-122"/>
              </a:rPr>
              <a:t>ÉTAT</a:t>
            </a:r>
            <a:endParaRPr lang="en-US" sz="1400" dirty="0">
              <a:solidFill>
                <a:srgbClr val="1A1D24"/>
              </a:solidFill>
              <a:latin typeface="Aptos" panose="020B0004020202020204" pitchFamily="34" charset="0"/>
            </a:endParaRPr>
          </a:p>
        </p:txBody>
      </p:sp>
      <p:sp>
        <p:nvSpPr>
          <p:cNvPr id="51" name="Text 31">
            <a:extLst>
              <a:ext uri="{FF2B5EF4-FFF2-40B4-BE49-F238E27FC236}">
                <a16:creationId xmlns:a16="http://schemas.microsoft.com/office/drawing/2014/main" id="{2AFB192E-2870-67DC-A911-364E7932B77E}"/>
              </a:ext>
            </a:extLst>
          </p:cNvPr>
          <p:cNvSpPr/>
          <p:nvPr/>
        </p:nvSpPr>
        <p:spPr>
          <a:xfrm>
            <a:off x="9778633" y="4184841"/>
            <a:ext cx="1714084" cy="594761"/>
          </a:xfrm>
          <a:prstGeom prst="rect">
            <a:avLst/>
          </a:prstGeom>
          <a:noFill/>
          <a:ln/>
        </p:spPr>
        <p:txBody>
          <a:bodyPr wrap="square" lIns="0" tIns="0" rIns="0" bIns="0" rtlCol="0" anchor="t">
            <a:normAutofit/>
          </a:bodyPr>
          <a:lstStyle/>
          <a:p>
            <a:pPr marL="0" indent="0" algn="l">
              <a:buNone/>
            </a:pPr>
            <a:r>
              <a:rPr lang="en-US" sz="1300" dirty="0">
                <a:solidFill>
                  <a:srgbClr val="1A1D24"/>
                </a:solidFill>
                <a:latin typeface="Aptos" panose="020B0004020202020204" pitchFamily="34" charset="0"/>
                <a:ea typeface="-apple-system" pitchFamily="34" charset="-122"/>
              </a:rPr>
              <a:t>Suit le processus du début à la fin </a:t>
            </a:r>
            <a:r>
              <a:rPr lang="en-US" sz="1300" dirty="0" err="1">
                <a:solidFill>
                  <a:srgbClr val="1A1D24"/>
                </a:solidFill>
                <a:latin typeface="Aptos" panose="020B0004020202020204" pitchFamily="34" charset="0"/>
                <a:ea typeface="-apple-system" pitchFamily="34" charset="-122"/>
              </a:rPr>
              <a:t>directement</a:t>
            </a:r>
            <a:r>
              <a:rPr lang="en-US" sz="1300" dirty="0">
                <a:solidFill>
                  <a:srgbClr val="1A1D24"/>
                </a:solidFill>
                <a:latin typeface="Aptos" panose="020B0004020202020204" pitchFamily="34" charset="0"/>
                <a:ea typeface="-apple-system" pitchFamily="34" charset="-122"/>
              </a:rPr>
              <a:t> dans OIM</a:t>
            </a:r>
            <a:endParaRPr lang="en-US" sz="1300" dirty="0">
              <a:solidFill>
                <a:srgbClr val="1A1D24"/>
              </a:solidFill>
              <a:latin typeface="Aptos" panose="020B0004020202020204" pitchFamily="34" charset="0"/>
            </a:endParaRPr>
          </a:p>
        </p:txBody>
      </p:sp>
      <p:sp>
        <p:nvSpPr>
          <p:cNvPr id="52" name="Shape 29">
            <a:extLst>
              <a:ext uri="{FF2B5EF4-FFF2-40B4-BE49-F238E27FC236}">
                <a16:creationId xmlns:a16="http://schemas.microsoft.com/office/drawing/2014/main" id="{FDF0C749-2DB7-5949-9CEA-98A18A242C64}"/>
              </a:ext>
            </a:extLst>
          </p:cNvPr>
          <p:cNvSpPr/>
          <p:nvPr/>
        </p:nvSpPr>
        <p:spPr>
          <a:xfrm>
            <a:off x="5459784" y="3737776"/>
            <a:ext cx="6353" cy="1080000"/>
          </a:xfrm>
          <a:prstGeom prst="rect">
            <a:avLst/>
          </a:prstGeom>
          <a:solidFill>
            <a:srgbClr val="2D2E83">
              <a:alpha val="15000"/>
            </a:srgbClr>
          </a:solidFill>
          <a:ln>
            <a:solidFill>
              <a:schemeClr val="tx1"/>
            </a:solidFill>
          </a:ln>
        </p:spPr>
        <p:txBody>
          <a:bodyPr/>
          <a:lstStyle/>
          <a:p>
            <a:endParaRPr lang="fr-CA">
              <a:latin typeface="Aptos" panose="020B0004020202020204" pitchFamily="34" charset="0"/>
            </a:endParaRPr>
          </a:p>
        </p:txBody>
      </p:sp>
      <p:sp>
        <p:nvSpPr>
          <p:cNvPr id="53" name="Shape 29">
            <a:extLst>
              <a:ext uri="{FF2B5EF4-FFF2-40B4-BE49-F238E27FC236}">
                <a16:creationId xmlns:a16="http://schemas.microsoft.com/office/drawing/2014/main" id="{E24EBCBB-56B0-F421-1547-5F0E734F796D}"/>
              </a:ext>
            </a:extLst>
          </p:cNvPr>
          <p:cNvSpPr/>
          <p:nvPr/>
        </p:nvSpPr>
        <p:spPr>
          <a:xfrm>
            <a:off x="7598377" y="3737776"/>
            <a:ext cx="6353" cy="1080000"/>
          </a:xfrm>
          <a:prstGeom prst="rect">
            <a:avLst/>
          </a:prstGeom>
          <a:solidFill>
            <a:srgbClr val="2D2E83">
              <a:alpha val="15000"/>
            </a:srgbClr>
          </a:solidFill>
          <a:ln>
            <a:solidFill>
              <a:schemeClr val="tx1"/>
            </a:solidFill>
          </a:ln>
        </p:spPr>
        <p:txBody>
          <a:bodyPr/>
          <a:lstStyle/>
          <a:p>
            <a:endParaRPr lang="fr-CA">
              <a:latin typeface="Aptos" panose="020B0004020202020204" pitchFamily="34" charset="0"/>
            </a:endParaRPr>
          </a:p>
        </p:txBody>
      </p:sp>
      <p:sp>
        <p:nvSpPr>
          <p:cNvPr id="54" name="Shape 29">
            <a:extLst>
              <a:ext uri="{FF2B5EF4-FFF2-40B4-BE49-F238E27FC236}">
                <a16:creationId xmlns:a16="http://schemas.microsoft.com/office/drawing/2014/main" id="{F03AC314-7865-2E8D-7BB7-77FFF8F428EB}"/>
              </a:ext>
            </a:extLst>
          </p:cNvPr>
          <p:cNvSpPr/>
          <p:nvPr/>
        </p:nvSpPr>
        <p:spPr>
          <a:xfrm>
            <a:off x="9660039" y="3737776"/>
            <a:ext cx="6353" cy="1080000"/>
          </a:xfrm>
          <a:prstGeom prst="rect">
            <a:avLst/>
          </a:prstGeom>
          <a:solidFill>
            <a:srgbClr val="2D2E83">
              <a:alpha val="15000"/>
            </a:srgbClr>
          </a:solidFill>
          <a:ln>
            <a:solidFill>
              <a:schemeClr val="tx1"/>
            </a:solidFill>
          </a:ln>
        </p:spPr>
        <p:txBody>
          <a:bodyPr/>
          <a:lstStyle/>
          <a:p>
            <a:endParaRPr lang="fr-CA">
              <a:latin typeface="Aptos" panose="020B0004020202020204" pitchFamily="34" charset="0"/>
            </a:endParaRPr>
          </a:p>
        </p:txBody>
      </p:sp>
    </p:spTree>
    <p:extLst>
      <p:ext uri="{BB962C8B-B14F-4D97-AF65-F5344CB8AC3E}">
        <p14:creationId xmlns:p14="http://schemas.microsoft.com/office/powerpoint/2010/main" val="2632341903"/>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F2D4E8-428A-8F56-F77F-9CCE834F9F4C}"/>
              </a:ext>
            </a:extLst>
          </p:cNvPr>
          <p:cNvSpPr>
            <a:spLocks noGrp="1"/>
          </p:cNvSpPr>
          <p:nvPr>
            <p:ph type="title"/>
          </p:nvPr>
        </p:nvSpPr>
        <p:spPr>
          <a:xfrm>
            <a:off x="838200" y="2589778"/>
            <a:ext cx="10515600" cy="550607"/>
          </a:xfrm>
        </p:spPr>
        <p:txBody>
          <a:bodyPr>
            <a:normAutofit fontScale="90000"/>
          </a:bodyPr>
          <a:lstStyle/>
          <a:p>
            <a:pPr algn="ctr"/>
            <a:r>
              <a:rPr lang="fr-CA" dirty="0"/>
              <a:t>Démonstration</a:t>
            </a:r>
          </a:p>
        </p:txBody>
      </p:sp>
    </p:spTree>
    <p:extLst>
      <p:ext uri="{BB962C8B-B14F-4D97-AF65-F5344CB8AC3E}">
        <p14:creationId xmlns:p14="http://schemas.microsoft.com/office/powerpoint/2010/main" val="3532870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6F7A4-E8C3-8243-27B8-9883C652E3D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D66B103-964E-2951-74C6-0686146BCAEC}"/>
              </a:ext>
            </a:extLst>
          </p:cNvPr>
          <p:cNvSpPr>
            <a:spLocks noGrp="1"/>
          </p:cNvSpPr>
          <p:nvPr>
            <p:ph type="title"/>
          </p:nvPr>
        </p:nvSpPr>
        <p:spPr>
          <a:xfrm>
            <a:off x="831850" y="745614"/>
            <a:ext cx="10515600" cy="550605"/>
          </a:xfrm>
        </p:spPr>
        <p:txBody>
          <a:bodyPr>
            <a:normAutofit fontScale="90000"/>
          </a:bodyPr>
          <a:lstStyle/>
          <a:p>
            <a:r>
              <a:rPr lang="fr-CA" dirty="0"/>
              <a:t>Tableau de bord et vue d’ensemble</a:t>
            </a:r>
          </a:p>
        </p:txBody>
      </p:sp>
      <p:pic>
        <p:nvPicPr>
          <p:cNvPr id="4" name="Image 3">
            <a:extLst>
              <a:ext uri="{FF2B5EF4-FFF2-40B4-BE49-F238E27FC236}">
                <a16:creationId xmlns:a16="http://schemas.microsoft.com/office/drawing/2014/main" id="{43F8DD09-D224-2FD1-0A9F-24FE5C6CAF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7089" y="1296219"/>
            <a:ext cx="9397822" cy="5015972"/>
          </a:xfrm>
          <a:prstGeom prst="rect">
            <a:avLst/>
          </a:prstGeom>
        </p:spPr>
      </p:pic>
    </p:spTree>
    <p:extLst>
      <p:ext uri="{BB962C8B-B14F-4D97-AF65-F5344CB8AC3E}">
        <p14:creationId xmlns:p14="http://schemas.microsoft.com/office/powerpoint/2010/main" val="2921008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BF8ED-8BC8-436A-22AB-E3D7190FCC6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6EB782B-EFB4-2C77-B04B-213FBA124543}"/>
              </a:ext>
            </a:extLst>
          </p:cNvPr>
          <p:cNvSpPr>
            <a:spLocks noGrp="1"/>
          </p:cNvSpPr>
          <p:nvPr>
            <p:ph type="title"/>
          </p:nvPr>
        </p:nvSpPr>
        <p:spPr>
          <a:xfrm>
            <a:off x="831850" y="745614"/>
            <a:ext cx="10515600" cy="550605"/>
          </a:xfrm>
        </p:spPr>
        <p:txBody>
          <a:bodyPr>
            <a:normAutofit fontScale="90000"/>
          </a:bodyPr>
          <a:lstStyle/>
          <a:p>
            <a:r>
              <a:rPr lang="fr-CA" dirty="0"/>
              <a:t>Définition d’un processus</a:t>
            </a:r>
          </a:p>
        </p:txBody>
      </p:sp>
      <p:pic>
        <p:nvPicPr>
          <p:cNvPr id="5" name="Image 4">
            <a:extLst>
              <a:ext uri="{FF2B5EF4-FFF2-40B4-BE49-F238E27FC236}">
                <a16:creationId xmlns:a16="http://schemas.microsoft.com/office/drawing/2014/main" id="{E081DC72-86CB-07C4-2D46-13F0173994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4284" y="1296219"/>
            <a:ext cx="9590731" cy="5065434"/>
          </a:xfrm>
          <a:prstGeom prst="rect">
            <a:avLst/>
          </a:prstGeom>
        </p:spPr>
      </p:pic>
    </p:spTree>
    <p:extLst>
      <p:ext uri="{BB962C8B-B14F-4D97-AF65-F5344CB8AC3E}">
        <p14:creationId xmlns:p14="http://schemas.microsoft.com/office/powerpoint/2010/main" val="203128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57BAD8-5004-3D9B-A123-F590ED01FEDD}"/>
              </a:ext>
            </a:extLst>
          </p:cNvPr>
          <p:cNvSpPr>
            <a:spLocks noGrp="1"/>
          </p:cNvSpPr>
          <p:nvPr>
            <p:ph type="title"/>
          </p:nvPr>
        </p:nvSpPr>
        <p:spPr/>
        <p:txBody>
          <a:bodyPr>
            <a:normAutofit fontScale="90000"/>
          </a:bodyPr>
          <a:lstStyle/>
          <a:p>
            <a:r>
              <a:rPr lang="fr-CA" dirty="0"/>
              <a:t>Gestion des erreurs et reprises</a:t>
            </a:r>
          </a:p>
        </p:txBody>
      </p:sp>
      <p:pic>
        <p:nvPicPr>
          <p:cNvPr id="5" name="Image 4">
            <a:extLst>
              <a:ext uri="{FF2B5EF4-FFF2-40B4-BE49-F238E27FC236}">
                <a16:creationId xmlns:a16="http://schemas.microsoft.com/office/drawing/2014/main" id="{35DFAAB8-A3D5-6707-3482-69CFE92F3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2731" y="1347019"/>
            <a:ext cx="9126537" cy="4820266"/>
          </a:xfrm>
          <a:prstGeom prst="rect">
            <a:avLst/>
          </a:prstGeom>
        </p:spPr>
      </p:pic>
    </p:spTree>
    <p:extLst>
      <p:ext uri="{BB962C8B-B14F-4D97-AF65-F5344CB8AC3E}">
        <p14:creationId xmlns:p14="http://schemas.microsoft.com/office/powerpoint/2010/main" val="1923895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79BAC-BF62-8FFC-8C34-1BD903157DB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C623367-CCAE-4D6D-9302-FF779517BAA9}"/>
              </a:ext>
            </a:extLst>
          </p:cNvPr>
          <p:cNvSpPr>
            <a:spLocks noGrp="1"/>
          </p:cNvSpPr>
          <p:nvPr>
            <p:ph type="title"/>
          </p:nvPr>
        </p:nvSpPr>
        <p:spPr>
          <a:xfrm>
            <a:off x="831850" y="745614"/>
            <a:ext cx="10515600" cy="550605"/>
          </a:xfrm>
        </p:spPr>
        <p:txBody>
          <a:bodyPr>
            <a:normAutofit fontScale="90000"/>
          </a:bodyPr>
          <a:lstStyle/>
          <a:p>
            <a:r>
              <a:rPr lang="fr-CA" noProof="0" dirty="0"/>
              <a:t>Valeur et bénéfices pour l’organisation</a:t>
            </a:r>
          </a:p>
        </p:txBody>
      </p:sp>
      <p:sp>
        <p:nvSpPr>
          <p:cNvPr id="34" name="Shape 7">
            <a:extLst>
              <a:ext uri="{FF2B5EF4-FFF2-40B4-BE49-F238E27FC236}">
                <a16:creationId xmlns:a16="http://schemas.microsoft.com/office/drawing/2014/main" id="{331C38DA-E7D2-30CE-CBA2-3567112637F9}"/>
              </a:ext>
            </a:extLst>
          </p:cNvPr>
          <p:cNvSpPr/>
          <p:nvPr/>
        </p:nvSpPr>
        <p:spPr>
          <a:xfrm>
            <a:off x="713922" y="2173864"/>
            <a:ext cx="10764156" cy="6268"/>
          </a:xfrm>
          <a:prstGeom prst="rect">
            <a:avLst/>
          </a:prstGeom>
          <a:solidFill>
            <a:srgbClr val="D8D3C7"/>
          </a:solidFill>
          <a:ln/>
        </p:spPr>
        <p:txBody>
          <a:bodyPr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5" name="Text 8">
            <a:extLst>
              <a:ext uri="{FF2B5EF4-FFF2-40B4-BE49-F238E27FC236}">
                <a16:creationId xmlns:a16="http://schemas.microsoft.com/office/drawing/2014/main" id="{560B7C7F-F8BD-79AC-7255-EEDE663C6520}"/>
              </a:ext>
            </a:extLst>
          </p:cNvPr>
          <p:cNvSpPr/>
          <p:nvPr/>
        </p:nvSpPr>
        <p:spPr>
          <a:xfrm>
            <a:off x="713922" y="2299606"/>
            <a:ext cx="412673" cy="360000"/>
          </a:xfrm>
          <a:prstGeom prst="rect">
            <a:avLst/>
          </a:prstGeom>
          <a:noFill/>
          <a:ln/>
        </p:spPr>
        <p:txBody>
          <a:bodyPr wrap="square" lIns="25400" tIns="25400" rIns="25400" bIns="25400" rtlCol="0" anchor="ctr">
            <a:no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fr-CA" sz="1600" b="1" dirty="0">
                <a:solidFill>
                  <a:srgbClr val="000000"/>
                </a:solidFill>
                <a:latin typeface="Aptos" panose="020B0004020202020204" pitchFamily="34" charset="0"/>
                <a:ea typeface="JetBrains Mono" pitchFamily="34" charset="-122"/>
                <a:cs typeface="JetBrains Mono" pitchFamily="34" charset="-120"/>
              </a:rPr>
              <a:t>01</a:t>
            </a:r>
            <a:r>
              <a:rPr kumimoji="0" lang="fr-CA" sz="1600" b="1" i="0" u="none" strike="noStrike" kern="1200" cap="none" spc="0" normalizeH="0" baseline="0" noProof="0" dirty="0">
                <a:ln>
                  <a:noFill/>
                </a:ln>
                <a:solidFill>
                  <a:srgbClr val="000000"/>
                </a:solidFill>
                <a:effectLst/>
                <a:uLnTx/>
                <a:uFillTx/>
                <a:latin typeface="Aptos" panose="020B0004020202020204" pitchFamily="34" charset="0"/>
                <a:ea typeface="JetBrains Mono" pitchFamily="34" charset="-122"/>
                <a:cs typeface="JetBrains Mono" pitchFamily="34" charset="-120"/>
              </a:rPr>
              <a:t> </a:t>
            </a:r>
            <a:endParaRPr kumimoji="0" lang="fr-CA" sz="1600" b="1"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6" name="Text 9">
            <a:extLst>
              <a:ext uri="{FF2B5EF4-FFF2-40B4-BE49-F238E27FC236}">
                <a16:creationId xmlns:a16="http://schemas.microsoft.com/office/drawing/2014/main" id="{1258EF11-009A-3DB2-256D-EC4F30C3A60B}"/>
              </a:ext>
            </a:extLst>
          </p:cNvPr>
          <p:cNvSpPr/>
          <p:nvPr/>
        </p:nvSpPr>
        <p:spPr>
          <a:xfrm>
            <a:off x="1209800" y="2299606"/>
            <a:ext cx="4680000" cy="360000"/>
          </a:xfrm>
          <a:prstGeom prst="rect">
            <a:avLst/>
          </a:prstGeom>
          <a:noFill/>
          <a:ln/>
        </p:spPr>
        <p:txBody>
          <a:bodyPr wrap="square" lIns="25400" tIns="25400" rIns="25400" bIns="25400" rtlCol="0" anchor="ctr">
            <a:no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fr-CA" sz="1600" b="1" i="0" u="none" strike="noStrike" kern="0" cap="none" spc="-11" normalizeH="0" baseline="0" noProof="0" dirty="0">
                <a:ln>
                  <a:noFill/>
                </a:ln>
                <a:solidFill>
                  <a:srgbClr val="1A1D24"/>
                </a:solidFill>
                <a:effectLst/>
                <a:uLnTx/>
                <a:uFillTx/>
                <a:latin typeface="Aptos" panose="020B0004020202020204" pitchFamily="34" charset="0"/>
                <a:ea typeface="-apple-system" pitchFamily="34" charset="-122"/>
                <a:cs typeface="-apple-system" pitchFamily="34" charset="-120"/>
              </a:rPr>
              <a:t>Fiabilise et sécurise l'exécution des processus</a:t>
            </a:r>
            <a:endParaRPr kumimoji="0" lang="fr-CA" sz="16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7" name="Text 10">
            <a:extLst>
              <a:ext uri="{FF2B5EF4-FFF2-40B4-BE49-F238E27FC236}">
                <a16:creationId xmlns:a16="http://schemas.microsoft.com/office/drawing/2014/main" id="{A0F89C5A-D7A8-C655-B15B-397B20CC6A0D}"/>
              </a:ext>
            </a:extLst>
          </p:cNvPr>
          <p:cNvSpPr/>
          <p:nvPr/>
        </p:nvSpPr>
        <p:spPr>
          <a:xfrm>
            <a:off x="6109015" y="2299606"/>
            <a:ext cx="5369063" cy="360000"/>
          </a:xfrm>
          <a:prstGeom prst="rect">
            <a:avLst/>
          </a:prstGeom>
          <a:noFill/>
          <a:ln/>
        </p:spPr>
        <p:txBody>
          <a:bodyPr wrap="square" lIns="25400" tIns="25400" rIns="25400" bIns="25400" rtlCol="0" anchor="ctr">
            <a:no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fr-CA" sz="1600" b="0" i="0" u="none" strike="noStrike" kern="1200" cap="none" spc="0" normalizeH="0" baseline="0" noProof="0" dirty="0">
                <a:ln>
                  <a:noFill/>
                </a:ln>
                <a:solidFill>
                  <a:srgbClr val="4A4F5A"/>
                </a:solidFill>
                <a:effectLst/>
                <a:uLnTx/>
                <a:uFillTx/>
                <a:latin typeface="Aptos" panose="020B0004020202020204" pitchFamily="34" charset="0"/>
                <a:ea typeface="-apple-system" pitchFamily="34" charset="-122"/>
                <a:cs typeface="-apple-system" pitchFamily="34" charset="-120"/>
              </a:rPr>
              <a:t>Suivi en temps réel des traitements et des états</a:t>
            </a:r>
            <a:endParaRPr kumimoji="0" lang="fr-CA" sz="16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8" name="Shape 11">
            <a:extLst>
              <a:ext uri="{FF2B5EF4-FFF2-40B4-BE49-F238E27FC236}">
                <a16:creationId xmlns:a16="http://schemas.microsoft.com/office/drawing/2014/main" id="{3B4C2689-72BE-0A07-CC58-97A4008B8606}"/>
              </a:ext>
            </a:extLst>
          </p:cNvPr>
          <p:cNvSpPr/>
          <p:nvPr/>
        </p:nvSpPr>
        <p:spPr>
          <a:xfrm>
            <a:off x="713922" y="2775603"/>
            <a:ext cx="10764156" cy="6268"/>
          </a:xfrm>
          <a:prstGeom prst="rect">
            <a:avLst/>
          </a:prstGeom>
          <a:solidFill>
            <a:srgbClr val="D8D3C7"/>
          </a:solidFill>
          <a:ln/>
        </p:spPr>
        <p:txBody>
          <a:bodyPr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9" name="Text 12">
            <a:extLst>
              <a:ext uri="{FF2B5EF4-FFF2-40B4-BE49-F238E27FC236}">
                <a16:creationId xmlns:a16="http://schemas.microsoft.com/office/drawing/2014/main" id="{A0DD99F2-254B-FE75-5D17-588AE4C9560D}"/>
              </a:ext>
            </a:extLst>
          </p:cNvPr>
          <p:cNvSpPr/>
          <p:nvPr/>
        </p:nvSpPr>
        <p:spPr>
          <a:xfrm>
            <a:off x="713922" y="2901712"/>
            <a:ext cx="412673" cy="360000"/>
          </a:xfrm>
          <a:prstGeom prst="rect">
            <a:avLst/>
          </a:prstGeom>
          <a:noFill/>
          <a:ln/>
        </p:spPr>
        <p:txBody>
          <a:bodyPr wrap="square" lIns="25400" tIns="25400" rIns="25400" bIns="25400" rtlCol="0" anchor="ct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1600" b="1" i="0" u="none" strike="noStrike" kern="1200" cap="none" spc="0" normalizeH="0" baseline="0" noProof="0" dirty="0">
                <a:ln>
                  <a:noFill/>
                </a:ln>
                <a:solidFill>
                  <a:srgbClr val="000000"/>
                </a:solidFill>
                <a:effectLst/>
                <a:uLnTx/>
                <a:uFillTx/>
                <a:latin typeface="Aptos" panose="020B0004020202020204" pitchFamily="34" charset="0"/>
                <a:ea typeface="JetBrains Mono" pitchFamily="34" charset="-122"/>
                <a:cs typeface="JetBrains Mono" pitchFamily="34" charset="-120"/>
              </a:rPr>
              <a:t>02</a:t>
            </a:r>
            <a:endParaRPr kumimoji="0" lang="fr-CA" sz="1600" b="1"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0" name="Text 13">
            <a:extLst>
              <a:ext uri="{FF2B5EF4-FFF2-40B4-BE49-F238E27FC236}">
                <a16:creationId xmlns:a16="http://schemas.microsoft.com/office/drawing/2014/main" id="{7B59C89F-83AB-825F-9A35-1357212CCF83}"/>
              </a:ext>
            </a:extLst>
          </p:cNvPr>
          <p:cNvSpPr/>
          <p:nvPr/>
        </p:nvSpPr>
        <p:spPr>
          <a:xfrm>
            <a:off x="1209800" y="2901712"/>
            <a:ext cx="4899215" cy="360000"/>
          </a:xfrm>
          <a:prstGeom prst="rect">
            <a:avLst/>
          </a:prstGeom>
          <a:noFill/>
          <a:ln/>
        </p:spPr>
        <p:txBody>
          <a:bodyPr wrap="square" lIns="25400" tIns="25400" rIns="25400" bIns="2540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1600" b="1" i="0" u="none" strike="noStrike" kern="0" cap="none" spc="-11" normalizeH="0" baseline="0" noProof="0" dirty="0">
                <a:ln>
                  <a:noFill/>
                </a:ln>
                <a:solidFill>
                  <a:srgbClr val="1A1D24"/>
                </a:solidFill>
                <a:effectLst/>
                <a:uLnTx/>
                <a:uFillTx/>
                <a:latin typeface="Aptos" panose="020B0004020202020204" pitchFamily="34" charset="0"/>
                <a:ea typeface="-apple-system" pitchFamily="34" charset="-122"/>
                <a:cs typeface="+mn-cs"/>
              </a:rPr>
              <a:t>Réduit les risques opérationnels et les interruptions</a:t>
            </a:r>
          </a:p>
        </p:txBody>
      </p:sp>
      <p:sp>
        <p:nvSpPr>
          <p:cNvPr id="41" name="Text 14">
            <a:extLst>
              <a:ext uri="{FF2B5EF4-FFF2-40B4-BE49-F238E27FC236}">
                <a16:creationId xmlns:a16="http://schemas.microsoft.com/office/drawing/2014/main" id="{907F5EE6-16E3-DC4D-8B3B-854A46466B11}"/>
              </a:ext>
            </a:extLst>
          </p:cNvPr>
          <p:cNvSpPr/>
          <p:nvPr/>
        </p:nvSpPr>
        <p:spPr>
          <a:xfrm>
            <a:off x="6109015" y="2901712"/>
            <a:ext cx="5369063" cy="360000"/>
          </a:xfrm>
          <a:prstGeom prst="rect">
            <a:avLst/>
          </a:prstGeom>
          <a:noFill/>
          <a:ln/>
        </p:spPr>
        <p:txBody>
          <a:bodyPr wrap="square" lIns="25400" tIns="25400" rIns="25400" bIns="25400" rtlCol="0" anchor="ctr">
            <a:noAutofit/>
          </a:bodyPr>
          <a:lstStyle/>
          <a:p>
            <a:pPr defTabSz="457200">
              <a:lnSpc>
                <a:spcPct val="140000"/>
              </a:lnSpc>
            </a:pPr>
            <a:r>
              <a:rPr lang="fr-CA" sz="1600" dirty="0">
                <a:solidFill>
                  <a:srgbClr val="4A4F5A"/>
                </a:solidFill>
                <a:latin typeface="Aptos" panose="020B0004020202020204" pitchFamily="34" charset="0"/>
                <a:ea typeface="-apple-system" pitchFamily="34" charset="-122"/>
              </a:rPr>
              <a:t>Gestion des événements et mécanismes de reprise</a:t>
            </a:r>
          </a:p>
        </p:txBody>
      </p:sp>
      <p:sp>
        <p:nvSpPr>
          <p:cNvPr id="42" name="Shape 15">
            <a:extLst>
              <a:ext uri="{FF2B5EF4-FFF2-40B4-BE49-F238E27FC236}">
                <a16:creationId xmlns:a16="http://schemas.microsoft.com/office/drawing/2014/main" id="{B85A89D3-641B-C020-C7C1-111B21409BD7}"/>
              </a:ext>
            </a:extLst>
          </p:cNvPr>
          <p:cNvSpPr/>
          <p:nvPr/>
        </p:nvSpPr>
        <p:spPr>
          <a:xfrm>
            <a:off x="713922" y="3392679"/>
            <a:ext cx="10764156" cy="6268"/>
          </a:xfrm>
          <a:prstGeom prst="rect">
            <a:avLst/>
          </a:prstGeom>
          <a:solidFill>
            <a:srgbClr val="D8D3C7"/>
          </a:solidFill>
          <a:ln/>
        </p:spPr>
        <p:txBody>
          <a:bodyPr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3" name="Text 16">
            <a:extLst>
              <a:ext uri="{FF2B5EF4-FFF2-40B4-BE49-F238E27FC236}">
                <a16:creationId xmlns:a16="http://schemas.microsoft.com/office/drawing/2014/main" id="{59B1E3D1-27D6-C171-96CB-862213E2A48E}"/>
              </a:ext>
            </a:extLst>
          </p:cNvPr>
          <p:cNvSpPr/>
          <p:nvPr/>
        </p:nvSpPr>
        <p:spPr>
          <a:xfrm>
            <a:off x="713922" y="3538487"/>
            <a:ext cx="412673" cy="360000"/>
          </a:xfrm>
          <a:prstGeom prst="rect">
            <a:avLst/>
          </a:prstGeom>
          <a:noFill/>
          <a:ln/>
        </p:spPr>
        <p:txBody>
          <a:bodyPr wrap="square" lIns="25400" tIns="25400" rIns="25400" bIns="25400" rtlCol="0" anchor="ctr">
            <a:noAutofit/>
          </a:bodyPr>
          <a:lstStyle/>
          <a:p>
            <a:pPr defTabSz="457200"/>
            <a:r>
              <a:rPr lang="fr-CA" sz="1600" b="1" dirty="0">
                <a:solidFill>
                  <a:srgbClr val="000000"/>
                </a:solidFill>
                <a:latin typeface="Aptos" panose="020B0004020202020204" pitchFamily="34" charset="0"/>
                <a:ea typeface="JetBrains Mono" pitchFamily="34" charset="-122"/>
              </a:rPr>
              <a:t>03</a:t>
            </a:r>
          </a:p>
        </p:txBody>
      </p:sp>
      <p:sp>
        <p:nvSpPr>
          <p:cNvPr id="44" name="Text 17">
            <a:extLst>
              <a:ext uri="{FF2B5EF4-FFF2-40B4-BE49-F238E27FC236}">
                <a16:creationId xmlns:a16="http://schemas.microsoft.com/office/drawing/2014/main" id="{906B1EE7-62DE-D361-EC0D-AE7FDA428EAE}"/>
              </a:ext>
            </a:extLst>
          </p:cNvPr>
          <p:cNvSpPr/>
          <p:nvPr/>
        </p:nvSpPr>
        <p:spPr>
          <a:xfrm>
            <a:off x="1209800" y="3538487"/>
            <a:ext cx="4665984" cy="360000"/>
          </a:xfrm>
          <a:prstGeom prst="rect">
            <a:avLst/>
          </a:prstGeom>
          <a:noFill/>
          <a:ln/>
        </p:spPr>
        <p:txBody>
          <a:bodyPr wrap="square" lIns="25400" tIns="25400" rIns="25400" bIns="25400" rtlCol="0" anchor="ctr">
            <a:norm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fr-CA" sz="1600" b="1" i="0" u="none" strike="noStrike" kern="0" cap="none" spc="-11" normalizeH="0" baseline="0" noProof="0" dirty="0">
                <a:ln>
                  <a:noFill/>
                </a:ln>
                <a:solidFill>
                  <a:srgbClr val="1A1D24"/>
                </a:solidFill>
                <a:effectLst/>
                <a:uLnTx/>
                <a:uFillTx/>
                <a:latin typeface="Aptos" panose="020B0004020202020204" pitchFamily="34" charset="0"/>
                <a:ea typeface="-apple-system" pitchFamily="34" charset="-122"/>
                <a:cs typeface="-apple-system" pitchFamily="34" charset="-120"/>
              </a:rPr>
              <a:t>Améliore la gouvernance et la traçabilité</a:t>
            </a:r>
            <a:endParaRPr kumimoji="0" lang="fr-CA" sz="16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5" name="Text 18">
            <a:extLst>
              <a:ext uri="{FF2B5EF4-FFF2-40B4-BE49-F238E27FC236}">
                <a16:creationId xmlns:a16="http://schemas.microsoft.com/office/drawing/2014/main" id="{A94B6EE3-3CB9-AC77-093F-6E2A22486259}"/>
              </a:ext>
            </a:extLst>
          </p:cNvPr>
          <p:cNvSpPr/>
          <p:nvPr/>
        </p:nvSpPr>
        <p:spPr>
          <a:xfrm>
            <a:off x="6109015" y="3538487"/>
            <a:ext cx="5369063" cy="360000"/>
          </a:xfrm>
          <a:prstGeom prst="rect">
            <a:avLst/>
          </a:prstGeom>
          <a:noFill/>
          <a:ln/>
        </p:spPr>
        <p:txBody>
          <a:bodyPr wrap="square" lIns="25400" tIns="25400" rIns="25400" bIns="25400" rtlCol="0" anchor="ctr">
            <a:noAutofit/>
          </a:bodyPr>
          <a:lstStyle/>
          <a:p>
            <a:pPr marR="0" lvl="0" indent="0" defTabSz="457200" fontAlgn="auto">
              <a:lnSpc>
                <a:spcPct val="140000"/>
              </a:lnSpc>
              <a:spcBef>
                <a:spcPts val="0"/>
              </a:spcBef>
              <a:spcAft>
                <a:spcPts val="0"/>
              </a:spcAft>
              <a:buClrTx/>
              <a:buSzTx/>
              <a:buFontTx/>
              <a:buNone/>
              <a:tabLst/>
              <a:defRPr/>
            </a:pPr>
            <a:r>
              <a:rPr lang="fr-CA" sz="1600" dirty="0">
                <a:solidFill>
                  <a:srgbClr val="4A4F5A"/>
                </a:solidFill>
                <a:latin typeface="Aptos" panose="020B0004020202020204" pitchFamily="34" charset="0"/>
                <a:ea typeface="-apple-system" pitchFamily="34" charset="-122"/>
              </a:rPr>
              <a:t>Versionnage et audit complet des processus</a:t>
            </a:r>
          </a:p>
        </p:txBody>
      </p:sp>
      <p:sp>
        <p:nvSpPr>
          <p:cNvPr id="46" name="Shape 19">
            <a:extLst>
              <a:ext uri="{FF2B5EF4-FFF2-40B4-BE49-F238E27FC236}">
                <a16:creationId xmlns:a16="http://schemas.microsoft.com/office/drawing/2014/main" id="{0A68D808-CA8D-87CF-FFA9-586604AD4D2C}"/>
              </a:ext>
            </a:extLst>
          </p:cNvPr>
          <p:cNvSpPr/>
          <p:nvPr/>
        </p:nvSpPr>
        <p:spPr>
          <a:xfrm>
            <a:off x="713922" y="4003470"/>
            <a:ext cx="10764156" cy="6268"/>
          </a:xfrm>
          <a:prstGeom prst="rect">
            <a:avLst/>
          </a:prstGeom>
          <a:solidFill>
            <a:srgbClr val="D8D3C7"/>
          </a:solidFill>
          <a:ln/>
        </p:spPr>
        <p:txBody>
          <a:bodyPr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7" name="Text 20">
            <a:extLst>
              <a:ext uri="{FF2B5EF4-FFF2-40B4-BE49-F238E27FC236}">
                <a16:creationId xmlns:a16="http://schemas.microsoft.com/office/drawing/2014/main" id="{3F9F1D5A-FF36-4A65-0B53-7217D308C32E}"/>
              </a:ext>
            </a:extLst>
          </p:cNvPr>
          <p:cNvSpPr/>
          <p:nvPr/>
        </p:nvSpPr>
        <p:spPr>
          <a:xfrm>
            <a:off x="713922" y="4148188"/>
            <a:ext cx="412673" cy="360000"/>
          </a:xfrm>
          <a:prstGeom prst="rect">
            <a:avLst/>
          </a:prstGeom>
          <a:noFill/>
          <a:ln/>
        </p:spPr>
        <p:txBody>
          <a:bodyPr wrap="square" lIns="25400" tIns="25400" rIns="25400" bIns="25400" rtlCol="0" anchor="ct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1600" b="1" i="0" u="none" strike="noStrike" kern="1200" cap="none" spc="0" normalizeH="0" baseline="0" noProof="0" dirty="0">
                <a:ln>
                  <a:noFill/>
                </a:ln>
                <a:solidFill>
                  <a:srgbClr val="000000"/>
                </a:solidFill>
                <a:effectLst/>
                <a:uLnTx/>
                <a:uFillTx/>
                <a:latin typeface="Aptos" panose="020B0004020202020204" pitchFamily="34" charset="0"/>
                <a:ea typeface="JetBrains Mono" pitchFamily="34" charset="-122"/>
                <a:cs typeface="JetBrains Mono" pitchFamily="34" charset="-120"/>
              </a:rPr>
              <a:t>04</a:t>
            </a:r>
            <a:endParaRPr kumimoji="0" lang="fr-CA" sz="1600" b="1"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8" name="Text 21">
            <a:extLst>
              <a:ext uri="{FF2B5EF4-FFF2-40B4-BE49-F238E27FC236}">
                <a16:creationId xmlns:a16="http://schemas.microsoft.com/office/drawing/2014/main" id="{A836D83A-C9D5-CA6B-F703-A88E5E93875D}"/>
              </a:ext>
            </a:extLst>
          </p:cNvPr>
          <p:cNvSpPr/>
          <p:nvPr/>
        </p:nvSpPr>
        <p:spPr>
          <a:xfrm>
            <a:off x="1209800" y="4148188"/>
            <a:ext cx="4665984" cy="360000"/>
          </a:xfrm>
          <a:prstGeom prst="rect">
            <a:avLst/>
          </a:prstGeom>
          <a:noFill/>
          <a:ln/>
        </p:spPr>
        <p:txBody>
          <a:bodyPr wrap="square" lIns="25400" tIns="25400" rIns="25400" bIns="25400" rtlCol="0" anchor="ctr">
            <a:no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fr-CA" sz="1600" b="1" i="0" u="none" strike="noStrike" kern="0" cap="none" spc="-11" normalizeH="0" baseline="0" noProof="0" dirty="0">
                <a:ln>
                  <a:noFill/>
                </a:ln>
                <a:solidFill>
                  <a:srgbClr val="1A1D24"/>
                </a:solidFill>
                <a:effectLst/>
                <a:uLnTx/>
                <a:uFillTx/>
                <a:latin typeface="Aptos" panose="020B0004020202020204" pitchFamily="34" charset="0"/>
                <a:ea typeface="-apple-system" pitchFamily="34" charset="-122"/>
                <a:cs typeface="-apple-system" pitchFamily="34" charset="-120"/>
              </a:rPr>
              <a:t>Accélère l'évolution en limitant les impacts</a:t>
            </a:r>
            <a:endParaRPr kumimoji="0" lang="fr-CA" sz="16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9" name="Text 22">
            <a:extLst>
              <a:ext uri="{FF2B5EF4-FFF2-40B4-BE49-F238E27FC236}">
                <a16:creationId xmlns:a16="http://schemas.microsoft.com/office/drawing/2014/main" id="{3FF12C47-6A75-9C60-6E64-2EB3CE2B0950}"/>
              </a:ext>
            </a:extLst>
          </p:cNvPr>
          <p:cNvSpPr/>
          <p:nvPr/>
        </p:nvSpPr>
        <p:spPr>
          <a:xfrm>
            <a:off x="6109015" y="4148188"/>
            <a:ext cx="5369063" cy="360000"/>
          </a:xfrm>
          <a:prstGeom prst="rect">
            <a:avLst/>
          </a:prstGeom>
          <a:noFill/>
          <a:ln/>
        </p:spPr>
        <p:txBody>
          <a:bodyPr wrap="square" lIns="25400" tIns="25400" rIns="25400" bIns="25400" rtlCol="0" anchor="ctr">
            <a:noAutofit/>
          </a:bodyPr>
          <a:lstStyle/>
          <a:p>
            <a:pPr marR="0" lvl="0" indent="0" defTabSz="457200" fontAlgn="auto">
              <a:lnSpc>
                <a:spcPct val="140000"/>
              </a:lnSpc>
              <a:spcBef>
                <a:spcPts val="0"/>
              </a:spcBef>
              <a:spcAft>
                <a:spcPts val="0"/>
              </a:spcAft>
              <a:buClrTx/>
              <a:buSzTx/>
              <a:buFontTx/>
              <a:buNone/>
              <a:tabLst/>
              <a:defRPr/>
            </a:pPr>
            <a:r>
              <a:rPr lang="fr-CA" sz="1600" dirty="0">
                <a:solidFill>
                  <a:srgbClr val="4A4F5A"/>
                </a:solidFill>
                <a:latin typeface="Aptos" panose="020B0004020202020204" pitchFamily="34" charset="0"/>
                <a:ea typeface="-apple-system" pitchFamily="34" charset="-122"/>
              </a:rPr>
              <a:t>Environnements de test et de simulation avant la production</a:t>
            </a:r>
          </a:p>
        </p:txBody>
      </p:sp>
      <p:sp>
        <p:nvSpPr>
          <p:cNvPr id="50" name="Shape 23">
            <a:extLst>
              <a:ext uri="{FF2B5EF4-FFF2-40B4-BE49-F238E27FC236}">
                <a16:creationId xmlns:a16="http://schemas.microsoft.com/office/drawing/2014/main" id="{0CD54116-EEAE-A995-ED22-9B8231E7EE80}"/>
              </a:ext>
            </a:extLst>
          </p:cNvPr>
          <p:cNvSpPr/>
          <p:nvPr/>
        </p:nvSpPr>
        <p:spPr>
          <a:xfrm>
            <a:off x="713922" y="5252216"/>
            <a:ext cx="10764156" cy="6268"/>
          </a:xfrm>
          <a:prstGeom prst="rect">
            <a:avLst/>
          </a:prstGeom>
          <a:solidFill>
            <a:srgbClr val="D8D3C7"/>
          </a:solidFill>
          <a:ln/>
        </p:spPr>
        <p:txBody>
          <a:bodyPr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51" name="Shape 24">
            <a:extLst>
              <a:ext uri="{FF2B5EF4-FFF2-40B4-BE49-F238E27FC236}">
                <a16:creationId xmlns:a16="http://schemas.microsoft.com/office/drawing/2014/main" id="{9EF118AC-95DB-670F-8A1F-42837746CFC2}"/>
              </a:ext>
            </a:extLst>
          </p:cNvPr>
          <p:cNvSpPr/>
          <p:nvPr/>
        </p:nvSpPr>
        <p:spPr>
          <a:xfrm>
            <a:off x="713922" y="4614262"/>
            <a:ext cx="10764156" cy="6268"/>
          </a:xfrm>
          <a:prstGeom prst="rect">
            <a:avLst/>
          </a:prstGeom>
          <a:solidFill>
            <a:srgbClr val="D8D3C7"/>
          </a:solidFill>
          <a:ln/>
        </p:spPr>
        <p:txBody>
          <a:bodyPr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52" name="Text 25">
            <a:extLst>
              <a:ext uri="{FF2B5EF4-FFF2-40B4-BE49-F238E27FC236}">
                <a16:creationId xmlns:a16="http://schemas.microsoft.com/office/drawing/2014/main" id="{64871546-439F-43E5-2D04-A6A6F9E849F6}"/>
              </a:ext>
            </a:extLst>
          </p:cNvPr>
          <p:cNvSpPr/>
          <p:nvPr/>
        </p:nvSpPr>
        <p:spPr>
          <a:xfrm>
            <a:off x="713922" y="4761158"/>
            <a:ext cx="412673" cy="360000"/>
          </a:xfrm>
          <a:prstGeom prst="rect">
            <a:avLst/>
          </a:prstGeom>
          <a:noFill/>
          <a:ln/>
        </p:spPr>
        <p:txBody>
          <a:bodyPr wrap="square" lIns="25400" tIns="25400" rIns="25400" bIns="25400" rtlCol="0" anchor="ct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CA" sz="1600" b="1" i="0" u="none" strike="noStrike" kern="1200" cap="none" spc="0" normalizeH="0" baseline="0" noProof="0" dirty="0">
                <a:ln>
                  <a:noFill/>
                </a:ln>
                <a:solidFill>
                  <a:srgbClr val="000000"/>
                </a:solidFill>
                <a:effectLst/>
                <a:uLnTx/>
                <a:uFillTx/>
                <a:latin typeface="Aptos" panose="020B0004020202020204" pitchFamily="34" charset="0"/>
                <a:ea typeface="JetBrains Mono" pitchFamily="34" charset="-122"/>
                <a:cs typeface="JetBrains Mono" pitchFamily="34" charset="-120"/>
              </a:rPr>
              <a:t>05</a:t>
            </a:r>
            <a:endParaRPr kumimoji="0" lang="fr-CA" sz="1600" b="1"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53" name="Text 26">
            <a:extLst>
              <a:ext uri="{FF2B5EF4-FFF2-40B4-BE49-F238E27FC236}">
                <a16:creationId xmlns:a16="http://schemas.microsoft.com/office/drawing/2014/main" id="{4170E7B7-8D32-ACAA-61F1-E924D373CEC1}"/>
              </a:ext>
            </a:extLst>
          </p:cNvPr>
          <p:cNvSpPr/>
          <p:nvPr/>
        </p:nvSpPr>
        <p:spPr>
          <a:xfrm>
            <a:off x="1209800" y="4761158"/>
            <a:ext cx="4184762" cy="360000"/>
          </a:xfrm>
          <a:prstGeom prst="rect">
            <a:avLst/>
          </a:prstGeom>
          <a:noFill/>
          <a:ln/>
        </p:spPr>
        <p:txBody>
          <a:bodyPr wrap="square" lIns="25400" tIns="25400" rIns="25400" bIns="25400" rtlCol="0" anchor="ctr">
            <a:noAutofit/>
          </a:bodyPr>
          <a:lstStyle/>
          <a:p>
            <a:pPr marL="0" marR="0" lvl="0" indent="0" algn="l" defTabSz="457200" rtl="0" eaLnBrk="1" fontAlgn="auto" latinLnBrk="0" hangingPunct="1">
              <a:lnSpc>
                <a:spcPct val="125000"/>
              </a:lnSpc>
              <a:spcBef>
                <a:spcPts val="0"/>
              </a:spcBef>
              <a:spcAft>
                <a:spcPts val="0"/>
              </a:spcAft>
              <a:buClrTx/>
              <a:buSzTx/>
              <a:buFontTx/>
              <a:buNone/>
              <a:tabLst/>
              <a:defRPr/>
            </a:pPr>
            <a:r>
              <a:rPr kumimoji="0" lang="fr-CA" sz="1600" b="1" i="0" u="none" strike="noStrike" kern="0" cap="none" spc="-11" normalizeH="0" baseline="0" noProof="0" dirty="0">
                <a:ln>
                  <a:noFill/>
                </a:ln>
                <a:solidFill>
                  <a:srgbClr val="1A1D24"/>
                </a:solidFill>
                <a:effectLst/>
                <a:uLnTx/>
                <a:uFillTx/>
                <a:latin typeface="Aptos" panose="020B0004020202020204" pitchFamily="34" charset="0"/>
                <a:ea typeface="-apple-system" pitchFamily="34" charset="-122"/>
                <a:cs typeface="-apple-system" pitchFamily="34" charset="-120"/>
              </a:rPr>
              <a:t>Renforce la responsabilisation des équipes</a:t>
            </a:r>
            <a:endParaRPr kumimoji="0" lang="fr-CA" sz="16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54" name="Text 27">
            <a:extLst>
              <a:ext uri="{FF2B5EF4-FFF2-40B4-BE49-F238E27FC236}">
                <a16:creationId xmlns:a16="http://schemas.microsoft.com/office/drawing/2014/main" id="{900D39F8-BC82-5006-31DA-7999E08F5357}"/>
              </a:ext>
            </a:extLst>
          </p:cNvPr>
          <p:cNvSpPr/>
          <p:nvPr/>
        </p:nvSpPr>
        <p:spPr>
          <a:xfrm>
            <a:off x="6109015" y="4761158"/>
            <a:ext cx="5369063" cy="360000"/>
          </a:xfrm>
          <a:prstGeom prst="rect">
            <a:avLst/>
          </a:prstGeom>
          <a:noFill/>
          <a:ln/>
        </p:spPr>
        <p:txBody>
          <a:bodyPr wrap="square" lIns="25400" tIns="25400" rIns="25400" bIns="25400" rtlCol="0" anchor="ctr">
            <a:noAutofit/>
          </a:bodyPr>
          <a:lstStyle/>
          <a:p>
            <a:pPr defTabSz="457200">
              <a:lnSpc>
                <a:spcPct val="140000"/>
              </a:lnSpc>
            </a:pPr>
            <a:r>
              <a:rPr lang="fr-CA" sz="1600" dirty="0">
                <a:solidFill>
                  <a:srgbClr val="4A4F5A"/>
                </a:solidFill>
                <a:latin typeface="Aptos" panose="020B0004020202020204" pitchFamily="34" charset="0"/>
                <a:ea typeface="-apple-system" pitchFamily="34" charset="-122"/>
              </a:rPr>
              <a:t>Gestion fine des accès par équipe et par processus</a:t>
            </a:r>
          </a:p>
        </p:txBody>
      </p:sp>
      <p:sp>
        <p:nvSpPr>
          <p:cNvPr id="4" name="ZoneTexte 3">
            <a:extLst>
              <a:ext uri="{FF2B5EF4-FFF2-40B4-BE49-F238E27FC236}">
                <a16:creationId xmlns:a16="http://schemas.microsoft.com/office/drawing/2014/main" id="{5999C729-F74C-9669-8A48-3D0A1883D45F}"/>
              </a:ext>
            </a:extLst>
          </p:cNvPr>
          <p:cNvSpPr txBox="1"/>
          <p:nvPr/>
        </p:nvSpPr>
        <p:spPr>
          <a:xfrm>
            <a:off x="831849" y="1296792"/>
            <a:ext cx="3957434" cy="461665"/>
          </a:xfrm>
          <a:prstGeom prst="rect">
            <a:avLst/>
          </a:prstGeom>
          <a:noFill/>
        </p:spPr>
        <p:txBody>
          <a:bodyPr wrap="square" rtlCol="0">
            <a:spAutoFit/>
          </a:bodyPr>
          <a:lstStyle/>
          <a:p>
            <a:r>
              <a:rPr lang="fr-CA" sz="2400" i="1" dirty="0">
                <a:solidFill>
                  <a:srgbClr val="215093"/>
                </a:solidFill>
              </a:rPr>
              <a:t>Un produit complet et robuste</a:t>
            </a:r>
          </a:p>
        </p:txBody>
      </p:sp>
    </p:spTree>
    <p:extLst>
      <p:ext uri="{BB962C8B-B14F-4D97-AF65-F5344CB8AC3E}">
        <p14:creationId xmlns:p14="http://schemas.microsoft.com/office/powerpoint/2010/main" val="2649364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86FFD4-2FAA-83AD-4F28-4434FF90B68F}"/>
              </a:ext>
            </a:extLst>
          </p:cNvPr>
          <p:cNvSpPr>
            <a:spLocks noGrp="1"/>
          </p:cNvSpPr>
          <p:nvPr>
            <p:ph type="title"/>
          </p:nvPr>
        </p:nvSpPr>
        <p:spPr>
          <a:xfrm>
            <a:off x="838200" y="724766"/>
            <a:ext cx="10515600" cy="550607"/>
          </a:xfrm>
        </p:spPr>
        <p:txBody>
          <a:bodyPr>
            <a:normAutofit fontScale="90000"/>
          </a:bodyPr>
          <a:lstStyle/>
          <a:p>
            <a:r>
              <a:rPr lang="fr-CA" dirty="0"/>
              <a:t>Stratégie de développement</a:t>
            </a:r>
          </a:p>
        </p:txBody>
      </p:sp>
      <p:sp>
        <p:nvSpPr>
          <p:cNvPr id="4" name="Rectangle 3">
            <a:extLst>
              <a:ext uri="{FF2B5EF4-FFF2-40B4-BE49-F238E27FC236}">
                <a16:creationId xmlns:a16="http://schemas.microsoft.com/office/drawing/2014/main" id="{EE211BCF-B7CA-4DB6-4D36-361604D32E37}"/>
              </a:ext>
            </a:extLst>
          </p:cNvPr>
          <p:cNvSpPr/>
          <p:nvPr/>
        </p:nvSpPr>
        <p:spPr>
          <a:xfrm>
            <a:off x="859097" y="1231442"/>
            <a:ext cx="10515600" cy="461665"/>
          </a:xfrm>
          <a:prstGeom prst="rect">
            <a:avLst/>
          </a:prstGeom>
          <a:noFill/>
        </p:spPr>
        <p:txBody>
          <a:bodyPr wrap="square" lIns="91440" tIns="45720" rIns="91440" bIns="45720">
            <a:spAutoFit/>
          </a:bodyPr>
          <a:lstStyle/>
          <a:p>
            <a:pPr marR="0" lvl="0" indent="0" fontAlgn="auto">
              <a:lnSpc>
                <a:spcPct val="100000"/>
              </a:lnSpc>
              <a:spcBef>
                <a:spcPts val="0"/>
              </a:spcBef>
              <a:spcAft>
                <a:spcPts val="0"/>
              </a:spcAft>
              <a:buClrTx/>
              <a:buSzTx/>
              <a:buFontTx/>
              <a:buNone/>
              <a:tabLst/>
              <a:defRPr/>
            </a:pPr>
            <a:r>
              <a:rPr lang="fr-CA" sz="2400" i="1" dirty="0">
                <a:solidFill>
                  <a:srgbClr val="215093"/>
                </a:solidFill>
              </a:rPr>
              <a:t>Une approche structurée, évolutive et agile</a:t>
            </a:r>
          </a:p>
        </p:txBody>
      </p:sp>
      <p:grpSp>
        <p:nvGrpSpPr>
          <p:cNvPr id="25" name="Groupe 24">
            <a:extLst>
              <a:ext uri="{FF2B5EF4-FFF2-40B4-BE49-F238E27FC236}">
                <a16:creationId xmlns:a16="http://schemas.microsoft.com/office/drawing/2014/main" id="{A5F8A07F-FCDD-16BB-38CB-4606E49C72F3}"/>
              </a:ext>
            </a:extLst>
          </p:cNvPr>
          <p:cNvGrpSpPr/>
          <p:nvPr/>
        </p:nvGrpSpPr>
        <p:grpSpPr>
          <a:xfrm>
            <a:off x="778185" y="1926544"/>
            <a:ext cx="10804165" cy="3926647"/>
            <a:chOff x="960313" y="2105663"/>
            <a:chExt cx="10804165" cy="3926647"/>
          </a:xfrm>
        </p:grpSpPr>
        <p:sp>
          <p:nvSpPr>
            <p:cNvPr id="7" name="Shape 16">
              <a:extLst>
                <a:ext uri="{FF2B5EF4-FFF2-40B4-BE49-F238E27FC236}">
                  <a16:creationId xmlns:a16="http://schemas.microsoft.com/office/drawing/2014/main" id="{1196CBC1-6931-0EAE-2BF7-667C841D78EC}"/>
                </a:ext>
              </a:extLst>
            </p:cNvPr>
            <p:cNvSpPr/>
            <p:nvPr/>
          </p:nvSpPr>
          <p:spPr>
            <a:xfrm>
              <a:off x="6408968" y="4127938"/>
              <a:ext cx="5355510" cy="1904372"/>
            </a:xfrm>
            <a:prstGeom prst="rect">
              <a:avLst/>
            </a:prstGeom>
            <a:solidFill>
              <a:srgbClr val="E9F6F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400" b="0" i="0" u="none" strike="noStrike" kern="1200" cap="none" spc="0" normalizeH="0" baseline="0" noProof="0">
                <a:ln>
                  <a:noFill/>
                </a:ln>
                <a:solidFill>
                  <a:schemeClr val="bg2">
                    <a:lumMod val="10000"/>
                  </a:schemeClr>
                </a:solidFill>
                <a:effectLst/>
                <a:uLnTx/>
                <a:uFillTx/>
                <a:latin typeface="Calibri" panose="020F0502020204030204"/>
                <a:ea typeface="+mn-ea"/>
                <a:cs typeface="+mn-cs"/>
              </a:endParaRPr>
            </a:p>
          </p:txBody>
        </p:sp>
        <p:sp>
          <p:nvSpPr>
            <p:cNvPr id="9" name="Shape 6">
              <a:extLst>
                <a:ext uri="{FF2B5EF4-FFF2-40B4-BE49-F238E27FC236}">
                  <a16:creationId xmlns:a16="http://schemas.microsoft.com/office/drawing/2014/main" id="{6BD4AC35-31F5-E295-DBF1-99AA41302DC8}"/>
                </a:ext>
              </a:extLst>
            </p:cNvPr>
            <p:cNvSpPr/>
            <p:nvPr/>
          </p:nvSpPr>
          <p:spPr>
            <a:xfrm>
              <a:off x="960313" y="2105663"/>
              <a:ext cx="5308943" cy="1908852"/>
            </a:xfrm>
            <a:prstGeom prst="rect">
              <a:avLst/>
            </a:prstGeom>
            <a:solidFill>
              <a:srgbClr val="E9F6F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400" b="0" i="0" u="none" strike="noStrike" kern="1200" cap="none" spc="0" normalizeH="0" baseline="0" noProof="0" dirty="0">
                <a:ln>
                  <a:noFill/>
                </a:ln>
                <a:solidFill>
                  <a:schemeClr val="bg2">
                    <a:lumMod val="10000"/>
                  </a:schemeClr>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8C5F0A64-457B-FD5D-59AF-B12ED34B2126}"/>
                </a:ext>
              </a:extLst>
            </p:cNvPr>
            <p:cNvSpPr/>
            <p:nvPr/>
          </p:nvSpPr>
          <p:spPr>
            <a:xfrm>
              <a:off x="1157176" y="2201497"/>
              <a:ext cx="346443" cy="203620"/>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16" normalizeH="0" baseline="0" noProof="0" dirty="0">
                  <a:ln>
                    <a:noFill/>
                  </a:ln>
                  <a:solidFill>
                    <a:schemeClr val="bg2">
                      <a:lumMod val="10000"/>
                    </a:schemeClr>
                  </a:solidFill>
                  <a:effectLst/>
                  <a:uLnTx/>
                  <a:uFillTx/>
                  <a:latin typeface="Aptos" panose="020B0004020202020204" pitchFamily="34" charset="0"/>
                  <a:ea typeface="JetBrains Mono" pitchFamily="34" charset="-122"/>
                  <a:cs typeface="JetBrains Mono" pitchFamily="34" charset="-120"/>
                </a:rPr>
                <a:t>01</a:t>
              </a:r>
              <a:endParaRPr kumimoji="0" lang="en-US" sz="1200" b="1"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11" name="Text 8">
              <a:extLst>
                <a:ext uri="{FF2B5EF4-FFF2-40B4-BE49-F238E27FC236}">
                  <a16:creationId xmlns:a16="http://schemas.microsoft.com/office/drawing/2014/main" id="{1862FEE6-D449-D11F-AD7C-F7CFE749DC0F}"/>
                </a:ext>
              </a:extLst>
            </p:cNvPr>
            <p:cNvSpPr/>
            <p:nvPr/>
          </p:nvSpPr>
          <p:spPr>
            <a:xfrm>
              <a:off x="1493549" y="2201497"/>
              <a:ext cx="2165678" cy="162154"/>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10" normalizeH="0" baseline="0" noProof="0" dirty="0">
                  <a:ln>
                    <a:noFill/>
                  </a:ln>
                  <a:solidFill>
                    <a:schemeClr val="bg2">
                      <a:lumMod val="10000"/>
                    </a:schemeClr>
                  </a:solidFill>
                  <a:effectLst/>
                  <a:uLnTx/>
                  <a:uFillTx/>
                  <a:latin typeface="Aptos" panose="020B0004020202020204" pitchFamily="34" charset="0"/>
                  <a:ea typeface="JetBrains Mono" pitchFamily="34" charset="-122"/>
                  <a:cs typeface="JetBrains Mono" pitchFamily="34" charset="-120"/>
                </a:rPr>
                <a:t>AXES D'ÉVOLUTION</a:t>
              </a:r>
              <a:endParaRPr kumimoji="0" lang="en-US" sz="1200" b="1"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13" name="Text 10">
              <a:extLst>
                <a:ext uri="{FF2B5EF4-FFF2-40B4-BE49-F238E27FC236}">
                  <a16:creationId xmlns:a16="http://schemas.microsoft.com/office/drawing/2014/main" id="{30C3E4AA-011B-356F-5FA5-32B1CD2A75C7}"/>
                </a:ext>
              </a:extLst>
            </p:cNvPr>
            <p:cNvSpPr/>
            <p:nvPr/>
          </p:nvSpPr>
          <p:spPr>
            <a:xfrm>
              <a:off x="1157177" y="2552654"/>
              <a:ext cx="4938823" cy="1158876"/>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Consolidation et stabilisation avant l'ajout de nouvelles capacités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Évolution progressive selon les besoins d'affaires prioritaires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Architecture conçue pour intégrer rapidement de nouvelles capacités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14" name="Shape 11">
              <a:extLst>
                <a:ext uri="{FF2B5EF4-FFF2-40B4-BE49-F238E27FC236}">
                  <a16:creationId xmlns:a16="http://schemas.microsoft.com/office/drawing/2014/main" id="{FDA8C876-F465-E2CF-49B9-727E08037374}"/>
                </a:ext>
              </a:extLst>
            </p:cNvPr>
            <p:cNvSpPr/>
            <p:nvPr/>
          </p:nvSpPr>
          <p:spPr>
            <a:xfrm>
              <a:off x="6408967" y="2105663"/>
              <a:ext cx="5347044" cy="1908852"/>
            </a:xfrm>
            <a:prstGeom prst="rect">
              <a:avLst/>
            </a:prstGeom>
            <a:solidFill>
              <a:srgbClr val="E9F6F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400" b="0" i="0" u="none" strike="noStrike" kern="1200" cap="none" spc="0" normalizeH="0" baseline="0" noProof="0" dirty="0">
                <a:ln>
                  <a:noFill/>
                </a:ln>
                <a:solidFill>
                  <a:schemeClr val="bg2">
                    <a:lumMod val="10000"/>
                  </a:schemeClr>
                </a:solidFill>
                <a:effectLst/>
                <a:uLnTx/>
                <a:uFillTx/>
                <a:latin typeface="Calibri" panose="020F0502020204030204"/>
                <a:ea typeface="+mn-ea"/>
                <a:cs typeface="+mn-cs"/>
              </a:endParaRPr>
            </a:p>
          </p:txBody>
        </p:sp>
        <p:sp>
          <p:nvSpPr>
            <p:cNvPr id="15" name="Text 12">
              <a:extLst>
                <a:ext uri="{FF2B5EF4-FFF2-40B4-BE49-F238E27FC236}">
                  <a16:creationId xmlns:a16="http://schemas.microsoft.com/office/drawing/2014/main" id="{ECEA5EEC-9211-2DE6-BCE0-E86E04BE9189}"/>
                </a:ext>
              </a:extLst>
            </p:cNvPr>
            <p:cNvSpPr/>
            <p:nvPr/>
          </p:nvSpPr>
          <p:spPr>
            <a:xfrm>
              <a:off x="6571622" y="2201497"/>
              <a:ext cx="430431" cy="203620"/>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16" normalizeH="0" baseline="0" noProof="0" dirty="0">
                  <a:ln>
                    <a:noFill/>
                  </a:ln>
                  <a:solidFill>
                    <a:schemeClr val="bg2">
                      <a:lumMod val="10000"/>
                    </a:schemeClr>
                  </a:solidFill>
                  <a:effectLst/>
                  <a:uLnTx/>
                  <a:uFillTx/>
                  <a:latin typeface="Aptos" panose="020B0004020202020204" pitchFamily="34" charset="0"/>
                  <a:ea typeface="JetBrains Mono" pitchFamily="34" charset="-122"/>
                  <a:cs typeface="JetBrains Mono" pitchFamily="34" charset="-120"/>
                </a:rPr>
                <a:t>02</a:t>
              </a:r>
              <a:endParaRPr kumimoji="0" lang="en-US" sz="1200" b="1"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16" name="Text 13">
              <a:extLst>
                <a:ext uri="{FF2B5EF4-FFF2-40B4-BE49-F238E27FC236}">
                  <a16:creationId xmlns:a16="http://schemas.microsoft.com/office/drawing/2014/main" id="{2696B5F5-432A-DBBC-6AF4-2E8B2C8720F9}"/>
                </a:ext>
              </a:extLst>
            </p:cNvPr>
            <p:cNvSpPr/>
            <p:nvPr/>
          </p:nvSpPr>
          <p:spPr>
            <a:xfrm>
              <a:off x="6944090" y="2201497"/>
              <a:ext cx="2816605" cy="85389"/>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10" normalizeH="0" baseline="0" noProof="0" dirty="0">
                  <a:ln>
                    <a:noFill/>
                  </a:ln>
                  <a:solidFill>
                    <a:schemeClr val="bg2">
                      <a:lumMod val="10000"/>
                    </a:schemeClr>
                  </a:solidFill>
                  <a:effectLst/>
                  <a:uLnTx/>
                  <a:uFillTx/>
                  <a:latin typeface="Aptos" panose="020B0004020202020204" pitchFamily="34" charset="0"/>
                  <a:ea typeface="JetBrains Mono" pitchFamily="34" charset="-122"/>
                  <a:cs typeface="JetBrains Mono" pitchFamily="34" charset="-120"/>
                </a:rPr>
                <a:t>LOGIQUE DE PRIORISATION</a:t>
              </a:r>
              <a:endParaRPr kumimoji="0" lang="en-US" sz="1200" b="1"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18" name="Text 15">
              <a:extLst>
                <a:ext uri="{FF2B5EF4-FFF2-40B4-BE49-F238E27FC236}">
                  <a16:creationId xmlns:a16="http://schemas.microsoft.com/office/drawing/2014/main" id="{179B3F77-CE1A-E1DD-76CB-4FE15BD42B3B}"/>
                </a:ext>
              </a:extLst>
            </p:cNvPr>
            <p:cNvSpPr/>
            <p:nvPr/>
          </p:nvSpPr>
          <p:spPr>
            <a:xfrm>
              <a:off x="6574035" y="2552654"/>
              <a:ext cx="4877115" cy="642197"/>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Ce qui a de la valeur démontrée pour l'organisation</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Alignement avec les priorités organisationnelles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Réduction des </a:t>
              </a:r>
              <a:r>
                <a:rPr kumimoji="0" lang="en-US" sz="1400" b="0" i="0" u="none" strike="noStrike" kern="1200" cap="none" spc="0" normalizeH="0" baseline="0" noProof="0" dirty="0" err="1">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risques</a:t>
              </a: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 </a:t>
              </a:r>
              <a:r>
                <a:rPr kumimoji="0" lang="en-US" sz="1400" b="0" i="0" u="none" strike="noStrike" kern="1200" cap="none" spc="0" normalizeH="0" baseline="0" noProof="0" dirty="0" err="1">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opérationnels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endParaRPr>
            </a:p>
          </p:txBody>
        </p:sp>
        <p:sp>
          <p:nvSpPr>
            <p:cNvPr id="19" name="Shape 16">
              <a:extLst>
                <a:ext uri="{FF2B5EF4-FFF2-40B4-BE49-F238E27FC236}">
                  <a16:creationId xmlns:a16="http://schemas.microsoft.com/office/drawing/2014/main" id="{B3B6123D-2969-6927-44EB-84BDCA44C6B7}"/>
                </a:ext>
              </a:extLst>
            </p:cNvPr>
            <p:cNvSpPr/>
            <p:nvPr/>
          </p:nvSpPr>
          <p:spPr>
            <a:xfrm>
              <a:off x="960313" y="4123459"/>
              <a:ext cx="5308943" cy="1908851"/>
            </a:xfrm>
            <a:prstGeom prst="rect">
              <a:avLst/>
            </a:prstGeom>
            <a:solidFill>
              <a:srgbClr val="E9F6FB"/>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400" b="0" i="0" u="none" strike="noStrike" kern="1200" cap="none" spc="0" normalizeH="0" baseline="0" noProof="0" dirty="0">
                <a:ln>
                  <a:noFill/>
                </a:ln>
                <a:solidFill>
                  <a:schemeClr val="bg2">
                    <a:lumMod val="10000"/>
                  </a:schemeClr>
                </a:solidFill>
                <a:effectLst/>
                <a:uLnTx/>
                <a:uFillTx/>
                <a:latin typeface="Calibri" panose="020F0502020204030204"/>
                <a:ea typeface="+mn-ea"/>
                <a:cs typeface="+mn-cs"/>
              </a:endParaRPr>
            </a:p>
          </p:txBody>
        </p:sp>
        <p:sp>
          <p:nvSpPr>
            <p:cNvPr id="20" name="Text 17">
              <a:extLst>
                <a:ext uri="{FF2B5EF4-FFF2-40B4-BE49-F238E27FC236}">
                  <a16:creationId xmlns:a16="http://schemas.microsoft.com/office/drawing/2014/main" id="{7C6B7BF8-937A-FB95-8257-A5D018224145}"/>
                </a:ext>
              </a:extLst>
            </p:cNvPr>
            <p:cNvSpPr/>
            <p:nvPr/>
          </p:nvSpPr>
          <p:spPr>
            <a:xfrm>
              <a:off x="1157177" y="4249439"/>
              <a:ext cx="342902" cy="162797"/>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16" normalizeH="0" baseline="0" noProof="0" dirty="0">
                  <a:ln>
                    <a:noFill/>
                  </a:ln>
                  <a:solidFill>
                    <a:schemeClr val="bg2">
                      <a:lumMod val="10000"/>
                    </a:schemeClr>
                  </a:solidFill>
                  <a:effectLst/>
                  <a:uLnTx/>
                  <a:uFillTx/>
                  <a:latin typeface="Aptos" panose="020B0004020202020204" pitchFamily="34" charset="0"/>
                  <a:ea typeface="JetBrains Mono" pitchFamily="34" charset="-122"/>
                  <a:cs typeface="JetBrains Mono" pitchFamily="34" charset="-120"/>
                </a:rPr>
                <a:t>03</a:t>
              </a:r>
              <a:endParaRPr kumimoji="0" lang="en-US" sz="1200" b="1"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21" name="Text 18">
              <a:extLst>
                <a:ext uri="{FF2B5EF4-FFF2-40B4-BE49-F238E27FC236}">
                  <a16:creationId xmlns:a16="http://schemas.microsoft.com/office/drawing/2014/main" id="{AF9AD4E9-9243-9BCC-6716-1D898128D1E4}"/>
                </a:ext>
              </a:extLst>
            </p:cNvPr>
            <p:cNvSpPr/>
            <p:nvPr/>
          </p:nvSpPr>
          <p:spPr>
            <a:xfrm>
              <a:off x="1493548" y="4249439"/>
              <a:ext cx="2453213" cy="196715"/>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10" normalizeH="0" baseline="0" noProof="0" dirty="0">
                  <a:ln>
                    <a:noFill/>
                  </a:ln>
                  <a:solidFill>
                    <a:schemeClr val="bg2">
                      <a:lumMod val="10000"/>
                    </a:schemeClr>
                  </a:solidFill>
                  <a:effectLst/>
                  <a:uLnTx/>
                  <a:uFillTx/>
                  <a:latin typeface="Aptos" panose="020B0004020202020204" pitchFamily="34" charset="0"/>
                  <a:ea typeface="JetBrains Mono" pitchFamily="34" charset="-122"/>
                  <a:cs typeface="JetBrains Mono" pitchFamily="34" charset="-120"/>
                </a:rPr>
                <a:t>CADRE DE MAÎTRISE</a:t>
              </a:r>
              <a:endParaRPr kumimoji="0" lang="en-US" sz="1200" b="1"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23" name="Text 20">
              <a:extLst>
                <a:ext uri="{FF2B5EF4-FFF2-40B4-BE49-F238E27FC236}">
                  <a16:creationId xmlns:a16="http://schemas.microsoft.com/office/drawing/2014/main" id="{160C7BEB-445B-C17F-C82E-882169F6BC5B}"/>
                </a:ext>
              </a:extLst>
            </p:cNvPr>
            <p:cNvSpPr/>
            <p:nvPr/>
          </p:nvSpPr>
          <p:spPr>
            <a:xfrm>
              <a:off x="1157177" y="4555063"/>
              <a:ext cx="4938823" cy="945075"/>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Évolution par itérations contrôlées (MVP, livraison continue)</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Validations progressives avec les utilisateurs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Gouvernance claire des changements et tests automatisés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27" name="Text 24">
              <a:extLst>
                <a:ext uri="{FF2B5EF4-FFF2-40B4-BE49-F238E27FC236}">
                  <a16:creationId xmlns:a16="http://schemas.microsoft.com/office/drawing/2014/main" id="{3EAE3C46-FB94-4250-C9EB-3A70A2850728}"/>
                </a:ext>
              </a:extLst>
            </p:cNvPr>
            <p:cNvSpPr/>
            <p:nvPr/>
          </p:nvSpPr>
          <p:spPr>
            <a:xfrm>
              <a:off x="6571622" y="4249439"/>
              <a:ext cx="440631" cy="135665"/>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16" normalizeH="0" baseline="0" noProof="0" dirty="0">
                  <a:ln>
                    <a:noFill/>
                  </a:ln>
                  <a:solidFill>
                    <a:schemeClr val="bg2">
                      <a:lumMod val="10000"/>
                    </a:schemeClr>
                  </a:solidFill>
                  <a:effectLst/>
                  <a:uLnTx/>
                  <a:uFillTx/>
                  <a:latin typeface="Aptos" panose="020B0004020202020204" pitchFamily="34" charset="0"/>
                  <a:ea typeface="JetBrains Mono" pitchFamily="34" charset="-122"/>
                  <a:cs typeface="JetBrains Mono" pitchFamily="34" charset="-120"/>
                </a:rPr>
                <a:t>04</a:t>
              </a:r>
              <a:endParaRPr kumimoji="0" lang="en-US" sz="1200" b="1"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28" name="Text 25">
              <a:extLst>
                <a:ext uri="{FF2B5EF4-FFF2-40B4-BE49-F238E27FC236}">
                  <a16:creationId xmlns:a16="http://schemas.microsoft.com/office/drawing/2014/main" id="{E73EAD05-4FC5-65F4-41A3-0E5EA65C0DE2}"/>
                </a:ext>
              </a:extLst>
            </p:cNvPr>
            <p:cNvSpPr/>
            <p:nvPr/>
          </p:nvSpPr>
          <p:spPr>
            <a:xfrm>
              <a:off x="6956791" y="4249439"/>
              <a:ext cx="3093615" cy="183147"/>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10" normalizeH="0" baseline="0" noProof="0" dirty="0">
                  <a:ln>
                    <a:noFill/>
                  </a:ln>
                  <a:solidFill>
                    <a:schemeClr val="bg2">
                      <a:lumMod val="10000"/>
                    </a:schemeClr>
                  </a:solidFill>
                  <a:effectLst/>
                  <a:uLnTx/>
                  <a:uFillTx/>
                  <a:latin typeface="Aptos" panose="020B0004020202020204" pitchFamily="34" charset="0"/>
                  <a:ea typeface="JetBrains Mono" pitchFamily="34" charset="-122"/>
                  <a:cs typeface="JetBrains Mono" pitchFamily="34" charset="-120"/>
                </a:rPr>
                <a:t>CE QUE CETTE STRATÉGIE ÉVITE</a:t>
              </a:r>
              <a:endParaRPr kumimoji="0" lang="en-US" sz="1200" b="1"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
          <p:nvSpPr>
            <p:cNvPr id="30" name="Text 27">
              <a:extLst>
                <a:ext uri="{FF2B5EF4-FFF2-40B4-BE49-F238E27FC236}">
                  <a16:creationId xmlns:a16="http://schemas.microsoft.com/office/drawing/2014/main" id="{705C2E22-A740-08A6-2EA3-7B3CC3C3DB75}"/>
                </a:ext>
              </a:extLst>
            </p:cNvPr>
            <p:cNvSpPr/>
            <p:nvPr/>
          </p:nvSpPr>
          <p:spPr>
            <a:xfrm>
              <a:off x="6571622" y="4555063"/>
              <a:ext cx="5171687" cy="642197"/>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Développement sur mesure dispersé dans plusieurs systèmes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Duplication des solutions et des efforts entre équipes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apple-system" pitchFamily="34" charset="-122"/>
                  <a:cs typeface="-apple-system" pitchFamily="34" charset="-120"/>
                </a:rPr>
                <a:t>Dépendance forte aux livraisons informatiques pour ajuster un processus</a:t>
              </a:r>
              <a:endParaRPr kumimoji="0" lang="en-US" sz="14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grpSp>
      <p:sp>
        <p:nvSpPr>
          <p:cNvPr id="33" name="Text 30">
            <a:extLst>
              <a:ext uri="{FF2B5EF4-FFF2-40B4-BE49-F238E27FC236}">
                <a16:creationId xmlns:a16="http://schemas.microsoft.com/office/drawing/2014/main" id="{058F8CDB-3688-110A-5A95-FBF539E341CF}"/>
              </a:ext>
            </a:extLst>
          </p:cNvPr>
          <p:cNvSpPr/>
          <p:nvPr/>
        </p:nvSpPr>
        <p:spPr>
          <a:xfrm>
            <a:off x="11293621" y="6086629"/>
            <a:ext cx="513192" cy="143348"/>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2825728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412078-701C-8353-87D7-EB0DE05D555A}"/>
              </a:ext>
            </a:extLst>
          </p:cNvPr>
          <p:cNvSpPr>
            <a:spLocks noGrp="1"/>
          </p:cNvSpPr>
          <p:nvPr>
            <p:ph type="title"/>
          </p:nvPr>
        </p:nvSpPr>
        <p:spPr/>
        <p:txBody>
          <a:bodyPr>
            <a:normAutofit fontScale="90000"/>
          </a:bodyPr>
          <a:lstStyle/>
          <a:p>
            <a:r>
              <a:rPr lang="fr-CA" dirty="0"/>
              <a:t>Prochaines étapes</a:t>
            </a:r>
          </a:p>
        </p:txBody>
      </p:sp>
      <p:grpSp>
        <p:nvGrpSpPr>
          <p:cNvPr id="7" name="Groupe 6">
            <a:extLst>
              <a:ext uri="{FF2B5EF4-FFF2-40B4-BE49-F238E27FC236}">
                <a16:creationId xmlns:a16="http://schemas.microsoft.com/office/drawing/2014/main" id="{3799D2EC-8F52-F30D-7D86-707457491739}"/>
              </a:ext>
            </a:extLst>
          </p:cNvPr>
          <p:cNvGrpSpPr/>
          <p:nvPr/>
        </p:nvGrpSpPr>
        <p:grpSpPr>
          <a:xfrm>
            <a:off x="844550" y="2437247"/>
            <a:ext cx="10695346" cy="1956085"/>
            <a:chOff x="844550" y="2437247"/>
            <a:chExt cx="10695346" cy="1956085"/>
          </a:xfrm>
        </p:grpSpPr>
        <p:grpSp>
          <p:nvGrpSpPr>
            <p:cNvPr id="27" name="Groupe 26">
              <a:extLst>
                <a:ext uri="{FF2B5EF4-FFF2-40B4-BE49-F238E27FC236}">
                  <a16:creationId xmlns:a16="http://schemas.microsoft.com/office/drawing/2014/main" id="{76172AE3-8429-45CA-EB9A-A3752B9BA083}"/>
                </a:ext>
              </a:extLst>
            </p:cNvPr>
            <p:cNvGrpSpPr/>
            <p:nvPr/>
          </p:nvGrpSpPr>
          <p:grpSpPr>
            <a:xfrm>
              <a:off x="844550" y="2437247"/>
              <a:ext cx="10695346" cy="1954467"/>
              <a:chOff x="1047750" y="4783485"/>
              <a:chExt cx="16192500" cy="1681906"/>
            </a:xfrm>
          </p:grpSpPr>
          <p:sp>
            <p:nvSpPr>
              <p:cNvPr id="28" name="Shape 6">
                <a:extLst>
                  <a:ext uri="{FF2B5EF4-FFF2-40B4-BE49-F238E27FC236}">
                    <a16:creationId xmlns:a16="http://schemas.microsoft.com/office/drawing/2014/main" id="{2FC44282-A51B-E576-87BD-CC8FEFD94860}"/>
                  </a:ext>
                </a:extLst>
              </p:cNvPr>
              <p:cNvSpPr/>
              <p:nvPr/>
            </p:nvSpPr>
            <p:spPr>
              <a:xfrm>
                <a:off x="1047750" y="6455866"/>
                <a:ext cx="16192500" cy="9525"/>
              </a:xfrm>
              <a:prstGeom prst="rect">
                <a:avLst/>
              </a:prstGeom>
              <a:solidFill>
                <a:srgbClr val="D8D3C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2D2E83"/>
                  </a:solidFill>
                  <a:effectLst/>
                  <a:uLnTx/>
                  <a:uFillTx/>
                  <a:latin typeface="Aptos" panose="020B0004020202020204" pitchFamily="34" charset="0"/>
                  <a:ea typeface="+mn-ea"/>
                  <a:cs typeface="+mn-cs"/>
                </a:endParaRPr>
              </a:p>
            </p:txBody>
          </p:sp>
          <p:sp>
            <p:nvSpPr>
              <p:cNvPr id="29" name="Shape 7">
                <a:extLst>
                  <a:ext uri="{FF2B5EF4-FFF2-40B4-BE49-F238E27FC236}">
                    <a16:creationId xmlns:a16="http://schemas.microsoft.com/office/drawing/2014/main" id="{4E02E13B-BFEA-7C2D-BBAD-316E6089DA0E}"/>
                  </a:ext>
                </a:extLst>
              </p:cNvPr>
              <p:cNvSpPr/>
              <p:nvPr/>
            </p:nvSpPr>
            <p:spPr>
              <a:xfrm>
                <a:off x="1047750" y="4783485"/>
                <a:ext cx="16192500" cy="9525"/>
              </a:xfrm>
              <a:prstGeom prst="rect">
                <a:avLst/>
              </a:prstGeom>
              <a:solidFill>
                <a:srgbClr val="D8D3C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0" name="Text 8">
                <a:extLst>
                  <a:ext uri="{FF2B5EF4-FFF2-40B4-BE49-F238E27FC236}">
                    <a16:creationId xmlns:a16="http://schemas.microsoft.com/office/drawing/2014/main" id="{CA37934E-3EA0-2FC6-0B12-640E5526D3E3}"/>
                  </a:ext>
                </a:extLst>
              </p:cNvPr>
              <p:cNvSpPr/>
              <p:nvPr/>
            </p:nvSpPr>
            <p:spPr>
              <a:xfrm>
                <a:off x="1295397" y="4988272"/>
                <a:ext cx="2864738" cy="200025"/>
              </a:xfrm>
              <a:prstGeom prst="rect">
                <a:avLst/>
              </a:prstGeom>
              <a:noFill/>
              <a:ln/>
            </p:spPr>
            <p:txBody>
              <a:bodyPr wrap="square" lIns="25400" tIns="25400" rIns="25400" bIns="25400" rtlCol="0" anchor="t">
                <a:normAutofit fontScale="92500" lnSpcReduction="1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76" normalizeH="0" baseline="0" noProof="0" dirty="0">
                    <a:ln>
                      <a:noFill/>
                    </a:ln>
                    <a:solidFill>
                      <a:srgbClr val="8A8F99"/>
                    </a:solidFill>
                    <a:effectLst/>
                    <a:uLnTx/>
                    <a:uFillTx/>
                    <a:latin typeface="Aptos" panose="020B0004020202020204" pitchFamily="34" charset="0"/>
                    <a:ea typeface="JetBrains Mono" pitchFamily="34" charset="-122"/>
                    <a:cs typeface="JetBrains Mono" pitchFamily="34" charset="-120"/>
                  </a:rPr>
                  <a:t>PHASE 01</a:t>
                </a:r>
                <a:endParaRPr kumimoji="0" lang="en-US" sz="14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1" name="Text 9">
                <a:extLst>
                  <a:ext uri="{FF2B5EF4-FFF2-40B4-BE49-F238E27FC236}">
                    <a16:creationId xmlns:a16="http://schemas.microsoft.com/office/drawing/2014/main" id="{E70BC24B-6DEB-F444-50A5-F6E70C5500FE}"/>
                  </a:ext>
                </a:extLst>
              </p:cNvPr>
              <p:cNvSpPr/>
              <p:nvPr/>
            </p:nvSpPr>
            <p:spPr>
              <a:xfrm>
                <a:off x="1276350" y="5200748"/>
                <a:ext cx="2864738" cy="312390"/>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A1D24"/>
                    </a:solidFill>
                    <a:effectLst/>
                    <a:uLnTx/>
                    <a:uFillTx/>
                    <a:latin typeface="Aptos" panose="020B0004020202020204" pitchFamily="34" charset="0"/>
                    <a:ea typeface="-apple-system" pitchFamily="34" charset="-122"/>
                    <a:cs typeface="-apple-system" pitchFamily="34" charset="-120"/>
                  </a:rPr>
                  <a:t>Exploration</a:t>
                </a:r>
                <a:endParaRPr kumimoji="0" lang="en-US" sz="19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2" name="Text 10">
                <a:extLst>
                  <a:ext uri="{FF2B5EF4-FFF2-40B4-BE49-F238E27FC236}">
                    <a16:creationId xmlns:a16="http://schemas.microsoft.com/office/drawing/2014/main" id="{48B86768-73BB-3288-FEF3-EC2C94283DA6}"/>
                  </a:ext>
                </a:extLst>
              </p:cNvPr>
              <p:cNvSpPr/>
              <p:nvPr/>
            </p:nvSpPr>
            <p:spPr>
              <a:xfrm>
                <a:off x="1291013" y="5618420"/>
                <a:ext cx="2835410" cy="682161"/>
              </a:xfrm>
              <a:prstGeom prst="rect">
                <a:avLst/>
              </a:prstGeom>
              <a:noFill/>
              <a:ln/>
            </p:spPr>
            <p:txBody>
              <a:bodyPr wrap="square" lIns="25400" tIns="25400" rIns="25400" bIns="25400" rtlCol="0" anchor="t">
                <a:norm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A4F5A"/>
                    </a:solidFill>
                    <a:effectLst/>
                    <a:uLnTx/>
                    <a:uFillTx/>
                    <a:latin typeface="Aptos" panose="020B0004020202020204" pitchFamily="34" charset="0"/>
                    <a:ea typeface="-apple-system" pitchFamily="34" charset="-122"/>
                    <a:cs typeface="-apple-system" pitchFamily="34" charset="-120"/>
                  </a:rPr>
                  <a:t>Cadrage du besoin et étude des options.</a:t>
                </a:r>
                <a:endParaRPr kumimoji="0" lang="en-US" sz="14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3" name="Shape 11">
                <a:extLst>
                  <a:ext uri="{FF2B5EF4-FFF2-40B4-BE49-F238E27FC236}">
                    <a16:creationId xmlns:a16="http://schemas.microsoft.com/office/drawing/2014/main" id="{F29C0C77-AF54-A39B-5AC8-954CE0D5F84C}"/>
                  </a:ext>
                </a:extLst>
              </p:cNvPr>
              <p:cNvSpPr/>
              <p:nvPr/>
            </p:nvSpPr>
            <p:spPr>
              <a:xfrm>
                <a:off x="4286250" y="4793010"/>
                <a:ext cx="9525" cy="1662857"/>
              </a:xfrm>
              <a:prstGeom prst="rect">
                <a:avLst/>
              </a:prstGeom>
              <a:solidFill>
                <a:srgbClr val="D8D3C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4" name="Text 12">
                <a:extLst>
                  <a:ext uri="{FF2B5EF4-FFF2-40B4-BE49-F238E27FC236}">
                    <a16:creationId xmlns:a16="http://schemas.microsoft.com/office/drawing/2014/main" id="{649B2951-DC37-A824-1FA3-02D7D9585089}"/>
                  </a:ext>
                </a:extLst>
              </p:cNvPr>
              <p:cNvSpPr/>
              <p:nvPr/>
            </p:nvSpPr>
            <p:spPr>
              <a:xfrm>
                <a:off x="4396547" y="5000723"/>
                <a:ext cx="2854928" cy="200025"/>
              </a:xfrm>
              <a:prstGeom prst="rect">
                <a:avLst/>
              </a:prstGeom>
              <a:noFill/>
              <a:ln/>
            </p:spPr>
            <p:txBody>
              <a:bodyPr wrap="square" lIns="25400" tIns="25400" rIns="25400" bIns="25400" rtlCol="0" anchor="t">
                <a:normAutofit fontScale="92500" lnSpcReduction="1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76" normalizeH="0" baseline="0" noProof="0" dirty="0">
                    <a:ln>
                      <a:noFill/>
                    </a:ln>
                    <a:solidFill>
                      <a:srgbClr val="8A8F99"/>
                    </a:solidFill>
                    <a:effectLst/>
                    <a:uLnTx/>
                    <a:uFillTx/>
                    <a:latin typeface="Aptos" panose="020B0004020202020204" pitchFamily="34" charset="0"/>
                    <a:ea typeface="JetBrains Mono" pitchFamily="34" charset="-122"/>
                    <a:cs typeface="JetBrains Mono" pitchFamily="34" charset="-120"/>
                  </a:rPr>
                  <a:t>PHASE 02</a:t>
                </a:r>
                <a:endParaRPr kumimoji="0" lang="en-US" sz="14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5" name="Text 13">
                <a:extLst>
                  <a:ext uri="{FF2B5EF4-FFF2-40B4-BE49-F238E27FC236}">
                    <a16:creationId xmlns:a16="http://schemas.microsoft.com/office/drawing/2014/main" id="{4C7CDD9D-377D-FC00-A152-435569610B8A}"/>
                  </a:ext>
                </a:extLst>
              </p:cNvPr>
              <p:cNvSpPr/>
              <p:nvPr/>
            </p:nvSpPr>
            <p:spPr>
              <a:xfrm>
                <a:off x="4396547" y="5200748"/>
                <a:ext cx="3196638" cy="425999"/>
              </a:xfrm>
              <a:prstGeom prst="rect">
                <a:avLst/>
              </a:prstGeom>
              <a:noFill/>
              <a:ln/>
            </p:spPr>
            <p:txBody>
              <a:bodyPr wrap="square" lIns="25400" tIns="25400" rIns="25400" bIns="25400" rtlCol="0" anchor="t">
                <a:normAutofit fontScale="92500"/>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A1D24"/>
                    </a:solidFill>
                    <a:effectLst/>
                    <a:uLnTx/>
                    <a:uFillTx/>
                    <a:latin typeface="Aptos" panose="020B0004020202020204" pitchFamily="34" charset="0"/>
                    <a:ea typeface="-apple-system" pitchFamily="34" charset="-122"/>
                    <a:cs typeface="-apple-system" pitchFamily="34" charset="-120"/>
                  </a:rPr>
                  <a:t>Preuve de concept</a:t>
                </a:r>
                <a:endParaRPr kumimoji="0" lang="en-US" sz="20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6" name="Text 14">
                <a:extLst>
                  <a:ext uri="{FF2B5EF4-FFF2-40B4-BE49-F238E27FC236}">
                    <a16:creationId xmlns:a16="http://schemas.microsoft.com/office/drawing/2014/main" id="{FF4490A2-64B3-0931-043C-BEA0041E4E2B}"/>
                  </a:ext>
                </a:extLst>
              </p:cNvPr>
              <p:cNvSpPr/>
              <p:nvPr/>
            </p:nvSpPr>
            <p:spPr>
              <a:xfrm>
                <a:off x="4396547" y="5618420"/>
                <a:ext cx="2854928" cy="560357"/>
              </a:xfrm>
              <a:prstGeom prst="rect">
                <a:avLst/>
              </a:prstGeom>
              <a:noFill/>
              <a:ln/>
            </p:spPr>
            <p:txBody>
              <a:bodyPr wrap="square" lIns="25400" tIns="25400" rIns="25400" bIns="25400" rtlCol="0" anchor="t">
                <a:normAutofit fontScale="85000" lnSpcReduction="10000"/>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A4F5A"/>
                    </a:solidFill>
                    <a:effectLst/>
                    <a:uLnTx/>
                    <a:uFillTx/>
                    <a:latin typeface="Aptos" panose="020B0004020202020204" pitchFamily="34" charset="0"/>
                    <a:ea typeface="-apple-system" pitchFamily="34" charset="-122"/>
                    <a:cs typeface="-apple-system" pitchFamily="34" charset="-120"/>
                  </a:rPr>
                  <a:t>Validation technique et fonctionnelle sur PRVL.</a:t>
                </a:r>
                <a:endParaRPr kumimoji="0" lang="en-US" sz="16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37" name="Shape 15">
                <a:extLst>
                  <a:ext uri="{FF2B5EF4-FFF2-40B4-BE49-F238E27FC236}">
                    <a16:creationId xmlns:a16="http://schemas.microsoft.com/office/drawing/2014/main" id="{82C57F32-1711-C068-925E-87C8291645A9}"/>
                  </a:ext>
                </a:extLst>
              </p:cNvPr>
              <p:cNvSpPr/>
              <p:nvPr/>
            </p:nvSpPr>
            <p:spPr>
              <a:xfrm>
                <a:off x="7606986" y="4793010"/>
                <a:ext cx="9524" cy="1662857"/>
              </a:xfrm>
              <a:prstGeom prst="rect">
                <a:avLst/>
              </a:prstGeom>
              <a:solidFill>
                <a:srgbClr val="D8D3C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2D2E83"/>
                  </a:solidFill>
                  <a:effectLst/>
                  <a:uLnTx/>
                  <a:uFillTx/>
                  <a:latin typeface="Aptos" panose="020B0004020202020204" pitchFamily="34" charset="0"/>
                  <a:ea typeface="+mn-ea"/>
                  <a:cs typeface="+mn-cs"/>
                </a:endParaRPr>
              </a:p>
            </p:txBody>
          </p:sp>
          <p:sp>
            <p:nvSpPr>
              <p:cNvPr id="38" name="Text 16">
                <a:extLst>
                  <a:ext uri="{FF2B5EF4-FFF2-40B4-BE49-F238E27FC236}">
                    <a16:creationId xmlns:a16="http://schemas.microsoft.com/office/drawing/2014/main" id="{320E5FEF-0066-0B72-126A-71E301E96C42}"/>
                  </a:ext>
                </a:extLst>
              </p:cNvPr>
              <p:cNvSpPr/>
              <p:nvPr/>
            </p:nvSpPr>
            <p:spPr>
              <a:xfrm>
                <a:off x="7835140" y="4988272"/>
                <a:ext cx="2854928" cy="200025"/>
              </a:xfrm>
              <a:prstGeom prst="rect">
                <a:avLst/>
              </a:prstGeom>
              <a:noFill/>
              <a:ln/>
            </p:spPr>
            <p:txBody>
              <a:bodyPr wrap="square" lIns="25400" tIns="25400" rIns="25400" bIns="25400" rtlCol="0" anchor="t">
                <a:normAutofit fontScale="92500" lnSpcReduction="1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76" normalizeH="0" baseline="0" noProof="0" dirty="0">
                    <a:ln>
                      <a:noFill/>
                    </a:ln>
                    <a:solidFill>
                      <a:srgbClr val="8A8F99"/>
                    </a:solidFill>
                    <a:effectLst/>
                    <a:uLnTx/>
                    <a:uFillTx/>
                    <a:latin typeface="Aptos" panose="020B0004020202020204" pitchFamily="34" charset="0"/>
                    <a:ea typeface="JetBrains Mono" pitchFamily="34" charset="-122"/>
                    <a:cs typeface="JetBrains Mono" pitchFamily="34" charset="-120"/>
                  </a:rPr>
                  <a:t>PHASE 03</a:t>
                </a:r>
                <a:endParaRPr kumimoji="0" lang="en-US" sz="1400" b="0" i="0" u="none" strike="noStrike" kern="1200" cap="none" spc="0" normalizeH="0" baseline="0" noProof="0" dirty="0">
                  <a:ln>
                    <a:noFill/>
                  </a:ln>
                  <a:solidFill>
                    <a:srgbClr val="8A8F99"/>
                  </a:solidFill>
                  <a:effectLst/>
                  <a:uLnTx/>
                  <a:uFillTx/>
                  <a:latin typeface="Aptos" panose="020B0004020202020204" pitchFamily="34" charset="0"/>
                  <a:ea typeface="+mn-ea"/>
                  <a:cs typeface="+mn-cs"/>
                </a:endParaRPr>
              </a:p>
            </p:txBody>
          </p:sp>
          <p:sp>
            <p:nvSpPr>
              <p:cNvPr id="39" name="Text 17">
                <a:extLst>
                  <a:ext uri="{FF2B5EF4-FFF2-40B4-BE49-F238E27FC236}">
                    <a16:creationId xmlns:a16="http://schemas.microsoft.com/office/drawing/2014/main" id="{06D5DA5D-07C0-7439-A88B-CA7C3F350E54}"/>
                  </a:ext>
                </a:extLst>
              </p:cNvPr>
              <p:cNvSpPr/>
              <p:nvPr/>
            </p:nvSpPr>
            <p:spPr>
              <a:xfrm>
                <a:off x="7813518" y="5221432"/>
                <a:ext cx="2854928" cy="312390"/>
              </a:xfrm>
              <a:prstGeom prst="rect">
                <a:avLst/>
              </a:prstGeom>
              <a:noFill/>
              <a:ln/>
            </p:spPr>
            <p:txBody>
              <a:bodyPr wrap="square" lIns="25400" tIns="25400" rIns="25400" bIns="25400" rtlCol="0" anchor="t">
                <a:normAutofit fontScale="92500" lnSpcReduction="10000"/>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A1D24"/>
                    </a:solidFill>
                    <a:effectLst/>
                    <a:uLnTx/>
                    <a:uFillTx/>
                    <a:latin typeface="Aptos" panose="020B0004020202020204" pitchFamily="34" charset="0"/>
                    <a:ea typeface="-apple-system" pitchFamily="34" charset="-122"/>
                    <a:cs typeface="-apple-system" pitchFamily="34" charset="-120"/>
                  </a:rPr>
                  <a:t>Consolidation</a:t>
                </a:r>
                <a:endParaRPr kumimoji="0" lang="en-US" sz="20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0" name="Text 18">
                <a:extLst>
                  <a:ext uri="{FF2B5EF4-FFF2-40B4-BE49-F238E27FC236}">
                    <a16:creationId xmlns:a16="http://schemas.microsoft.com/office/drawing/2014/main" id="{D30C6F8A-825D-E04E-34AF-36B194F10178}"/>
                  </a:ext>
                </a:extLst>
              </p:cNvPr>
              <p:cNvSpPr/>
              <p:nvPr/>
            </p:nvSpPr>
            <p:spPr>
              <a:xfrm>
                <a:off x="7813518" y="5618420"/>
                <a:ext cx="2854928" cy="550830"/>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A4F5A"/>
                    </a:solidFill>
                    <a:effectLst/>
                    <a:uLnTx/>
                    <a:uFillTx/>
                    <a:latin typeface="Aptos" panose="020B0004020202020204" pitchFamily="34" charset="0"/>
                    <a:ea typeface="-apple-system" pitchFamily="34" charset="-122"/>
                    <a:cs typeface="-apple-system" pitchFamily="34" charset="-120"/>
                  </a:rPr>
                  <a:t>Stabilisation du produit et préparation à un usage élargi.</a:t>
                </a:r>
                <a:endParaRPr kumimoji="0" lang="en-US" sz="14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1" name="Shape 19">
                <a:extLst>
                  <a:ext uri="{FF2B5EF4-FFF2-40B4-BE49-F238E27FC236}">
                    <a16:creationId xmlns:a16="http://schemas.microsoft.com/office/drawing/2014/main" id="{CBF36D72-C8B8-AD11-9259-6F08A5929DBC}"/>
                  </a:ext>
                </a:extLst>
              </p:cNvPr>
              <p:cNvSpPr/>
              <p:nvPr/>
            </p:nvSpPr>
            <p:spPr>
              <a:xfrm>
                <a:off x="10763250" y="4793010"/>
                <a:ext cx="9525" cy="1662857"/>
              </a:xfrm>
              <a:prstGeom prst="rect">
                <a:avLst/>
              </a:prstGeom>
              <a:solidFill>
                <a:srgbClr val="D8D3C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2D2E83"/>
                  </a:solidFill>
                  <a:effectLst/>
                  <a:uLnTx/>
                  <a:uFillTx/>
                  <a:latin typeface="Aptos" panose="020B0004020202020204" pitchFamily="34" charset="0"/>
                  <a:ea typeface="+mn-ea"/>
                  <a:cs typeface="+mn-cs"/>
                </a:endParaRPr>
              </a:p>
            </p:txBody>
          </p:sp>
          <p:sp>
            <p:nvSpPr>
              <p:cNvPr id="42" name="Text 20">
                <a:extLst>
                  <a:ext uri="{FF2B5EF4-FFF2-40B4-BE49-F238E27FC236}">
                    <a16:creationId xmlns:a16="http://schemas.microsoft.com/office/drawing/2014/main" id="{9FF89214-9123-B5C9-C50D-C82CB150B571}"/>
                  </a:ext>
                </a:extLst>
              </p:cNvPr>
              <p:cNvSpPr/>
              <p:nvPr/>
            </p:nvSpPr>
            <p:spPr>
              <a:xfrm>
                <a:off x="10959798" y="4988272"/>
                <a:ext cx="2854928" cy="200025"/>
              </a:xfrm>
              <a:prstGeom prst="rect">
                <a:avLst/>
              </a:prstGeom>
              <a:noFill/>
              <a:ln/>
            </p:spPr>
            <p:txBody>
              <a:bodyPr wrap="square" lIns="25400" tIns="25400" rIns="25400" bIns="25400" rtlCol="0" anchor="t">
                <a:normAutofit fontScale="92500" lnSpcReduction="1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76" normalizeH="0" baseline="0" noProof="0" dirty="0">
                    <a:ln>
                      <a:noFill/>
                    </a:ln>
                    <a:solidFill>
                      <a:srgbClr val="8A8F99"/>
                    </a:solidFill>
                    <a:effectLst/>
                    <a:uLnTx/>
                    <a:uFillTx/>
                    <a:latin typeface="Aptos" panose="020B0004020202020204" pitchFamily="34" charset="0"/>
                    <a:ea typeface="JetBrains Mono" pitchFamily="34" charset="-122"/>
                    <a:cs typeface="JetBrains Mono" pitchFamily="34" charset="-120"/>
                  </a:rPr>
                  <a:t>PHASE 04</a:t>
                </a:r>
                <a:endParaRPr kumimoji="0" lang="en-US" sz="14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3" name="Text 21">
                <a:extLst>
                  <a:ext uri="{FF2B5EF4-FFF2-40B4-BE49-F238E27FC236}">
                    <a16:creationId xmlns:a16="http://schemas.microsoft.com/office/drawing/2014/main" id="{4510F886-3906-722A-0306-097505FDB5D1}"/>
                  </a:ext>
                </a:extLst>
              </p:cNvPr>
              <p:cNvSpPr/>
              <p:nvPr/>
            </p:nvSpPr>
            <p:spPr>
              <a:xfrm>
                <a:off x="10959798" y="5221432"/>
                <a:ext cx="2854928" cy="312390"/>
              </a:xfrm>
              <a:prstGeom prst="rect">
                <a:avLst/>
              </a:prstGeom>
              <a:noFill/>
              <a:ln/>
            </p:spPr>
            <p:txBody>
              <a:bodyPr wrap="square" lIns="25400" tIns="25400" rIns="25400" bIns="25400" rtlCol="0" anchor="t">
                <a:normAutofit fontScale="92500" lnSpcReduction="10000"/>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A1D24"/>
                    </a:solidFill>
                    <a:effectLst/>
                    <a:uLnTx/>
                    <a:uFillTx/>
                    <a:latin typeface="Aptos" panose="020B0004020202020204" pitchFamily="34" charset="0"/>
                    <a:ea typeface="-apple-system" pitchFamily="34" charset="-122"/>
                    <a:cs typeface="-apple-system" pitchFamily="34" charset="-120"/>
                  </a:rPr>
                  <a:t>Mise à l'échelle</a:t>
                </a:r>
                <a:endParaRPr kumimoji="0" lang="en-US" sz="20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4" name="Text 22">
                <a:extLst>
                  <a:ext uri="{FF2B5EF4-FFF2-40B4-BE49-F238E27FC236}">
                    <a16:creationId xmlns:a16="http://schemas.microsoft.com/office/drawing/2014/main" id="{9CFC7E91-C0DD-36C8-5BD0-3AA6A439676C}"/>
                  </a:ext>
                </a:extLst>
              </p:cNvPr>
              <p:cNvSpPr/>
              <p:nvPr/>
            </p:nvSpPr>
            <p:spPr>
              <a:xfrm>
                <a:off x="10959798" y="5618420"/>
                <a:ext cx="2854928" cy="771685"/>
              </a:xfrm>
              <a:prstGeom prst="rect">
                <a:avLst/>
              </a:prstGeom>
              <a:noFill/>
              <a:ln/>
            </p:spPr>
            <p:txBody>
              <a:bodyPr wrap="square" lIns="25400" tIns="25400" rIns="25400" bIns="25400" rtlCol="0" anchor="t">
                <a:normAutofit lnSpcReduction="10000"/>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A4F5A"/>
                    </a:solidFill>
                    <a:effectLst/>
                    <a:uLnTx/>
                    <a:uFillTx/>
                    <a:latin typeface="Aptos" panose="020B0004020202020204" pitchFamily="34" charset="0"/>
                    <a:ea typeface="-apple-system" pitchFamily="34" charset="-122"/>
                    <a:cs typeface="-apple-system" pitchFamily="34" charset="-120"/>
                  </a:rPr>
                  <a:t>Intégration progressive d'autres processus de l'organisation.</a:t>
                </a:r>
                <a:endParaRPr kumimoji="0" lang="en-US" sz="14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5" name="Shape 23">
                <a:extLst>
                  <a:ext uri="{FF2B5EF4-FFF2-40B4-BE49-F238E27FC236}">
                    <a16:creationId xmlns:a16="http://schemas.microsoft.com/office/drawing/2014/main" id="{90E5AA32-54E1-62CE-BACA-7CB2A1EFAFC5}"/>
                  </a:ext>
                </a:extLst>
              </p:cNvPr>
              <p:cNvSpPr/>
              <p:nvPr/>
            </p:nvSpPr>
            <p:spPr>
              <a:xfrm>
                <a:off x="14001750" y="4793010"/>
                <a:ext cx="9525" cy="1662857"/>
              </a:xfrm>
              <a:prstGeom prst="rect">
                <a:avLst/>
              </a:prstGeom>
              <a:solidFill>
                <a:srgbClr val="D8D3C7"/>
              </a:solid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2D2E83"/>
                  </a:solidFill>
                  <a:effectLst/>
                  <a:uLnTx/>
                  <a:uFillTx/>
                  <a:latin typeface="Aptos" panose="020B0004020202020204" pitchFamily="34" charset="0"/>
                  <a:ea typeface="+mn-ea"/>
                  <a:cs typeface="+mn-cs"/>
                </a:endParaRPr>
              </a:p>
            </p:txBody>
          </p:sp>
          <p:sp>
            <p:nvSpPr>
              <p:cNvPr id="46" name="Text 24">
                <a:extLst>
                  <a:ext uri="{FF2B5EF4-FFF2-40B4-BE49-F238E27FC236}">
                    <a16:creationId xmlns:a16="http://schemas.microsoft.com/office/drawing/2014/main" id="{7C6AB008-A338-3814-9F46-1251F3A7A2A2}"/>
                  </a:ext>
                </a:extLst>
              </p:cNvPr>
              <p:cNvSpPr/>
              <p:nvPr/>
            </p:nvSpPr>
            <p:spPr>
              <a:xfrm>
                <a:off x="14246401" y="4974953"/>
                <a:ext cx="2854928" cy="200025"/>
              </a:xfrm>
              <a:prstGeom prst="rect">
                <a:avLst/>
              </a:prstGeom>
              <a:noFill/>
              <a:ln/>
            </p:spPr>
            <p:txBody>
              <a:bodyPr wrap="square" lIns="25400" tIns="25400" rIns="25400" bIns="25400" rtlCol="0" anchor="t">
                <a:normAutofit fontScale="92500" lnSpcReduction="1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76" normalizeH="0" baseline="0" noProof="0" dirty="0">
                    <a:ln>
                      <a:noFill/>
                    </a:ln>
                    <a:solidFill>
                      <a:srgbClr val="8A8F99"/>
                    </a:solidFill>
                    <a:effectLst/>
                    <a:uLnTx/>
                    <a:uFillTx/>
                    <a:latin typeface="Aptos" panose="020B0004020202020204" pitchFamily="34" charset="0"/>
                    <a:ea typeface="JetBrains Mono" pitchFamily="34" charset="-122"/>
                    <a:cs typeface="JetBrains Mono" pitchFamily="34" charset="-120"/>
                  </a:rPr>
                  <a:t>PHASE 05</a:t>
                </a:r>
                <a:endParaRPr kumimoji="0" lang="en-US" sz="14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7" name="Text 25">
                <a:extLst>
                  <a:ext uri="{FF2B5EF4-FFF2-40B4-BE49-F238E27FC236}">
                    <a16:creationId xmlns:a16="http://schemas.microsoft.com/office/drawing/2014/main" id="{B1037512-615D-C7A2-531A-DEB69B311016}"/>
                  </a:ext>
                </a:extLst>
              </p:cNvPr>
              <p:cNvSpPr/>
              <p:nvPr/>
            </p:nvSpPr>
            <p:spPr>
              <a:xfrm>
                <a:off x="14246401" y="5221432"/>
                <a:ext cx="2854928" cy="312390"/>
              </a:xfrm>
              <a:prstGeom prst="rect">
                <a:avLst/>
              </a:prstGeom>
              <a:noFill/>
              <a:ln/>
            </p:spPr>
            <p:txBody>
              <a:bodyPr wrap="square" lIns="25400" tIns="25400" rIns="25400" bIns="25400" rtlCol="0" anchor="t">
                <a:normAutofit fontScale="92500" lnSpcReduction="10000"/>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A1D24"/>
                    </a:solidFill>
                    <a:effectLst/>
                    <a:uLnTx/>
                    <a:uFillTx/>
                    <a:latin typeface="Aptos" panose="020B0004020202020204" pitchFamily="34" charset="0"/>
                    <a:ea typeface="-apple-system" pitchFamily="34" charset="-122"/>
                    <a:cs typeface="-apple-system" pitchFamily="34" charset="-120"/>
                  </a:rPr>
                  <a:t>Mutualisation</a:t>
                </a:r>
                <a:endParaRPr kumimoji="0" lang="en-US" sz="20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sp>
            <p:nvSpPr>
              <p:cNvPr id="48" name="Text 26">
                <a:extLst>
                  <a:ext uri="{FF2B5EF4-FFF2-40B4-BE49-F238E27FC236}">
                    <a16:creationId xmlns:a16="http://schemas.microsoft.com/office/drawing/2014/main" id="{800A0A03-D552-4425-5094-373B3C67FA1F}"/>
                  </a:ext>
                </a:extLst>
              </p:cNvPr>
              <p:cNvSpPr/>
              <p:nvPr/>
            </p:nvSpPr>
            <p:spPr>
              <a:xfrm>
                <a:off x="14246401" y="5618420"/>
                <a:ext cx="2990851" cy="775810"/>
              </a:xfrm>
              <a:prstGeom prst="rect">
                <a:avLst/>
              </a:prstGeom>
              <a:noFill/>
              <a:ln/>
            </p:spPr>
            <p:txBody>
              <a:bodyPr wrap="square" lIns="25400" tIns="25400" rIns="25400" bIns="25400" rtlCol="0" anchor="t">
                <a:no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A4F5A"/>
                    </a:solidFill>
                    <a:effectLst/>
                    <a:uLnTx/>
                    <a:uFillTx/>
                    <a:latin typeface="Aptos" panose="020B0004020202020204" pitchFamily="34" charset="0"/>
                    <a:ea typeface="-apple-system" pitchFamily="34" charset="-122"/>
                    <a:cs typeface="-apple-system" pitchFamily="34" charset="-120"/>
                  </a:rPr>
                  <a:t>Adoption à l'interne comme couche d'orchestration partagée.</a:t>
                </a:r>
                <a:endParaRPr kumimoji="0" lang="en-US" sz="1400" b="0" i="0" u="none" strike="noStrike" kern="1200" cap="none" spc="0" normalizeH="0" baseline="0" noProof="0" dirty="0">
                  <a:ln>
                    <a:noFill/>
                  </a:ln>
                  <a:solidFill>
                    <a:srgbClr val="2D2E83"/>
                  </a:solidFill>
                  <a:effectLst/>
                  <a:uLnTx/>
                  <a:uFillTx/>
                  <a:latin typeface="Aptos" panose="020B0004020202020204" pitchFamily="34" charset="0"/>
                  <a:ea typeface="+mn-ea"/>
                  <a:cs typeface="+mn-cs"/>
                </a:endParaRPr>
              </a:p>
            </p:txBody>
          </p:sp>
        </p:grpSp>
        <p:sp>
          <p:nvSpPr>
            <p:cNvPr id="5" name="ZoneTexte 4">
              <a:extLst>
                <a:ext uri="{FF2B5EF4-FFF2-40B4-BE49-F238E27FC236}">
                  <a16:creationId xmlns:a16="http://schemas.microsoft.com/office/drawing/2014/main" id="{0FD957D2-FA22-7E0B-E70A-C1D288D75924}"/>
                </a:ext>
              </a:extLst>
            </p:cNvPr>
            <p:cNvSpPr txBox="1"/>
            <p:nvPr/>
          </p:nvSpPr>
          <p:spPr>
            <a:xfrm>
              <a:off x="2210965" y="4056410"/>
              <a:ext cx="783627" cy="315407"/>
            </a:xfrm>
            <a:prstGeom prst="rect">
              <a:avLst/>
            </a:prstGeom>
            <a:noFill/>
          </p:spPr>
          <p:txBody>
            <a:bodyPr wrap="square" rtlCol="0">
              <a:spAutoFit/>
            </a:bodyPr>
            <a:lstStyle/>
            <a:p>
              <a:pPr defTabSz="457200">
                <a:lnSpc>
                  <a:spcPct val="90000"/>
                </a:lnSpc>
              </a:pPr>
              <a:r>
                <a:rPr lang="fr-CA" sz="1600" b="1" kern="0" spc="176" dirty="0">
                  <a:solidFill>
                    <a:srgbClr val="215093"/>
                  </a:solidFill>
                  <a:latin typeface="Aptos" panose="020B0004020202020204" pitchFamily="34" charset="0"/>
                  <a:ea typeface="JetBrains Mono" pitchFamily="34" charset="-122"/>
                </a:rPr>
                <a:t>100%</a:t>
              </a:r>
            </a:p>
          </p:txBody>
        </p:sp>
        <p:sp>
          <p:nvSpPr>
            <p:cNvPr id="6" name="ZoneTexte 5">
              <a:extLst>
                <a:ext uri="{FF2B5EF4-FFF2-40B4-BE49-F238E27FC236}">
                  <a16:creationId xmlns:a16="http://schemas.microsoft.com/office/drawing/2014/main" id="{28DF8E0B-4BBB-3D6F-9159-D91DB6D93BE6}"/>
                </a:ext>
              </a:extLst>
            </p:cNvPr>
            <p:cNvSpPr txBox="1"/>
            <p:nvPr/>
          </p:nvSpPr>
          <p:spPr>
            <a:xfrm>
              <a:off x="4334379" y="4077925"/>
              <a:ext cx="783627" cy="315407"/>
            </a:xfrm>
            <a:prstGeom prst="rect">
              <a:avLst/>
            </a:prstGeom>
            <a:noFill/>
          </p:spPr>
          <p:txBody>
            <a:bodyPr wrap="square" rtlCol="0">
              <a:spAutoFit/>
            </a:bodyPr>
            <a:lstStyle/>
            <a:p>
              <a:pPr defTabSz="457200">
                <a:lnSpc>
                  <a:spcPct val="90000"/>
                </a:lnSpc>
              </a:pPr>
              <a:r>
                <a:rPr lang="fr-CA" sz="1600" b="1" kern="0" spc="176" dirty="0">
                  <a:solidFill>
                    <a:srgbClr val="215093"/>
                  </a:solidFill>
                  <a:latin typeface="Aptos" panose="020B0004020202020204" pitchFamily="34" charset="0"/>
                  <a:ea typeface="JetBrains Mono" pitchFamily="34" charset="-122"/>
                </a:rPr>
                <a:t>100%</a:t>
              </a:r>
            </a:p>
          </p:txBody>
        </p:sp>
      </p:grpSp>
      <p:sp>
        <p:nvSpPr>
          <p:cNvPr id="3" name="Flèche : bas 2">
            <a:extLst>
              <a:ext uri="{FF2B5EF4-FFF2-40B4-BE49-F238E27FC236}">
                <a16:creationId xmlns:a16="http://schemas.microsoft.com/office/drawing/2014/main" id="{C6F8F6E8-351A-D5E3-918B-E9D705D0A12A}"/>
              </a:ext>
            </a:extLst>
          </p:cNvPr>
          <p:cNvSpPr/>
          <p:nvPr/>
        </p:nvSpPr>
        <p:spPr>
          <a:xfrm>
            <a:off x="5954471" y="1808601"/>
            <a:ext cx="572756" cy="751397"/>
          </a:xfrm>
          <a:prstGeom prst="downArrow">
            <a:avLst/>
          </a:prstGeom>
          <a:solidFill>
            <a:srgbClr val="215093"/>
          </a:solidFill>
          <a:ln>
            <a:solidFill>
              <a:srgbClr val="215093"/>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6879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DC371B5-BAFF-8784-C38D-55B5FCC83CB8}"/>
              </a:ext>
            </a:extLst>
          </p:cNvPr>
          <p:cNvSpPr>
            <a:spLocks noGrp="1"/>
          </p:cNvSpPr>
          <p:nvPr>
            <p:ph idx="1"/>
          </p:nvPr>
        </p:nvSpPr>
        <p:spPr>
          <a:xfrm>
            <a:off x="838200" y="450937"/>
            <a:ext cx="10515600" cy="5726026"/>
          </a:xfrm>
        </p:spPr>
        <p:txBody>
          <a:bodyPr anchor="ctr"/>
          <a:lstStyle/>
          <a:p>
            <a:pPr marL="0" indent="0" algn="ctr">
              <a:buNone/>
            </a:pPr>
            <a:r>
              <a:rPr lang="fr-CA" b="1" dirty="0"/>
              <a:t>Questions? Commentaires?</a:t>
            </a:r>
          </a:p>
        </p:txBody>
      </p:sp>
    </p:spTree>
    <p:extLst>
      <p:ext uri="{BB962C8B-B14F-4D97-AF65-F5344CB8AC3E}">
        <p14:creationId xmlns:p14="http://schemas.microsoft.com/office/powerpoint/2010/main" val="903725877"/>
      </p:ext>
    </p:extLst>
  </p:cSld>
  <p:clrMapOvr>
    <a:masterClrMapping/>
  </p:clrMapOvr>
</p:sld>
</file>

<file path=ppt/theme/theme1.xml><?xml version="1.0" encoding="utf-8"?>
<a:theme xmlns:a="http://schemas.openxmlformats.org/drawingml/2006/main" name="1_Thème Office">
  <a:themeElements>
    <a:clrScheme name="Personnalisé 9">
      <a:dk1>
        <a:srgbClr val="2D2E83"/>
      </a:dk1>
      <a:lt1>
        <a:sysClr val="window" lastClr="FFFFFF"/>
      </a:lt1>
      <a:dk2>
        <a:srgbClr val="38A7DE"/>
      </a:dk2>
      <a:lt2>
        <a:srgbClr val="BDE3F2"/>
      </a:lt2>
      <a:accent1>
        <a:srgbClr val="005DA1"/>
      </a:accent1>
      <a:accent2>
        <a:srgbClr val="3B85C4"/>
      </a:accent2>
      <a:accent3>
        <a:srgbClr val="4DC0DF"/>
      </a:accent3>
      <a:accent4>
        <a:srgbClr val="2FB7C2"/>
      </a:accent4>
      <a:accent5>
        <a:srgbClr val="2FB7C2"/>
      </a:accent5>
      <a:accent6>
        <a:srgbClr val="F7F109"/>
      </a:accent6>
      <a:hlink>
        <a:srgbClr val="0000FF"/>
      </a:hlink>
      <a:folHlink>
        <a:srgbClr val="002060"/>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546B0C45A73C48BA2D83E004AFA389" ma:contentTypeVersion="15" ma:contentTypeDescription="Crée un document." ma:contentTypeScope="" ma:versionID="e42fe4aa7a464974e78c3089b57df1a9">
  <xsd:schema xmlns:xsd="http://www.w3.org/2001/XMLSchema" xmlns:xs="http://www.w3.org/2001/XMLSchema" xmlns:p="http://schemas.microsoft.com/office/2006/metadata/properties" xmlns:ns2="095ee6f0-f1a1-4423-9887-f5144f435a5b" xmlns:ns3="a7686faa-d7a9-478b-97c6-7235415039ae" targetNamespace="http://schemas.microsoft.com/office/2006/metadata/properties" ma:root="true" ma:fieldsID="f764cf98d128db5469b2434e69c507f9" ns2:_="" ns3:_="">
    <xsd:import namespace="095ee6f0-f1a1-4423-9887-f5144f435a5b"/>
    <xsd:import namespace="a7686faa-d7a9-478b-97c6-7235415039ae"/>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bjectDetectorVersions" minOccurs="0"/>
                <xsd:element ref="ns2:MediaServiceOCR" minOccurs="0"/>
                <xsd:element ref="ns3:SharedWithUsers" minOccurs="0"/>
                <xsd:element ref="ns3:SharedWithDetails" minOccurs="0"/>
                <xsd:element ref="ns2:MediaServiceSearchProperties" minOccurs="0"/>
                <xsd:element ref="ns2:MediaServiceDateTaken" minOccurs="0"/>
                <xsd:element ref="ns2:MediaLengthInSecond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5ee6f0-f1a1-4423-9887-f5144f435a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5f36f5b6-25c8-44c5-8248-31c62e9a45cb"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Notes" ma:index="22" nillable="true" ma:displayName="Notes"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686faa-d7a9-478b-97c6-7235415039ae"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e048c080-58ae-4259-a229-84c3279beb65}" ma:internalName="TaxCatchAll" ma:showField="CatchAllData" ma:web="a7686faa-d7a9-478b-97c6-7235415039ae">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7686faa-d7a9-478b-97c6-7235415039ae" xsi:nil="true"/>
    <lcf76f155ced4ddcb4097134ff3c332f xmlns="095ee6f0-f1a1-4423-9887-f5144f435a5b">
      <Terms xmlns="http://schemas.microsoft.com/office/infopath/2007/PartnerControls"/>
    </lcf76f155ced4ddcb4097134ff3c332f>
    <Notes xmlns="095ee6f0-f1a1-4423-9887-f5144f435a5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DDE9A6-AD7C-4E6E-88DE-0CE78762C5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5ee6f0-f1a1-4423-9887-f5144f435a5b"/>
    <ds:schemaRef ds:uri="a7686faa-d7a9-478b-97c6-7235415039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EA59800-2C8F-4001-906C-33FEA116A6E5}">
  <ds:schemaRefs>
    <ds:schemaRef ds:uri="http://schemas.microsoft.com/office/infopath/2007/PartnerControls"/>
    <ds:schemaRef ds:uri="http://purl.org/dc/terms/"/>
    <ds:schemaRef ds:uri="http://schemas.microsoft.com/office/2006/documentManagement/types"/>
    <ds:schemaRef ds:uri="a7686faa-d7a9-478b-97c6-7235415039ae"/>
    <ds:schemaRef ds:uri="http://schemas.microsoft.com/office/2006/metadata/properties"/>
    <ds:schemaRef ds:uri="http://purl.org/dc/dcmitype/"/>
    <ds:schemaRef ds:uri="http://purl.org/dc/elements/1.1/"/>
    <ds:schemaRef ds:uri="http://schemas.openxmlformats.org/package/2006/metadata/core-properties"/>
    <ds:schemaRef ds:uri="095ee6f0-f1a1-4423-9887-f5144f435a5b"/>
    <ds:schemaRef ds:uri="http://www.w3.org/XML/1998/namespace"/>
  </ds:schemaRefs>
</ds:datastoreItem>
</file>

<file path=customXml/itemProps3.xml><?xml version="1.0" encoding="utf-8"?>
<ds:datastoreItem xmlns:ds="http://schemas.openxmlformats.org/officeDocument/2006/customXml" ds:itemID="{A46DEE5E-A703-4A79-97BE-FD4BBA08081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690</TotalTime>
  <Words>1036</Words>
  <Application>Microsoft Office PowerPoint</Application>
  <PresentationFormat>Grand écran</PresentationFormat>
  <Paragraphs>151</Paragraphs>
  <Slides>13</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Arial</vt:lpstr>
      <vt:lpstr>Calibri</vt:lpstr>
      <vt:lpstr>1_Thème Office</vt:lpstr>
      <vt:lpstr>Maestro (OIM)</vt:lpstr>
      <vt:lpstr>Plan de la présentation</vt:lpstr>
      <vt:lpstr>Besoins organisationnels à l’origine du  produit</vt:lpstr>
      <vt:lpstr>Aperçu du produit</vt:lpstr>
      <vt:lpstr>Exemple d’orchestration d’un processus</vt:lpstr>
      <vt:lpstr>Démonstration</vt:lpstr>
      <vt:lpstr>Tableau de bord et vue d’ensemble</vt:lpstr>
      <vt:lpstr>Définition d’un processus</vt:lpstr>
      <vt:lpstr>Gestion des erreurs et reprises</vt:lpstr>
      <vt:lpstr>Valeur et bénéfices pour l’organisation</vt:lpstr>
      <vt:lpstr>Stratégie de développement</vt:lpstr>
      <vt:lpstr>Prochaines étapes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des correspondances (GCO)</dc:title>
  <dc:creator>Trudel, Catherine (DGPTN-DPNM)</dc:creator>
  <cp:lastModifiedBy>Gauthier, Stéphanie</cp:lastModifiedBy>
  <cp:revision>6</cp:revision>
  <dcterms:created xsi:type="dcterms:W3CDTF">2024-04-12T14:59:26Z</dcterms:created>
  <dcterms:modified xsi:type="dcterms:W3CDTF">2026-05-14T19:15:58Z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0x01010071546B0C45A73C48BA2D83E004AFA389</vt:lpwstr>
  </property>
  <property fmtid="{D5CDD505-2E9C-101B-9397-08002B2CF9AE}" pid="3" name="MediaServiceImageTags">
    <vt:lpwstr/>
  </property>
</Properties>
</file>